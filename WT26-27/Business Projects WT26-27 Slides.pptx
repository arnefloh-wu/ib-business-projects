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99" r:id="rId5"/>
    <p:sldId id="390" r:id="rId6"/>
    <p:sldId id="391" r:id="rId7"/>
    <p:sldId id="408" r:id="rId8"/>
    <p:sldId id="392" r:id="rId9"/>
    <p:sldId id="409" r:id="rId10"/>
    <p:sldId id="303" r:id="rId11"/>
    <p:sldId id="394" r:id="rId12"/>
    <p:sldId id="410" r:id="rId13"/>
    <p:sldId id="396" r:id="rId14"/>
    <p:sldId id="397" r:id="rId15"/>
    <p:sldId id="398" r:id="rId16"/>
    <p:sldId id="322" r:id="rId17"/>
    <p:sldId id="399" r:id="rId18"/>
    <p:sldId id="400" r:id="rId19"/>
    <p:sldId id="411" r:id="rId20"/>
    <p:sldId id="402" r:id="rId21"/>
    <p:sldId id="412" r:id="rId22"/>
    <p:sldId id="404" r:id="rId23"/>
    <p:sldId id="405" r:id="rId24"/>
    <p:sldId id="406" r:id="rId25"/>
    <p:sldId id="277" r:id="rId26"/>
  </p:sldIdLst>
  <p:sldSz cx="9144000" cy="5715000" type="screen16x10"/>
  <p:notesSz cx="6858000" cy="9144000"/>
  <p:custDataLst>
    <p:tags r:id="rId2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3" pos="4241">
          <p15:clr>
            <a:srgbClr val="A4A3A4"/>
          </p15:clr>
        </p15:guide>
        <p15:guide id="4" pos="4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0" name="Author" initials="A" lastIdx="0" clrIdx="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FF7"/>
    <a:srgbClr val="CBDDEF"/>
    <a:srgbClr val="0096D3"/>
    <a:srgbClr val="0C94B7"/>
    <a:srgbClr val="41B4CE"/>
    <a:srgbClr val="73BAD1"/>
    <a:srgbClr val="65B4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3783" autoAdjust="0"/>
  </p:normalViewPr>
  <p:slideViewPr>
    <p:cSldViewPr snapToGrid="0" showGuides="1">
      <p:cViewPr varScale="1">
        <p:scale>
          <a:sx n="185" d="100"/>
          <a:sy n="185" d="100"/>
        </p:scale>
        <p:origin x="100" y="240"/>
      </p:cViewPr>
      <p:guideLst>
        <p:guide orient="horz" pos="1800"/>
        <p:guide pos="4241"/>
        <p:guide pos="4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4" d="100"/>
          <a:sy n="94" d="100"/>
        </p:scale>
        <p:origin x="2748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tags" Target="tags/tag1.xml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457AA0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300" b="1">
                    <a:solidFill>
                      <a:srgbClr val="000000"/>
                    </a:solidFill>
                    <a:latin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5"/>
              <c:pt idx="0">
                <c:v>Peer review</c:v>
              </c:pt>
              <c:pt idx="1">
                <c:v>Self-reflection</c:v>
              </c:pt>
              <c:pt idx="2">
                <c:v>Presentation 3</c:v>
              </c:pt>
              <c:pt idx="3">
                <c:v>Presentation 2</c:v>
              </c:pt>
              <c:pt idx="4">
                <c:v>Presentation 1</c:v>
              </c:pt>
            </c:strLit>
          </c:cat>
          <c:val>
            <c:numLit>
              <c:formatCode>General</c:formatCode>
              <c:ptCount val="5"/>
              <c:pt idx="0">
                <c:v>10</c:v>
              </c:pt>
              <c:pt idx="1">
                <c:v>10</c:v>
              </c:pt>
              <c:pt idx="2">
                <c:v>30</c:v>
              </c:pt>
              <c:pt idx="3">
                <c:v>30</c:v>
              </c:pt>
              <c:pt idx="4">
                <c:v>20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339-4673-AD47-EB313FD405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300" b="0">
                <a:solidFill>
                  <a:srgbClr val="000000"/>
                </a:solidFill>
                <a:latin typeface="Verdana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svg"/><Relationship Id="rId2" Type="http://schemas.openxmlformats.org/officeDocument/2006/relationships/image" Target="../media/image27.svg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svg"/><Relationship Id="rId2" Type="http://schemas.openxmlformats.org/officeDocument/2006/relationships/image" Target="../media/image27.svg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2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80C072-745C-40E4-A700-E01F68560196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2_2#12" csCatId="accent2" phldr="1"/>
      <dgm:spPr/>
      <dgm:t>
        <a:bodyPr/>
        <a:lstStyle/>
        <a:p>
          <a:endParaRPr lang="en-US"/>
        </a:p>
      </dgm:t>
    </dgm:pt>
    <dgm:pt modelId="{CC171994-AB1C-4E1A-84E2-1AC00897FDDF}">
      <dgm:prSet/>
      <dgm:spPr/>
      <dgm:t>
        <a:bodyPr/>
        <a:lstStyle/>
        <a:p>
          <a:r>
            <a:rPr lang="en-GB" sz="1300" dirty="0"/>
            <a:t>Capstone-style course for students specializing in International Business</a:t>
          </a:r>
          <a:endParaRPr lang="en-US" dirty="0"/>
        </a:p>
      </dgm:t>
    </dgm:pt>
    <dgm:pt modelId="{887A10D4-9158-4CBB-BDB5-A5E3C2C32422}" type="parTrans" cxnId="{4F331279-D2FC-42D7-BAF9-DC80B970C3D0}">
      <dgm:prSet/>
      <dgm:spPr/>
      <dgm:t>
        <a:bodyPr/>
        <a:lstStyle/>
        <a:p>
          <a:endParaRPr lang="en-US"/>
        </a:p>
      </dgm:t>
    </dgm:pt>
    <dgm:pt modelId="{22A6909E-7A37-4728-893E-82A4FEDDD470}" type="sibTrans" cxnId="{4F331279-D2FC-42D7-BAF9-DC80B970C3D0}">
      <dgm:prSet/>
      <dgm:spPr/>
      <dgm:t>
        <a:bodyPr/>
        <a:lstStyle/>
        <a:p>
          <a:endParaRPr lang="en-US"/>
        </a:p>
      </dgm:t>
    </dgm:pt>
    <dgm:pt modelId="{757DD02C-5475-477D-9CB3-27C2ED004037}">
      <dgm:prSet/>
      <dgm:spPr/>
      <dgm:t>
        <a:bodyPr/>
        <a:lstStyle/>
        <a:p>
          <a:r>
            <a:rPr lang="en-GB" sz="1300"/>
            <a:t>Core task: develop a comprehensive international marketing plan</a:t>
          </a:r>
          <a:endParaRPr lang="en-US"/>
        </a:p>
      </dgm:t>
    </dgm:pt>
    <dgm:pt modelId="{C47CCB15-5C62-4E60-B239-035CA9A975E3}" type="parTrans" cxnId="{0F2C7671-2682-4A76-A88A-85141C605029}">
      <dgm:prSet/>
      <dgm:spPr/>
      <dgm:t>
        <a:bodyPr/>
        <a:lstStyle/>
        <a:p>
          <a:endParaRPr lang="en-US"/>
        </a:p>
      </dgm:t>
    </dgm:pt>
    <dgm:pt modelId="{2A1FD6D6-0C81-467B-9D89-1057847AFCD7}" type="sibTrans" cxnId="{0F2C7671-2682-4A76-A88A-85141C605029}">
      <dgm:prSet/>
      <dgm:spPr/>
      <dgm:t>
        <a:bodyPr/>
        <a:lstStyle/>
        <a:p>
          <a:endParaRPr lang="en-US"/>
        </a:p>
      </dgm:t>
    </dgm:pt>
    <dgm:pt modelId="{912035D6-8EE1-4539-8FD4-E4EC20FFCF2A}">
      <dgm:prSet/>
      <dgm:spPr/>
      <dgm:t>
        <a:bodyPr/>
        <a:lstStyle/>
        <a:p>
          <a:r>
            <a:rPr lang="en-GB" sz="1300" dirty="0"/>
            <a:t>Marketing and marketing research at the core: investigate markets systematically and evaluate opportunities and risks</a:t>
          </a:r>
          <a:endParaRPr lang="en-US" dirty="0"/>
        </a:p>
      </dgm:t>
    </dgm:pt>
    <dgm:pt modelId="{E03DCE01-3C80-4C56-94F1-060AE86FF4F0}" type="parTrans" cxnId="{FE1258BD-CD97-4C78-927B-317B09B5E814}">
      <dgm:prSet/>
      <dgm:spPr/>
      <dgm:t>
        <a:bodyPr/>
        <a:lstStyle/>
        <a:p>
          <a:endParaRPr lang="en-US"/>
        </a:p>
      </dgm:t>
    </dgm:pt>
    <dgm:pt modelId="{2E647840-DC3E-4C75-A870-ED7A7F5D13B7}" type="sibTrans" cxnId="{FE1258BD-CD97-4C78-927B-317B09B5E814}">
      <dgm:prSet/>
      <dgm:spPr/>
      <dgm:t>
        <a:bodyPr/>
        <a:lstStyle/>
        <a:p>
          <a:endParaRPr lang="en-US"/>
        </a:p>
      </dgm:t>
    </dgm:pt>
    <dgm:pt modelId="{CD338717-17D2-4E3D-9D06-5460A70C8D8D}">
      <dgm:prSet/>
      <dgm:spPr/>
      <dgm:t>
        <a:bodyPr/>
        <a:lstStyle/>
        <a:p>
          <a:r>
            <a:rPr lang="en-GB" sz="1300"/>
            <a:t>Emphasis on critical thinking, project management and teamwork in a multicultural context</a:t>
          </a:r>
          <a:endParaRPr lang="en-US"/>
        </a:p>
      </dgm:t>
    </dgm:pt>
    <dgm:pt modelId="{2E4CAFCE-6F49-41F8-A670-B719D363E082}" type="parTrans" cxnId="{DEFC8DD2-5286-4A2B-99D2-ED16EC1AF5BB}">
      <dgm:prSet/>
      <dgm:spPr/>
      <dgm:t>
        <a:bodyPr/>
        <a:lstStyle/>
        <a:p>
          <a:endParaRPr lang="en-US"/>
        </a:p>
      </dgm:t>
    </dgm:pt>
    <dgm:pt modelId="{1239F4A3-4504-496C-95FB-F6A62211330B}" type="sibTrans" cxnId="{DEFC8DD2-5286-4A2B-99D2-ED16EC1AF5BB}">
      <dgm:prSet/>
      <dgm:spPr/>
      <dgm:t>
        <a:bodyPr/>
        <a:lstStyle/>
        <a:p>
          <a:endParaRPr lang="en-US"/>
        </a:p>
      </dgm:t>
    </dgm:pt>
    <dgm:pt modelId="{B4FA74AB-778F-411B-AFF7-06DB14BA3A18}">
      <dgm:prSet/>
      <dgm:spPr/>
      <dgm:t>
        <a:bodyPr/>
        <a:lstStyle/>
        <a:p>
          <a:r>
            <a:rPr lang="en-GB" sz="1300"/>
            <a:t>Outcome: a structured international marketing plan with evidence-based strategic recommendations</a:t>
          </a:r>
          <a:endParaRPr lang="en-US"/>
        </a:p>
      </dgm:t>
    </dgm:pt>
    <dgm:pt modelId="{175F6CDC-7C29-491A-A48B-A16F9834BE6C}" type="parTrans" cxnId="{0B5BD671-5C2D-4AC4-BC88-F15E2FFF8178}">
      <dgm:prSet/>
      <dgm:spPr/>
      <dgm:t>
        <a:bodyPr/>
        <a:lstStyle/>
        <a:p>
          <a:endParaRPr lang="en-US"/>
        </a:p>
      </dgm:t>
    </dgm:pt>
    <dgm:pt modelId="{3A00D624-013E-407A-8673-DEFE2019856D}" type="sibTrans" cxnId="{0B5BD671-5C2D-4AC4-BC88-F15E2FFF8178}">
      <dgm:prSet/>
      <dgm:spPr/>
      <dgm:t>
        <a:bodyPr/>
        <a:lstStyle/>
        <a:p>
          <a:endParaRPr lang="en-US"/>
        </a:p>
      </dgm:t>
    </dgm:pt>
    <dgm:pt modelId="{5FDA91A9-1B98-423D-9F21-0E5FA9602542}" type="pres">
      <dgm:prSet presAssocID="{4B80C072-745C-40E4-A700-E01F68560196}" presName="root" presStyleCnt="0">
        <dgm:presLayoutVars>
          <dgm:dir/>
          <dgm:resizeHandles val="exact"/>
        </dgm:presLayoutVars>
      </dgm:prSet>
      <dgm:spPr/>
    </dgm:pt>
    <dgm:pt modelId="{21ABD81A-C29A-4C05-B254-3D3374A1D589}" type="pres">
      <dgm:prSet presAssocID="{CC171994-AB1C-4E1A-84E2-1AC00897FDDF}" presName="compNode" presStyleCnt="0"/>
      <dgm:spPr/>
    </dgm:pt>
    <dgm:pt modelId="{85003179-0F5C-4DA5-95C7-EE44DBDE5588}" type="pres">
      <dgm:prSet presAssocID="{CC171994-AB1C-4E1A-84E2-1AC00897FDDF}" presName="bgRect" presStyleLbl="bgShp" presStyleIdx="0" presStyleCnt="5"/>
      <dgm:spPr/>
    </dgm:pt>
    <dgm:pt modelId="{16FDFFD0-88F3-4980-B687-69D14304E509}" type="pres">
      <dgm:prSet presAssocID="{CC171994-AB1C-4E1A-84E2-1AC00897FDD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2AB42341-D63C-4E3F-8270-5A7DEB882C17}" type="pres">
      <dgm:prSet presAssocID="{CC171994-AB1C-4E1A-84E2-1AC00897FDDF}" presName="spaceRect" presStyleCnt="0"/>
      <dgm:spPr/>
    </dgm:pt>
    <dgm:pt modelId="{5D205134-F717-4572-8A11-79A6571232E6}" type="pres">
      <dgm:prSet presAssocID="{CC171994-AB1C-4E1A-84E2-1AC00897FDDF}" presName="parTx" presStyleLbl="revTx" presStyleIdx="0" presStyleCnt="5">
        <dgm:presLayoutVars>
          <dgm:chMax val="0"/>
          <dgm:chPref val="0"/>
        </dgm:presLayoutVars>
      </dgm:prSet>
      <dgm:spPr/>
    </dgm:pt>
    <dgm:pt modelId="{4EB992F5-1CF3-49C1-8660-793BCBFA96DA}" type="pres">
      <dgm:prSet presAssocID="{22A6909E-7A37-4728-893E-82A4FEDDD470}" presName="sibTrans" presStyleCnt="0"/>
      <dgm:spPr/>
    </dgm:pt>
    <dgm:pt modelId="{8C2AF4E1-14B1-4EA5-B729-1311E89660E6}" type="pres">
      <dgm:prSet presAssocID="{757DD02C-5475-477D-9CB3-27C2ED004037}" presName="compNode" presStyleCnt="0"/>
      <dgm:spPr/>
    </dgm:pt>
    <dgm:pt modelId="{59E7CBE8-709D-452B-86B7-C3C5D8E19CC3}" type="pres">
      <dgm:prSet presAssocID="{757DD02C-5475-477D-9CB3-27C2ED004037}" presName="bgRect" presStyleLbl="bgShp" presStyleIdx="1" presStyleCnt="5"/>
      <dgm:spPr/>
    </dgm:pt>
    <dgm:pt modelId="{2F5798A0-44CF-4967-87D1-5B87A9CE681A}" type="pres">
      <dgm:prSet presAssocID="{757DD02C-5475-477D-9CB3-27C2ED00403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9FF2E3F-9804-421C-95BE-1E2F7A5AE6AD}" type="pres">
      <dgm:prSet presAssocID="{757DD02C-5475-477D-9CB3-27C2ED004037}" presName="spaceRect" presStyleCnt="0"/>
      <dgm:spPr/>
    </dgm:pt>
    <dgm:pt modelId="{143463C2-81BB-44C2-9D6E-2152137CAC43}" type="pres">
      <dgm:prSet presAssocID="{757DD02C-5475-477D-9CB3-27C2ED004037}" presName="parTx" presStyleLbl="revTx" presStyleIdx="1" presStyleCnt="5">
        <dgm:presLayoutVars>
          <dgm:chMax val="0"/>
          <dgm:chPref val="0"/>
        </dgm:presLayoutVars>
      </dgm:prSet>
      <dgm:spPr/>
    </dgm:pt>
    <dgm:pt modelId="{98E9CBCE-AF5F-4260-8092-7D834F69A6BF}" type="pres">
      <dgm:prSet presAssocID="{2A1FD6D6-0C81-467B-9D89-1057847AFCD7}" presName="sibTrans" presStyleCnt="0"/>
      <dgm:spPr/>
    </dgm:pt>
    <dgm:pt modelId="{50C774D4-9FD3-4BB7-A084-67659F2799C9}" type="pres">
      <dgm:prSet presAssocID="{912035D6-8EE1-4539-8FD4-E4EC20FFCF2A}" presName="compNode" presStyleCnt="0"/>
      <dgm:spPr/>
    </dgm:pt>
    <dgm:pt modelId="{5D7E68C4-8976-4319-B76C-CCF8ED3681FC}" type="pres">
      <dgm:prSet presAssocID="{912035D6-8EE1-4539-8FD4-E4EC20FFCF2A}" presName="bgRect" presStyleLbl="bgShp" presStyleIdx="2" presStyleCnt="5"/>
      <dgm:spPr/>
    </dgm:pt>
    <dgm:pt modelId="{9786E7CB-61AB-4A83-AE93-4B587D41A0D0}" type="pres">
      <dgm:prSet presAssocID="{912035D6-8EE1-4539-8FD4-E4EC20FFCF2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39C79962-831C-4BC6-B966-8BB98ACA709B}" type="pres">
      <dgm:prSet presAssocID="{912035D6-8EE1-4539-8FD4-E4EC20FFCF2A}" presName="spaceRect" presStyleCnt="0"/>
      <dgm:spPr/>
    </dgm:pt>
    <dgm:pt modelId="{01BEA280-7CBD-4576-9F77-91478589FB36}" type="pres">
      <dgm:prSet presAssocID="{912035D6-8EE1-4539-8FD4-E4EC20FFCF2A}" presName="parTx" presStyleLbl="revTx" presStyleIdx="2" presStyleCnt="5">
        <dgm:presLayoutVars>
          <dgm:chMax val="0"/>
          <dgm:chPref val="0"/>
        </dgm:presLayoutVars>
      </dgm:prSet>
      <dgm:spPr/>
    </dgm:pt>
    <dgm:pt modelId="{2580EA29-3851-4EB8-86E6-6857099E31B6}" type="pres">
      <dgm:prSet presAssocID="{2E647840-DC3E-4C75-A870-ED7A7F5D13B7}" presName="sibTrans" presStyleCnt="0"/>
      <dgm:spPr/>
    </dgm:pt>
    <dgm:pt modelId="{A4D9A9FC-ECF5-4E6B-9133-CE31EA08D817}" type="pres">
      <dgm:prSet presAssocID="{CD338717-17D2-4E3D-9D06-5460A70C8D8D}" presName="compNode" presStyleCnt="0"/>
      <dgm:spPr/>
    </dgm:pt>
    <dgm:pt modelId="{30B266CF-CA04-41EB-A081-5C27F4A84DC3}" type="pres">
      <dgm:prSet presAssocID="{CD338717-17D2-4E3D-9D06-5460A70C8D8D}" presName="bgRect" presStyleLbl="bgShp" presStyleIdx="3" presStyleCnt="5"/>
      <dgm:spPr/>
    </dgm:pt>
    <dgm:pt modelId="{9F01DB31-418B-4AB1-947C-CBA872A6D2C6}" type="pres">
      <dgm:prSet presAssocID="{CD338717-17D2-4E3D-9D06-5460A70C8D8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609B7B4-E3FD-49D0-81AD-77D7A23E4118}" type="pres">
      <dgm:prSet presAssocID="{CD338717-17D2-4E3D-9D06-5460A70C8D8D}" presName="spaceRect" presStyleCnt="0"/>
      <dgm:spPr/>
    </dgm:pt>
    <dgm:pt modelId="{AA0A157C-C167-482A-B0B8-E49EBAD9F7C5}" type="pres">
      <dgm:prSet presAssocID="{CD338717-17D2-4E3D-9D06-5460A70C8D8D}" presName="parTx" presStyleLbl="revTx" presStyleIdx="3" presStyleCnt="5">
        <dgm:presLayoutVars>
          <dgm:chMax val="0"/>
          <dgm:chPref val="0"/>
        </dgm:presLayoutVars>
      </dgm:prSet>
      <dgm:spPr/>
    </dgm:pt>
    <dgm:pt modelId="{FFA6AEC4-08E0-4F41-B03C-1E503FFCB46D}" type="pres">
      <dgm:prSet presAssocID="{1239F4A3-4504-496C-95FB-F6A62211330B}" presName="sibTrans" presStyleCnt="0"/>
      <dgm:spPr/>
    </dgm:pt>
    <dgm:pt modelId="{F5738A9A-9D7D-4F72-A60B-2B5080266111}" type="pres">
      <dgm:prSet presAssocID="{B4FA74AB-778F-411B-AFF7-06DB14BA3A18}" presName="compNode" presStyleCnt="0"/>
      <dgm:spPr/>
    </dgm:pt>
    <dgm:pt modelId="{86696B69-5664-417A-8126-07576460056E}" type="pres">
      <dgm:prSet presAssocID="{B4FA74AB-778F-411B-AFF7-06DB14BA3A18}" presName="bgRect" presStyleLbl="bgShp" presStyleIdx="4" presStyleCnt="5"/>
      <dgm:spPr/>
    </dgm:pt>
    <dgm:pt modelId="{86B02938-E4D3-4584-AE3C-160DEF5D9B62}" type="pres">
      <dgm:prSet presAssocID="{B4FA74AB-778F-411B-AFF7-06DB14BA3A1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65CBFA5-47E5-49C7-8B2B-85155CED3312}" type="pres">
      <dgm:prSet presAssocID="{B4FA74AB-778F-411B-AFF7-06DB14BA3A18}" presName="spaceRect" presStyleCnt="0"/>
      <dgm:spPr/>
    </dgm:pt>
    <dgm:pt modelId="{C90E44AD-E17F-4532-A0FB-29185D859E71}" type="pres">
      <dgm:prSet presAssocID="{B4FA74AB-778F-411B-AFF7-06DB14BA3A1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4CCAB32-9D51-4322-9978-196962632B43}" type="presOf" srcId="{4B80C072-745C-40E4-A700-E01F68560196}" destId="{5FDA91A9-1B98-423D-9F21-0E5FA9602542}" srcOrd="0" destOrd="0" presId="urn:microsoft.com/office/officeart/2018/2/layout/IconVerticalSolidList"/>
    <dgm:cxn modelId="{0F2C7671-2682-4A76-A88A-85141C605029}" srcId="{4B80C072-745C-40E4-A700-E01F68560196}" destId="{757DD02C-5475-477D-9CB3-27C2ED004037}" srcOrd="1" destOrd="0" parTransId="{C47CCB15-5C62-4E60-B239-035CA9A975E3}" sibTransId="{2A1FD6D6-0C81-467B-9D89-1057847AFCD7}"/>
    <dgm:cxn modelId="{0B5BD671-5C2D-4AC4-BC88-F15E2FFF8178}" srcId="{4B80C072-745C-40E4-A700-E01F68560196}" destId="{B4FA74AB-778F-411B-AFF7-06DB14BA3A18}" srcOrd="4" destOrd="0" parTransId="{175F6CDC-7C29-491A-A48B-A16F9834BE6C}" sibTransId="{3A00D624-013E-407A-8673-DEFE2019856D}"/>
    <dgm:cxn modelId="{3791F453-3EA9-402C-896F-358E556C22AC}" type="presOf" srcId="{757DD02C-5475-477D-9CB3-27C2ED004037}" destId="{143463C2-81BB-44C2-9D6E-2152137CAC43}" srcOrd="0" destOrd="0" presId="urn:microsoft.com/office/officeart/2018/2/layout/IconVerticalSolidList"/>
    <dgm:cxn modelId="{4F331279-D2FC-42D7-BAF9-DC80B970C3D0}" srcId="{4B80C072-745C-40E4-A700-E01F68560196}" destId="{CC171994-AB1C-4E1A-84E2-1AC00897FDDF}" srcOrd="0" destOrd="0" parTransId="{887A10D4-9158-4CBB-BDB5-A5E3C2C32422}" sibTransId="{22A6909E-7A37-4728-893E-82A4FEDDD470}"/>
    <dgm:cxn modelId="{95087495-A191-46BE-8C15-235137A3E24B}" type="presOf" srcId="{CC171994-AB1C-4E1A-84E2-1AC00897FDDF}" destId="{5D205134-F717-4572-8A11-79A6571232E6}" srcOrd="0" destOrd="0" presId="urn:microsoft.com/office/officeart/2018/2/layout/IconVerticalSolidList"/>
    <dgm:cxn modelId="{92ADD097-CEF8-46D7-81FD-4B3BAE398473}" type="presOf" srcId="{CD338717-17D2-4E3D-9D06-5460A70C8D8D}" destId="{AA0A157C-C167-482A-B0B8-E49EBAD9F7C5}" srcOrd="0" destOrd="0" presId="urn:microsoft.com/office/officeart/2018/2/layout/IconVerticalSolidList"/>
    <dgm:cxn modelId="{FE1258BD-CD97-4C78-927B-317B09B5E814}" srcId="{4B80C072-745C-40E4-A700-E01F68560196}" destId="{912035D6-8EE1-4539-8FD4-E4EC20FFCF2A}" srcOrd="2" destOrd="0" parTransId="{E03DCE01-3C80-4C56-94F1-060AE86FF4F0}" sibTransId="{2E647840-DC3E-4C75-A870-ED7A7F5D13B7}"/>
    <dgm:cxn modelId="{DEFC8DD2-5286-4A2B-99D2-ED16EC1AF5BB}" srcId="{4B80C072-745C-40E4-A700-E01F68560196}" destId="{CD338717-17D2-4E3D-9D06-5460A70C8D8D}" srcOrd="3" destOrd="0" parTransId="{2E4CAFCE-6F49-41F8-A670-B719D363E082}" sibTransId="{1239F4A3-4504-496C-95FB-F6A62211330B}"/>
    <dgm:cxn modelId="{E803E0D2-E488-4BCD-B71E-031CEAB8E3D8}" type="presOf" srcId="{B4FA74AB-778F-411B-AFF7-06DB14BA3A18}" destId="{C90E44AD-E17F-4532-A0FB-29185D859E71}" srcOrd="0" destOrd="0" presId="urn:microsoft.com/office/officeart/2018/2/layout/IconVerticalSolidList"/>
    <dgm:cxn modelId="{2BEA30EE-DD50-4CEE-A7A8-93678CD5F633}" type="presOf" srcId="{912035D6-8EE1-4539-8FD4-E4EC20FFCF2A}" destId="{01BEA280-7CBD-4576-9F77-91478589FB36}" srcOrd="0" destOrd="0" presId="urn:microsoft.com/office/officeart/2018/2/layout/IconVerticalSolidList"/>
    <dgm:cxn modelId="{96CB19CE-D8BA-4F1C-AD5A-3F5440F60FA9}" type="presParOf" srcId="{5FDA91A9-1B98-423D-9F21-0E5FA9602542}" destId="{21ABD81A-C29A-4C05-B254-3D3374A1D589}" srcOrd="0" destOrd="0" presId="urn:microsoft.com/office/officeart/2018/2/layout/IconVerticalSolidList"/>
    <dgm:cxn modelId="{CB52100B-C2CE-4887-9050-CC321CA87B31}" type="presParOf" srcId="{21ABD81A-C29A-4C05-B254-3D3374A1D589}" destId="{85003179-0F5C-4DA5-95C7-EE44DBDE5588}" srcOrd="0" destOrd="0" presId="urn:microsoft.com/office/officeart/2018/2/layout/IconVerticalSolidList"/>
    <dgm:cxn modelId="{21E1F90C-DEC5-40B7-9144-42A8D574816D}" type="presParOf" srcId="{21ABD81A-C29A-4C05-B254-3D3374A1D589}" destId="{16FDFFD0-88F3-4980-B687-69D14304E509}" srcOrd="1" destOrd="0" presId="urn:microsoft.com/office/officeart/2018/2/layout/IconVerticalSolidList"/>
    <dgm:cxn modelId="{290621A3-4670-4A4B-AFAF-56D0D7CAEE36}" type="presParOf" srcId="{21ABD81A-C29A-4C05-B254-3D3374A1D589}" destId="{2AB42341-D63C-4E3F-8270-5A7DEB882C17}" srcOrd="2" destOrd="0" presId="urn:microsoft.com/office/officeart/2018/2/layout/IconVerticalSolidList"/>
    <dgm:cxn modelId="{B9A28FCA-3EA8-49EB-868A-D377BB5790AE}" type="presParOf" srcId="{21ABD81A-C29A-4C05-B254-3D3374A1D589}" destId="{5D205134-F717-4572-8A11-79A6571232E6}" srcOrd="3" destOrd="0" presId="urn:microsoft.com/office/officeart/2018/2/layout/IconVerticalSolidList"/>
    <dgm:cxn modelId="{70AF61AF-F7F9-423C-B369-B74E69AF9828}" type="presParOf" srcId="{5FDA91A9-1B98-423D-9F21-0E5FA9602542}" destId="{4EB992F5-1CF3-49C1-8660-793BCBFA96DA}" srcOrd="1" destOrd="0" presId="urn:microsoft.com/office/officeart/2018/2/layout/IconVerticalSolidList"/>
    <dgm:cxn modelId="{F8A7D53C-DF83-4C4C-B1A9-134938FAAB6D}" type="presParOf" srcId="{5FDA91A9-1B98-423D-9F21-0E5FA9602542}" destId="{8C2AF4E1-14B1-4EA5-B729-1311E89660E6}" srcOrd="2" destOrd="0" presId="urn:microsoft.com/office/officeart/2018/2/layout/IconVerticalSolidList"/>
    <dgm:cxn modelId="{58906711-C88E-4FC6-84DC-7DF9D0466A21}" type="presParOf" srcId="{8C2AF4E1-14B1-4EA5-B729-1311E89660E6}" destId="{59E7CBE8-709D-452B-86B7-C3C5D8E19CC3}" srcOrd="0" destOrd="0" presId="urn:microsoft.com/office/officeart/2018/2/layout/IconVerticalSolidList"/>
    <dgm:cxn modelId="{AB3D915E-0970-46B4-8B3D-53A59BB31F00}" type="presParOf" srcId="{8C2AF4E1-14B1-4EA5-B729-1311E89660E6}" destId="{2F5798A0-44CF-4967-87D1-5B87A9CE681A}" srcOrd="1" destOrd="0" presId="urn:microsoft.com/office/officeart/2018/2/layout/IconVerticalSolidList"/>
    <dgm:cxn modelId="{F5092E27-B7AB-4395-B823-BC6881D6A13E}" type="presParOf" srcId="{8C2AF4E1-14B1-4EA5-B729-1311E89660E6}" destId="{19FF2E3F-9804-421C-95BE-1E2F7A5AE6AD}" srcOrd="2" destOrd="0" presId="urn:microsoft.com/office/officeart/2018/2/layout/IconVerticalSolidList"/>
    <dgm:cxn modelId="{2996DB74-EAE9-48E8-8488-830ED9588484}" type="presParOf" srcId="{8C2AF4E1-14B1-4EA5-B729-1311E89660E6}" destId="{143463C2-81BB-44C2-9D6E-2152137CAC43}" srcOrd="3" destOrd="0" presId="urn:microsoft.com/office/officeart/2018/2/layout/IconVerticalSolidList"/>
    <dgm:cxn modelId="{D7FBA5E1-64FB-4621-AA59-F24004B8D594}" type="presParOf" srcId="{5FDA91A9-1B98-423D-9F21-0E5FA9602542}" destId="{98E9CBCE-AF5F-4260-8092-7D834F69A6BF}" srcOrd="3" destOrd="0" presId="urn:microsoft.com/office/officeart/2018/2/layout/IconVerticalSolidList"/>
    <dgm:cxn modelId="{A5ACA99B-E8CA-46CE-8B51-D026DFAD529D}" type="presParOf" srcId="{5FDA91A9-1B98-423D-9F21-0E5FA9602542}" destId="{50C774D4-9FD3-4BB7-A084-67659F2799C9}" srcOrd="4" destOrd="0" presId="urn:microsoft.com/office/officeart/2018/2/layout/IconVerticalSolidList"/>
    <dgm:cxn modelId="{D1990E64-BC32-4C66-ABFC-7F551F495515}" type="presParOf" srcId="{50C774D4-9FD3-4BB7-A084-67659F2799C9}" destId="{5D7E68C4-8976-4319-B76C-CCF8ED3681FC}" srcOrd="0" destOrd="0" presId="urn:microsoft.com/office/officeart/2018/2/layout/IconVerticalSolidList"/>
    <dgm:cxn modelId="{5BE2EC11-2676-443F-B366-0AD6DC640AD3}" type="presParOf" srcId="{50C774D4-9FD3-4BB7-A084-67659F2799C9}" destId="{9786E7CB-61AB-4A83-AE93-4B587D41A0D0}" srcOrd="1" destOrd="0" presId="urn:microsoft.com/office/officeart/2018/2/layout/IconVerticalSolidList"/>
    <dgm:cxn modelId="{1B34BEB6-2394-4F04-9AEF-77ED992DBAC0}" type="presParOf" srcId="{50C774D4-9FD3-4BB7-A084-67659F2799C9}" destId="{39C79962-831C-4BC6-B966-8BB98ACA709B}" srcOrd="2" destOrd="0" presId="urn:microsoft.com/office/officeart/2018/2/layout/IconVerticalSolidList"/>
    <dgm:cxn modelId="{A441D759-A8A8-44B8-A0D7-941EB25CFA46}" type="presParOf" srcId="{50C774D4-9FD3-4BB7-A084-67659F2799C9}" destId="{01BEA280-7CBD-4576-9F77-91478589FB36}" srcOrd="3" destOrd="0" presId="urn:microsoft.com/office/officeart/2018/2/layout/IconVerticalSolidList"/>
    <dgm:cxn modelId="{3CF4881D-8FAB-4846-9828-B2AB0BBAD701}" type="presParOf" srcId="{5FDA91A9-1B98-423D-9F21-0E5FA9602542}" destId="{2580EA29-3851-4EB8-86E6-6857099E31B6}" srcOrd="5" destOrd="0" presId="urn:microsoft.com/office/officeart/2018/2/layout/IconVerticalSolidList"/>
    <dgm:cxn modelId="{B3208EC9-C8D5-42FF-B087-0CC6663FBEAA}" type="presParOf" srcId="{5FDA91A9-1B98-423D-9F21-0E5FA9602542}" destId="{A4D9A9FC-ECF5-4E6B-9133-CE31EA08D817}" srcOrd="6" destOrd="0" presId="urn:microsoft.com/office/officeart/2018/2/layout/IconVerticalSolidList"/>
    <dgm:cxn modelId="{FE628204-0908-498F-9EE8-DB8FE29B4042}" type="presParOf" srcId="{A4D9A9FC-ECF5-4E6B-9133-CE31EA08D817}" destId="{30B266CF-CA04-41EB-A081-5C27F4A84DC3}" srcOrd="0" destOrd="0" presId="urn:microsoft.com/office/officeart/2018/2/layout/IconVerticalSolidList"/>
    <dgm:cxn modelId="{43A01784-156F-4D76-A25C-FA04F28ACC58}" type="presParOf" srcId="{A4D9A9FC-ECF5-4E6B-9133-CE31EA08D817}" destId="{9F01DB31-418B-4AB1-947C-CBA872A6D2C6}" srcOrd="1" destOrd="0" presId="urn:microsoft.com/office/officeart/2018/2/layout/IconVerticalSolidList"/>
    <dgm:cxn modelId="{34C53EA8-BD7C-4A3A-93A8-A18796FD4314}" type="presParOf" srcId="{A4D9A9FC-ECF5-4E6B-9133-CE31EA08D817}" destId="{5609B7B4-E3FD-49D0-81AD-77D7A23E4118}" srcOrd="2" destOrd="0" presId="urn:microsoft.com/office/officeart/2018/2/layout/IconVerticalSolidList"/>
    <dgm:cxn modelId="{BCFD83EB-4BE9-4431-82F9-504CDD74070D}" type="presParOf" srcId="{A4D9A9FC-ECF5-4E6B-9133-CE31EA08D817}" destId="{AA0A157C-C167-482A-B0B8-E49EBAD9F7C5}" srcOrd="3" destOrd="0" presId="urn:microsoft.com/office/officeart/2018/2/layout/IconVerticalSolidList"/>
    <dgm:cxn modelId="{1A9670A9-52FC-4E53-A57D-53CA42F6C3B5}" type="presParOf" srcId="{5FDA91A9-1B98-423D-9F21-0E5FA9602542}" destId="{FFA6AEC4-08E0-4F41-B03C-1E503FFCB46D}" srcOrd="7" destOrd="0" presId="urn:microsoft.com/office/officeart/2018/2/layout/IconVerticalSolidList"/>
    <dgm:cxn modelId="{F6CEF213-BBCC-4C36-B3A0-2D2F224556D1}" type="presParOf" srcId="{5FDA91A9-1B98-423D-9F21-0E5FA9602542}" destId="{F5738A9A-9D7D-4F72-A60B-2B5080266111}" srcOrd="8" destOrd="0" presId="urn:microsoft.com/office/officeart/2018/2/layout/IconVerticalSolidList"/>
    <dgm:cxn modelId="{BDEF01FD-CA00-4EDB-AEF3-DA64D960A4D1}" type="presParOf" srcId="{F5738A9A-9D7D-4F72-A60B-2B5080266111}" destId="{86696B69-5664-417A-8126-07576460056E}" srcOrd="0" destOrd="0" presId="urn:microsoft.com/office/officeart/2018/2/layout/IconVerticalSolidList"/>
    <dgm:cxn modelId="{1BFCFBC8-221B-4097-8DAF-16F0F2B625AB}" type="presParOf" srcId="{F5738A9A-9D7D-4F72-A60B-2B5080266111}" destId="{86B02938-E4D3-4584-AE3C-160DEF5D9B62}" srcOrd="1" destOrd="0" presId="urn:microsoft.com/office/officeart/2018/2/layout/IconVerticalSolidList"/>
    <dgm:cxn modelId="{8FE47117-AB4C-4189-8267-794B658D2DAC}" type="presParOf" srcId="{F5738A9A-9D7D-4F72-A60B-2B5080266111}" destId="{265CBFA5-47E5-49C7-8B2B-85155CED3312}" srcOrd="2" destOrd="0" presId="urn:microsoft.com/office/officeart/2018/2/layout/IconVerticalSolidList"/>
    <dgm:cxn modelId="{03B22A33-F2FE-4CED-ABE2-BBCFD4D36DEF}" type="presParOf" srcId="{F5738A9A-9D7D-4F72-A60B-2B5080266111}" destId="{C90E44AD-E17F-4532-A0FB-29185D859E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03179-0F5C-4DA5-95C7-EE44DBDE5588}">
      <dsp:nvSpPr>
        <dsp:cNvPr id="0" name=""/>
        <dsp:cNvSpPr/>
      </dsp:nvSpPr>
      <dsp:spPr>
        <a:xfrm>
          <a:off x="0" y="3010"/>
          <a:ext cx="7759644" cy="641313"/>
        </a:xfrm>
        <a:prstGeom prst="roundRect">
          <a:avLst>
            <a:gd name="adj" fmla="val 10000"/>
          </a:avLst>
        </a:prstGeom>
        <a:solidFill>
          <a:schemeClr val="bg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DFFD0-88F3-4980-B687-69D14304E509}">
      <dsp:nvSpPr>
        <dsp:cNvPr id="0" name=""/>
        <dsp:cNvSpPr/>
      </dsp:nvSpPr>
      <dsp:spPr>
        <a:xfrm>
          <a:off x="193997" y="147306"/>
          <a:ext cx="352722" cy="3527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05134-F717-4572-8A11-79A6571232E6}">
      <dsp:nvSpPr>
        <dsp:cNvPr id="0" name=""/>
        <dsp:cNvSpPr/>
      </dsp:nvSpPr>
      <dsp:spPr>
        <a:xfrm>
          <a:off x="740717" y="3010"/>
          <a:ext cx="7018926" cy="641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72" tIns="67872" rIns="67872" bIns="6787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Capstone-style course for students specializing in International Business</a:t>
          </a:r>
          <a:endParaRPr lang="en-US" sz="1700" kern="1200" dirty="0"/>
        </a:p>
      </dsp:txBody>
      <dsp:txXfrm>
        <a:off x="740717" y="3010"/>
        <a:ext cx="7018926" cy="641313"/>
      </dsp:txXfrm>
    </dsp:sp>
    <dsp:sp modelId="{59E7CBE8-709D-452B-86B7-C3C5D8E19CC3}">
      <dsp:nvSpPr>
        <dsp:cNvPr id="0" name=""/>
        <dsp:cNvSpPr/>
      </dsp:nvSpPr>
      <dsp:spPr>
        <a:xfrm>
          <a:off x="0" y="804653"/>
          <a:ext cx="7759644" cy="641313"/>
        </a:xfrm>
        <a:prstGeom prst="roundRect">
          <a:avLst>
            <a:gd name="adj" fmla="val 10000"/>
          </a:avLst>
        </a:prstGeom>
        <a:solidFill>
          <a:schemeClr val="bg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5798A0-44CF-4967-87D1-5B87A9CE681A}">
      <dsp:nvSpPr>
        <dsp:cNvPr id="0" name=""/>
        <dsp:cNvSpPr/>
      </dsp:nvSpPr>
      <dsp:spPr>
        <a:xfrm>
          <a:off x="193997" y="948948"/>
          <a:ext cx="352722" cy="3527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463C2-81BB-44C2-9D6E-2152137CAC43}">
      <dsp:nvSpPr>
        <dsp:cNvPr id="0" name=""/>
        <dsp:cNvSpPr/>
      </dsp:nvSpPr>
      <dsp:spPr>
        <a:xfrm>
          <a:off x="740717" y="804653"/>
          <a:ext cx="7018926" cy="641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72" tIns="67872" rIns="67872" bIns="6787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Core task: develop a comprehensive international marketing plan</a:t>
          </a:r>
          <a:endParaRPr lang="en-US" sz="1700" kern="1200"/>
        </a:p>
      </dsp:txBody>
      <dsp:txXfrm>
        <a:off x="740717" y="804653"/>
        <a:ext cx="7018926" cy="641313"/>
      </dsp:txXfrm>
    </dsp:sp>
    <dsp:sp modelId="{5D7E68C4-8976-4319-B76C-CCF8ED3681FC}">
      <dsp:nvSpPr>
        <dsp:cNvPr id="0" name=""/>
        <dsp:cNvSpPr/>
      </dsp:nvSpPr>
      <dsp:spPr>
        <a:xfrm>
          <a:off x="0" y="1606295"/>
          <a:ext cx="7759644" cy="641313"/>
        </a:xfrm>
        <a:prstGeom prst="roundRect">
          <a:avLst>
            <a:gd name="adj" fmla="val 10000"/>
          </a:avLst>
        </a:prstGeom>
        <a:solidFill>
          <a:schemeClr val="bg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86E7CB-61AB-4A83-AE93-4B587D41A0D0}">
      <dsp:nvSpPr>
        <dsp:cNvPr id="0" name=""/>
        <dsp:cNvSpPr/>
      </dsp:nvSpPr>
      <dsp:spPr>
        <a:xfrm>
          <a:off x="193997" y="1750591"/>
          <a:ext cx="352722" cy="3527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EA280-7CBD-4576-9F77-91478589FB36}">
      <dsp:nvSpPr>
        <dsp:cNvPr id="0" name=""/>
        <dsp:cNvSpPr/>
      </dsp:nvSpPr>
      <dsp:spPr>
        <a:xfrm>
          <a:off x="740717" y="1606295"/>
          <a:ext cx="7018926" cy="641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72" tIns="67872" rIns="67872" bIns="6787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Marketing and marketing research at the core: investigate markets systematically and evaluate opportunities and risks</a:t>
          </a:r>
          <a:endParaRPr lang="en-US" sz="1700" kern="1200" dirty="0"/>
        </a:p>
      </dsp:txBody>
      <dsp:txXfrm>
        <a:off x="740717" y="1606295"/>
        <a:ext cx="7018926" cy="641313"/>
      </dsp:txXfrm>
    </dsp:sp>
    <dsp:sp modelId="{30B266CF-CA04-41EB-A081-5C27F4A84DC3}">
      <dsp:nvSpPr>
        <dsp:cNvPr id="0" name=""/>
        <dsp:cNvSpPr/>
      </dsp:nvSpPr>
      <dsp:spPr>
        <a:xfrm>
          <a:off x="0" y="2407937"/>
          <a:ext cx="7759644" cy="641313"/>
        </a:xfrm>
        <a:prstGeom prst="roundRect">
          <a:avLst>
            <a:gd name="adj" fmla="val 10000"/>
          </a:avLst>
        </a:prstGeom>
        <a:solidFill>
          <a:schemeClr val="bg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01DB31-418B-4AB1-947C-CBA872A6D2C6}">
      <dsp:nvSpPr>
        <dsp:cNvPr id="0" name=""/>
        <dsp:cNvSpPr/>
      </dsp:nvSpPr>
      <dsp:spPr>
        <a:xfrm>
          <a:off x="193997" y="2552233"/>
          <a:ext cx="352722" cy="3527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0A157C-C167-482A-B0B8-E49EBAD9F7C5}">
      <dsp:nvSpPr>
        <dsp:cNvPr id="0" name=""/>
        <dsp:cNvSpPr/>
      </dsp:nvSpPr>
      <dsp:spPr>
        <a:xfrm>
          <a:off x="740717" y="2407937"/>
          <a:ext cx="7018926" cy="641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72" tIns="67872" rIns="67872" bIns="6787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Emphasis on critical thinking, project management and teamwork in a multicultural context</a:t>
          </a:r>
          <a:endParaRPr lang="en-US" sz="1700" kern="1200"/>
        </a:p>
      </dsp:txBody>
      <dsp:txXfrm>
        <a:off x="740717" y="2407937"/>
        <a:ext cx="7018926" cy="641313"/>
      </dsp:txXfrm>
    </dsp:sp>
    <dsp:sp modelId="{86696B69-5664-417A-8126-07576460056E}">
      <dsp:nvSpPr>
        <dsp:cNvPr id="0" name=""/>
        <dsp:cNvSpPr/>
      </dsp:nvSpPr>
      <dsp:spPr>
        <a:xfrm>
          <a:off x="0" y="3209580"/>
          <a:ext cx="7759644" cy="641313"/>
        </a:xfrm>
        <a:prstGeom prst="roundRect">
          <a:avLst>
            <a:gd name="adj" fmla="val 10000"/>
          </a:avLst>
        </a:prstGeom>
        <a:solidFill>
          <a:schemeClr val="bg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B02938-E4D3-4584-AE3C-160DEF5D9B62}">
      <dsp:nvSpPr>
        <dsp:cNvPr id="0" name=""/>
        <dsp:cNvSpPr/>
      </dsp:nvSpPr>
      <dsp:spPr>
        <a:xfrm>
          <a:off x="193997" y="3353875"/>
          <a:ext cx="352722" cy="3527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E44AD-E17F-4532-A0FB-29185D859E71}">
      <dsp:nvSpPr>
        <dsp:cNvPr id="0" name=""/>
        <dsp:cNvSpPr/>
      </dsp:nvSpPr>
      <dsp:spPr>
        <a:xfrm>
          <a:off x="740717" y="3209580"/>
          <a:ext cx="7018926" cy="641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72" tIns="67872" rIns="67872" bIns="6787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Outcome: a structured international marketing plan with evidence-based strategic recommendations</a:t>
          </a:r>
          <a:endParaRPr lang="en-US" sz="1700" kern="1200"/>
        </a:p>
      </dsp:txBody>
      <dsp:txXfrm>
        <a:off x="740717" y="3209580"/>
        <a:ext cx="7018926" cy="6413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817FD-8155-4502-AF78-DBC2EA4B168F}" type="datetimeFigureOut">
              <a:rPr lang="en-GB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t>01/10/2026</a:t>
            </a:fld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F6F62-1C91-45E7-BAED-FBFBF67C82BC}" type="slidenum">
              <a:rPr lang="en-GB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‹#›</a:t>
            </a:fld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456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C0A972FC-F5E0-4F80-B169-F0B5EFC71333}" type="datetimeFigureOut">
              <a:rPr lang="en-GB" smtClean="0"/>
              <a:pPr/>
              <a:t>01/10/2026</a:t>
            </a:fld>
            <a:endParaRPr lang="en-GB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219CC2FD-B32F-4992-A15B-F95E2E35C8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513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erdana" pitchFamily="34" charset="0"/>
        <a:ea typeface="Verdana" pitchFamily="34" charset="0"/>
        <a:cs typeface="Verdan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7595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9487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CC2FD-B32F-4992-A15B-F95E2E35C81B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196444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ontakt_image3.jpg"/><Relationship Id="rId3" Type="http://schemas.openxmlformats.org/officeDocument/2006/relationships/image" Target="../media/kontakt_image1.png"/><Relationship Id="rId4" Type="http://schemas.openxmlformats.org/officeDocument/2006/relationships/image" Target="../media/kontakt_image4.png"/><Relationship Id="rId20" Type="http://schemas.openxmlformats.org/officeDocument/2006/relationships/hyperlink" Target="mailto:arne.floh@wu.ac.at" TargetMode="External"/><Relationship Id="rId21" Type="http://schemas.openxmlformats.org/officeDocument/2006/relationships/hyperlink" Target="https://calendar.app.google/o4FuKoF1YcarRfnC8" TargetMode="Externa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kontakt_image8.png"/><Relationship Id="rId20" Type="http://schemas.openxmlformats.org/officeDocument/2006/relationships/hyperlink" Target="mailto:arne.floh@wu.ac.at" TargetMode="External"/><Relationship Id="rId21" Type="http://schemas.openxmlformats.org/officeDocument/2006/relationships/hyperlink" Target="https://calendar.app.google/o4FuKoF1YcarRfnC8" TargetMode="External"/><Relationship Id="rId22" Type="http://schemas.openxmlformats.org/officeDocument/2006/relationships/hyperlink" Target="https://www.wu.ac.at/en/welthandel/arne-floh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4" name="Rechteck 13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Rechteck 14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baseline="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5A845CD-2D10-42BB-97DB-CDA723EE9E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A49BD17-4238-4565-A4B6-2E20A7C19F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897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26" name="Rechteck 25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7" name="Rechteck 2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8" y="1294973"/>
            <a:ext cx="5466982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8" y="993080"/>
            <a:ext cx="5466982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6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E16B78E-14FB-4C1E-8625-0D5A429E49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9B62297-FBCA-40E7-A876-7818F7A81C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2019" y="1344613"/>
            <a:ext cx="7759644" cy="3853905"/>
          </a:xfrm>
        </p:spPr>
        <p:txBody>
          <a:bodyPr lIns="0" rIns="0"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7AAB-A700-485E-A2FB-EAC3CFB07074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6" name="Rechteck 15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BA9844F5-FA66-4582-86D9-5CEB57D815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B702B7F6-CDD2-4C6E-BBC1-61A114A8A8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41" y="5129960"/>
            <a:ext cx="1831485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961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 ku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497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A463F4F5-A20D-4A70-B3F9-6AD8A3EE25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AB68F06-4800-4D63-9DF2-372B23A8EC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41" y="5129960"/>
            <a:ext cx="1831485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6800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2" name="Rechteck 11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hteck 12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7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30D039B-1A60-42B3-A3E1-B44D86C63C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5D9B1B1-5069-4351-A01A-8CD0972841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7811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2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21" name="Rechteck 20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hteck 21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497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ABF9D4AB-1FA6-4101-9EE8-B852A65B2A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DF8959B-5028-481F-A01F-8628D9F2E0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6685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9" name="Rechteck 18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hteck 20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04218C8-068C-46BC-ADE6-6BC8A468BF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487AD36-3E46-4F41-8B5C-B79909802D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1637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21" name="Rechteck 20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hteck 21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497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3D0D44A-5625-4C70-A2EB-08D982355B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91D1A92-B997-47B5-A14A-E2A501C20D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11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22" name="Rechteck 21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Rechteck 22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 defTabSz="914400">
              <a:buNone/>
              <a:defRPr lang="de-DE" sz="1200" dirty="0" smtClean="0"/>
            </a:lvl1pPr>
          </a:lstStyle>
          <a:p>
            <a:pPr marL="0" lvl="0" defTabSz="914400"/>
            <a:r>
              <a:rPr lang="en-GB" dirty="0"/>
              <a:t>Subtitle chapter</a:t>
            </a:r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28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chapter header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29FDC53-5973-45F2-8F83-ED68F7A58508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89CCD104-DEA0-4048-8CA3-CAB740FC06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2F980AF-DDD0-4966-B1E7-E1B87083C7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1511"/>
            <a:ext cx="1318058" cy="2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97673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ku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30259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28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1 line for chapter header</a:t>
            </a: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 defTabSz="914400">
              <a:buNone/>
              <a:defRPr lang="de-DE" sz="1200" dirty="0" smtClean="0"/>
            </a:lvl1pPr>
          </a:lstStyle>
          <a:p>
            <a:pPr marL="0" lvl="0" defTabSz="914400"/>
            <a:r>
              <a:rPr lang="en-GB" dirty="0"/>
              <a:t>Subtitle chapter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4570F99-0B5D-40DA-A3D3-DDF1CB693FD8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416AA66B-0354-461B-A799-CF3EFFC17D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0ECE620-FB2B-4217-AA10-439373F15D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1511"/>
            <a:ext cx="1318058" cy="2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9461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0" hasCustomPrompt="1"/>
          </p:nvPr>
        </p:nvSpPr>
        <p:spPr>
          <a:xfrm>
            <a:off x="468316" y="1344613"/>
            <a:ext cx="8210547" cy="4370387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Placeholder for objects</a:t>
            </a:r>
          </a:p>
        </p:txBody>
      </p:sp>
      <p:sp>
        <p:nvSpPr>
          <p:cNvPr id="8" name="Rechteck 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93310F7-117D-4045-8610-3277CC5ED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1621" y="288569"/>
            <a:ext cx="1170000" cy="617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344613"/>
            <a:ext cx="3960000" cy="3859212"/>
          </a:xfrm>
        </p:spPr>
        <p:txBody>
          <a:bodyPr>
            <a:normAutofit/>
          </a:bodyPr>
          <a:lstStyle>
            <a:lvl1pP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344613"/>
            <a:ext cx="3960000" cy="3859212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buClr>
                <a:schemeClr val="accent1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44FF-326E-4934-AE8D-65DEFF191BB1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935991"/>
            <a:ext cx="3960000" cy="32678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935991"/>
            <a:ext cx="3960000" cy="32678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 hasCustomPrompt="1"/>
          </p:nvPr>
        </p:nvSpPr>
        <p:spPr bwMode="gray">
          <a:xfrm>
            <a:off x="46831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en-GB" dirty="0"/>
              <a:t>Subtitle 1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16A0E8-29DE-4D75-BF66-2C047D439D41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17" hasCustomPrompt="1"/>
          </p:nvPr>
        </p:nvSpPr>
        <p:spPr bwMode="gray">
          <a:xfrm>
            <a:off x="472789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en-GB" dirty="0"/>
              <a:t>Subtitle 2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467544" y="1964530"/>
            <a:ext cx="4319712" cy="2716954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1" tIns="45715" rIns="91431" bIns="45715" rtlCol="0" anchor="ctr"/>
          <a:lstStyle/>
          <a:p>
            <a:pPr algn="ctr"/>
            <a:endParaRPr lang="en-GB" dirty="0"/>
          </a:p>
        </p:txBody>
      </p:sp>
      <p:pic>
        <p:nvPicPr>
          <p:cNvPr id="7" name="Grafik 6" descr="Logo-für-V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2127250"/>
            <a:ext cx="492443" cy="2252663"/>
          </a:xfrm>
          <a:prstGeom prst="rect">
            <a:avLst/>
          </a:prstGeom>
        </p:spPr>
      </p:pic>
      <p:sp>
        <p:nvSpPr>
          <p:cNvPr id="11" name="Textplatzhalt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1684020" y="2559843"/>
            <a:ext cx="2763926" cy="1811291"/>
          </a:xfrm>
        </p:spPr>
        <p:txBody>
          <a:bodyPr>
            <a:normAutofit/>
          </a:bodyPr>
          <a:lstStyle>
            <a:lvl1pPr marL="0" marR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 sz="1100" baseline="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marR="0" lvl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Hier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Adressdaten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eingeben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1DA7DE9-F6B6-4FDA-A00F-1221D494593B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2019" y="1344613"/>
            <a:ext cx="7759644" cy="3853905"/>
          </a:xfrm>
        </p:spPr>
        <p:txBody>
          <a:bodyPr lIns="0" rIns="0"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7AAB-A700-485E-A2FB-EAC3CFB07074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GLOBAL BRANDING FOR SMES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6692742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Kontak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4" name="Rechteck 13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Rechteck 14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0" name="Kontaktdaten"/>
          <p:cNvSpPr>
            <a:spLocks noGrp="1"/>
          </p:cNvSpPr>
          <p:nvPr userDrawn="1"/>
        </p:nvSpPr>
        <p:spPr bwMode="white">
          <a:xfrm>
            <a:off x="287338" y="2941638"/>
            <a:ext cx="4284662" cy="140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baseline="0" dirty="0" smtClean="0"/>
            </a:lvl1pPr>
          </a:lstStyle>
          <a:p>
            <a:pPr marL="0" indent="0">
              <a:buNone/>
            </a:pPr>
            <a:r>
              <a:rPr lang="en-GB" sz="1100" dirty="0">
                <a:solidFill>
                  <a:srgbClr val="000000"/>
                </a:solidFill>
                <a:latin typeface="+mn-lt"/>
              </a:rPr>
              <a:t>Dr Arne Floh, Senior Lecturer in Marketing</a:t>
            </a:r>
          </a:p>
          <a:p>
            <a:pPr marL="0" indent="0">
              <a:buNone/>
            </a:pPr>
            <a:r>
              <a:rPr lang="en-GB" sz="1100" dirty="0">
                <a:solidFill>
                  <a:srgbClr val="000000"/>
                </a:solidFill>
                <a:latin typeface="+mn-lt"/>
              </a:rPr>
              <a:t>WU Vienna, Institute for International Business</a:t>
            </a:r>
          </a:p>
          <a:p>
            <a:pPr marL="0" indent="0">
              <a:buNone/>
            </a:pPr>
            <a:r>
              <a:rPr lang="en-GB" sz="1100" dirty="0">
                <a:solidFill>
                  <a:srgbClr val="000000"/>
                </a:solidFill>
                <a:latin typeface="+mn-lt"/>
                <a:hlinkClick r:id="rId20"/>
              </a:rPr>
              <a:t>arne.floh@wu.ac.at</a:t>
            </a:r>
          </a:p>
          <a:p>
            <a:pPr marL="0" indent="0">
              <a:buNone/>
            </a:pPr>
            <a:r>
              <a:rPr lang="en-GB" sz="1100" dirty="0">
                <a:solidFill>
                  <a:srgbClr val="000000"/>
                </a:solidFill>
                <a:latin typeface="+mn-lt"/>
                <a:hlinkClick r:id="rId21"/>
              </a:rPr>
              <a:t>Office hours: book online (Google Calendar)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5A845CD-2D10-42BB-97DB-CDA723EE9E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A49BD17-4238-4565-A4B6-2E20A7C19F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897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 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467544" y="1964530"/>
            <a:ext cx="4319712" cy="2716954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1" tIns="45715" rIns="91431" bIns="45715" rtlCol="0" anchor="ctr"/>
          <a:lstStyle/>
          <a:p>
            <a:pPr algn="ctr"/>
            <a:endParaRPr lang="en-GB" dirty="0"/>
          </a:p>
        </p:txBody>
      </p:sp>
      <p:pic>
        <p:nvPicPr>
          <p:cNvPr id="7" name="Grafik 6" descr="Logo-für-V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2127250"/>
            <a:ext cx="492443" cy="2252663"/>
          </a:xfrm>
          <a:prstGeom prst="rect">
            <a:avLst/>
          </a:prstGeom>
        </p:spPr>
      </p:pic>
      <p:sp>
        <p:nvSpPr>
          <p:cNvPr id="11" name="Kontaktdaten"/>
          <p:cNvSpPr>
            <a:spLocks noGrp="1"/>
          </p:cNvSpPr>
          <p:nvPr userDrawn="1"/>
        </p:nvSpPr>
        <p:spPr>
          <a:xfrm>
            <a:off x="1684020" y="2559843"/>
            <a:ext cx="2763926" cy="181129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 sz="1100" baseline="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indent="0">
              <a:buNone/>
            </a:pPr>
            <a:r>
              <a:rPr lang="en-GB" sz="1000" b="1" dirty="0">
                <a:solidFill>
                  <a:srgbClr val="000000"/>
                </a:solidFill>
                <a:latin typeface="+mn-lt"/>
              </a:rPr>
              <a:t>INSTITUTE FOR INTERNATIONAL BUSINESS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+mn-lt"/>
              </a:rPr>
              <a:t>Welthandelsplatz 1, 1020 Vienna, Austria</a:t>
            </a:r>
          </a:p>
          <a:p>
            <a:pPr marL="0" indent="0">
              <a:buNone/>
            </a:pPr>
            <a:endParaRPr lang="en-GB" sz="1000" dirty="0"/>
          </a:p>
          <a:p>
            <a:pPr marL="0" indent="0">
              <a:buNone/>
            </a:pPr>
            <a:r>
              <a:rPr lang="en-GB" sz="1000" b="1" dirty="0">
                <a:solidFill>
                  <a:srgbClr val="000000"/>
                </a:solidFill>
                <a:latin typeface="+mn-lt"/>
              </a:rPr>
              <a:t>DR ARNE FLOH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+mn-lt"/>
              </a:rPr>
              <a:t>Senior Lecturer in Marketing</a:t>
            </a:r>
          </a:p>
          <a:p>
            <a:pPr marL="0" indent="0">
              <a:buNone/>
            </a:pPr>
            <a:endParaRPr lang="en-GB" sz="1000" dirty="0"/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+mn-lt"/>
              </a:rPr>
              <a:t>F +43-31336-6367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+mn-lt"/>
                <a:hlinkClick r:id="rId20"/>
              </a:rPr>
              <a:t>arne.floh@wu.ac.at</a:t>
            </a:r>
          </a:p>
          <a:p>
            <a:pPr marL="0" indent="0">
              <a:buNone/>
            </a:pPr>
            <a:r>
              <a:rPr lang="en-GB" sz="900" dirty="0">
                <a:solidFill>
                  <a:srgbClr val="000000"/>
                </a:solidFill>
                <a:latin typeface="+mn-lt"/>
                <a:hlinkClick r:id="rId22"/>
              </a:rPr>
              <a:t>www.wu.ac.at/en/welthandel/arne-floh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+mn-lt"/>
                <a:hlinkClick r:id="rId21"/>
              </a:rPr>
              <a:t>Office hours: book online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1DA7DE9-F6B6-4FDA-A00F-1221D494593B}" type="datetime1">
              <a:rPr lang="en-GB" smtClean="0"/>
              <a:t>25/08/2023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‹Nr.›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Relationship Id="rId19" Type="http://schemas.openxmlformats.org/officeDocument/2006/relationships/image" Target="../media/image2.png"/><Relationship Id="rId20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344613"/>
            <a:ext cx="7764463" cy="3859212"/>
          </a:xfrm>
          <a:prstGeom prst="rect">
            <a:avLst/>
          </a:prstGeom>
        </p:spPr>
        <p:txBody>
          <a:bodyPr vert="horz" lIns="0" tIns="45715" rIns="0" bIns="45715" rtlCol="0">
            <a:normAutofit/>
          </a:bodyPr>
          <a:lstStyle/>
          <a:p>
            <a:pPr lvl="0"/>
            <a:r>
              <a:rPr lang="en-GB" dirty="0" err="1"/>
              <a:t>Textmasterformate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 userDrawn="1">
            <p:ph type="ftr" sz="quarter" idx="3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l">
              <a:defRPr sz="8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Sample Footer</a:t>
            </a:r>
          </a:p>
        </p:txBody>
      </p:sp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462407" y="5412059"/>
            <a:ext cx="892150" cy="258085"/>
          </a:xfrm>
          <a:prstGeom prst="rect">
            <a:avLst/>
          </a:prstGeom>
        </p:spPr>
        <p:txBody>
          <a:bodyPr vert="horz" lIns="0" tIns="45715" rIns="0" bIns="45715" rtlCol="0" anchor="ctr"/>
          <a:lstStyle>
            <a:lvl1pPr algn="l">
              <a:defRPr sz="8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Page </a:t>
            </a:r>
            <a:fld id="{BE3DC40E-DBBE-4E2D-9EEC-FBF0DA0E917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Datumsplatzhalter 6"/>
          <p:cNvSpPr>
            <a:spLocks noGrp="1"/>
          </p:cNvSpPr>
          <p:nvPr userDrawn="1">
            <p:ph type="dt" sz="half" idx="2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</p:spPr>
        <p:txBody>
          <a:bodyPr vert="horz" lIns="0" tIns="45715" rIns="0" bIns="45715" rtlCol="0" anchor="ctr"/>
          <a:lstStyle>
            <a:lvl1pPr algn="r">
              <a:defRPr lang="de-DE" sz="800" kern="1200" cap="all" baseline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D672231-DCCE-48E5-AF73-62895FE58BB4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18" name="Rechteck 1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</a:t>
            </a:r>
          </a:p>
        </p:txBody>
      </p:sp>
      <p:sp>
        <p:nvSpPr>
          <p:cNvPr id="15" name="Titelplatzhalter 14"/>
          <p:cNvSpPr>
            <a:spLocks noGrp="1"/>
          </p:cNvSpPr>
          <p:nvPr userDrawn="1">
            <p:ph type="title"/>
          </p:nvPr>
        </p:nvSpPr>
        <p:spPr bwMode="auto">
          <a:xfrm>
            <a:off x="462408" y="139700"/>
            <a:ext cx="6840000" cy="90382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 err="1"/>
              <a:t>Titelmasterformat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9925201-EC66-4A08-AB14-A541648A67D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7711621" y="288569"/>
            <a:ext cx="1170000" cy="61728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A212EC7-C80F-4EBC-9817-97C85E0A8AEB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1511"/>
            <a:ext cx="1318058" cy="2285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3" r:id="rId3"/>
    <p:sldLayoutId id="2147483675" r:id="rId4"/>
    <p:sldLayoutId id="2147483676" r:id="rId5"/>
    <p:sldLayoutId id="2147483686" r:id="rId6"/>
    <p:sldLayoutId id="2147483687" r:id="rId7"/>
    <p:sldLayoutId id="2147483681" r:id="rId8"/>
    <p:sldLayoutId id="2147483682" r:id="rId9"/>
    <p:sldLayoutId id="2147483688" r:id="rId10"/>
    <p:sldLayoutId id="2147483691" r:id="rId11"/>
    <p:sldLayoutId id="2147483664" r:id="rId12"/>
    <p:sldLayoutId id="2147483667" r:id="rId13"/>
    <p:sldLayoutId id="2147483668" r:id="rId14"/>
    <p:sldLayoutId id="2147483670" r:id="rId15"/>
    <p:sldLayoutId id="2147483692" r:id="rId16"/>
    <p:sldLayoutId id="2147483693" r:id="rId20"/>
    <p:sldLayoutId id="2147483694" r:id="rId21"/>
  </p:sldLayoutIdLst>
  <p:transition>
    <p:fade/>
  </p:transition>
  <p:hf hdr="0" dt="0"/>
  <p:txStyles>
    <p:titleStyle>
      <a:lvl1pPr algn="l" defTabSz="914306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66700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SzPct val="100000"/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14388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3525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6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0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6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5179" userDrawn="1">
          <p15:clr>
            <a:srgbClr val="F26B43"/>
          </p15:clr>
        </p15:guide>
        <p15:guide id="5" pos="5467" userDrawn="1">
          <p15:clr>
            <a:srgbClr val="F26B43"/>
          </p15:clr>
        </p15:guide>
        <p15:guide id="7" orient="horz" pos="3278" userDrawn="1">
          <p15:clr>
            <a:srgbClr val="F26B43"/>
          </p15:clr>
        </p15:guide>
        <p15:guide id="9" orient="horz" pos="182" userDrawn="1">
          <p15:clr>
            <a:srgbClr val="F26B43"/>
          </p15:clr>
        </p15:guide>
        <p15:guide id="10" orient="horz" pos="847" userDrawn="1">
          <p15:clr>
            <a:srgbClr val="F26B43"/>
          </p15:clr>
        </p15:guide>
        <p15:guide id="11" orient="horz" pos="3515" userDrawn="1">
          <p15:clr>
            <a:srgbClr val="F26B43"/>
          </p15:clr>
        </p15:guide>
        <p15:guide id="12" orient="horz" pos="109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hyperlink" Target="https://www.wu.ac.at/en/welthandel/arne-floh/" TargetMode="External"/><Relationship Id="rId3" Type="http://schemas.openxmlformats.org/officeDocument/2006/relationships/hyperlink" Target="http://www.linkedin.com/arnefloh" TargetMode="External"/><Relationship Id="rId4" Type="http://schemas.openxmlformats.org/officeDocument/2006/relationships/image" Target="../media/image9.tiff"/><Relationship Id="rId5" Type="http://schemas.openxmlformats.org/officeDocument/2006/relationships/hyperlink" Target="mailto:arne.floh@wu.ac.a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9.tiff"/><Relationship Id="rId3" Type="http://schemas.openxmlformats.org/officeDocument/2006/relationships/image" Target="../media/image10.png"/><Relationship Id="rId4" Type="http://schemas.openxmlformats.org/officeDocument/2006/relationships/image" Target="../media/image11.jpeg"/><Relationship Id="rId5" Type="http://schemas.openxmlformats.org/officeDocument/2006/relationships/image" Target="../media/image12.jpeg"/><Relationship Id="rId6" Type="http://schemas.openxmlformats.org/officeDocument/2006/relationships/image" Target="../media/image13.jpeg"/><Relationship Id="rId7" Type="http://schemas.openxmlformats.org/officeDocument/2006/relationships/image" Target="../media/image14.jpe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jpe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svg"/><Relationship Id="rId3" Type="http://schemas.openxmlformats.org/officeDocument/2006/relationships/image" Target="../media/image32.svg"/><Relationship Id="rId4" Type="http://schemas.openxmlformats.org/officeDocument/2006/relationships/image" Target="../media/image3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4.svg"/><Relationship Id="rId3" Type="http://schemas.openxmlformats.org/officeDocument/2006/relationships/image" Target="../media/image3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8.svg"/><Relationship Id="rId3" Type="http://schemas.openxmlformats.org/officeDocument/2006/relationships/image" Target="../media/image3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0.svg"/><Relationship Id="rId3" Type="http://schemas.openxmlformats.org/officeDocument/2006/relationships/image" Target="../media/image41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GB" dirty="0"/>
              <a:t>International Business Projects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GB" dirty="0"/>
              <a:t>Marketing and Market Research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en-GB" dirty="0"/>
              <a:t>Syllabus WT 2026/27</a:t>
            </a:r>
          </a:p>
        </p:txBody>
      </p:sp>
    </p:spTree>
    <p:extLst>
      <p:ext uri="{BB962C8B-B14F-4D97-AF65-F5344CB8AC3E}">
        <p14:creationId xmlns:p14="http://schemas.microsoft.com/office/powerpoint/2010/main" val="300213539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Card body Personal Information"/>
          <p:cNvSpPr/>
          <p:nvPr/>
        </p:nvSpPr>
        <p:spPr>
          <a:xfrm>
            <a:off x="457200" y="1320800"/>
            <a:ext cx="4572000" cy="3733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802" name="Card header Personal Information"/>
          <p:cNvSpPr/>
          <p:nvPr/>
        </p:nvSpPr>
        <p:spPr>
          <a:xfrm>
            <a:off x="457200" y="1320800"/>
            <a:ext cx="45720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  <a:latin typeface="+mj-lt"/>
              </a:rPr>
              <a:t>Personal Information</a:t>
            </a:r>
          </a:p>
        </p:txBody>
      </p:sp>
      <p:sp>
        <p:nvSpPr>
          <p:cNvPr id="803" name="Card body Contact Information"/>
          <p:cNvSpPr/>
          <p:nvPr/>
        </p:nvSpPr>
        <p:spPr>
          <a:xfrm>
            <a:off x="5232400" y="1320800"/>
            <a:ext cx="3454400" cy="3733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804" name="Card header Contact Information"/>
          <p:cNvSpPr/>
          <p:nvPr/>
        </p:nvSpPr>
        <p:spPr>
          <a:xfrm>
            <a:off x="5232400" y="1320800"/>
            <a:ext cx="34544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  <a:latin typeface="+mj-lt"/>
              </a:rPr>
              <a:t>Contact Information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558800" y="2006600"/>
            <a:ext cx="4368800" cy="2921000"/>
          </a:xfrm>
        </p:spPr>
        <p:txBody>
          <a:bodyPr lIns="76200" tIns="0" rIns="76200" bIns="0" anchor="t">
            <a:noAutofit/>
          </a:bodyPr>
          <a:lstStyle/>
          <a:p>
            <a:pPr marL="228600" indent="-228600">
              <a:spcBef>
                <a:spcPts val="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b="1" dirty="0"/>
              <a:t>Senior Lecturer in International Marketing – WU Vienna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Deputy Program Director Export- und Internationalisierungsmanagement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WWW: </a:t>
            </a:r>
            <a:r>
              <a:rPr lang="en-GB" altLang="de-DE" sz="1300" dirty="0">
                <a:hlinkClick r:id="rId2"/>
              </a:rPr>
              <a:t>https://www.wu.ac.at/en/welthandel/arne-floh/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LinkedIn: </a:t>
            </a:r>
            <a:r>
              <a:rPr lang="en-GB" altLang="de-DE" sz="1300" dirty="0">
                <a:hlinkClick r:id="rId3"/>
              </a:rPr>
              <a:t>http://www.linkedin.com/arnefloh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2</a:t>
            </a:fld>
            <a:endParaRPr lang="en-GB" dirty="0"/>
          </a:p>
        </p:txBody>
      </p:sp>
      <p:sp>
        <p:nvSpPr>
          <p:cNvPr id="5" name="Titel 4"/>
          <p:cNvSpPr>
            <a:spLocks noGrp="1"/>
          </p:cNvSpPr>
          <p:nvPr>
            <p:ph type="title" idx="4294967295"/>
          </p:nvPr>
        </p:nvSpPr>
        <p:spPr>
          <a:xfrm>
            <a:off x="462408" y="139700"/>
            <a:ext cx="6840000" cy="903822"/>
          </a:xfrm>
        </p:spPr>
        <p:txBody>
          <a:bodyPr/>
          <a:lstStyle/>
          <a:p>
            <a:r>
              <a:rPr lang="de-AT" dirty="0"/>
              <a:t>Module </a:t>
            </a:r>
            <a:r>
              <a:rPr lang="de-AT" dirty="0" err="1"/>
              <a:t>Convenor</a:t>
            </a:r>
            <a:r>
              <a:rPr lang="de-AT" dirty="0"/>
              <a:t> – Dr Arne Floh</a:t>
            </a:r>
            <a:endParaRPr lang="en-GB" dirty="0"/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 rotWithShape="1">
          <a:blip r:embed="rId4"/>
          <a:srcRect l="22854" t="-354" r="47068" b="46641"/>
          <a:stretch/>
        </p:blipFill>
        <p:spPr>
          <a:xfrm>
            <a:off x="5996142" y="200165"/>
            <a:ext cx="871429" cy="782891"/>
          </a:xfrm>
          <a:prstGeom prst="rect">
            <a:avLst/>
          </a:prstGeom>
        </p:spPr>
      </p:pic>
      <p:sp>
        <p:nvSpPr>
          <p:cNvPr id="900" name="Contact text"/>
          <p:cNvSpPr txBox="1"/>
          <p:nvPr/>
        </p:nvSpPr>
        <p:spPr>
          <a:xfrm>
            <a:off x="5334000" y="2006600"/>
            <a:ext cx="3251200" cy="2921000"/>
          </a:xfrm>
        </p:spPr>
        <p:txBody>
          <a:bodyPr lIns="76200" tIns="0" rIns="76200" bIns="0" anchor="t">
            <a:noAutofit/>
          </a:bodyPr>
          <a:lstStyle/>
          <a:p>
            <a:pPr marL="228600" indent="-228600">
              <a:spcBef>
                <a:spcPts val="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T: 01 31336 6367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E: </a:t>
            </a:r>
            <a:r>
              <a:rPr lang="en-GB" altLang="de-DE" sz="1300" dirty="0">
                <a:hlinkClick r:id="rId5"/>
              </a:rPr>
              <a:t>arne.floh@wu.ac.at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de-AT" altLang="de-DE" sz="1300" dirty="0"/>
              <a:t>R</a:t>
            </a:r>
            <a:r>
              <a:rPr lang="en-GB" altLang="de-DE" sz="1300" dirty="0"/>
              <a:t>oom D1.5.068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de-AT" altLang="de-DE" sz="1300" dirty="0"/>
              <a:t>O</a:t>
            </a:r>
            <a:r>
              <a:rPr lang="en-GB" altLang="de-DE" sz="1300" dirty="0"/>
              <a:t>ffice Hours: by appointment</a:t>
            </a:r>
          </a:p>
        </p:txBody>
      </p:sp>
      <p:sp>
        <p:nvSpPr>
          <p:cNvPr id="950" name="Fußzeilenplatzhalter"/>
          <p:cNvSpPr>
            <a:spLocks noGrp="1"/>
          </p:cNvSpPr>
          <p:nvPr>
            <p:ph type="ftr" sz="quarter" idx="11"/>
          </p:nvPr>
        </p:nvSpPr>
        <p:spPr>
          <a:xfrm>
            <a:off x="1354561" y="5412059"/>
            <a:ext cx="3217443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Business Projects WT 2026/27 | Julius Meinl</a:t>
            </a:r>
          </a:p>
        </p:txBody>
      </p:sp>
    </p:spTree>
    <p:extLst>
      <p:ext uri="{BB962C8B-B14F-4D97-AF65-F5344CB8AC3E}">
        <p14:creationId xmlns:p14="http://schemas.microsoft.com/office/powerpoint/2010/main" val="286275474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GB" altLang="de-DE" sz="1300" dirty="0"/>
              <a:t>Work Experience</a:t>
            </a:r>
          </a:p>
          <a:p>
            <a:pPr lvl="2"/>
            <a:r>
              <a:rPr lang="en-GB" altLang="de-DE" sz="1300" dirty="0"/>
              <a:t>International &amp; Industry Background</a:t>
            </a:r>
          </a:p>
          <a:p>
            <a:pPr lvl="2"/>
            <a:r>
              <a:rPr lang="en-GB" altLang="de-DE" sz="1300" dirty="0"/>
              <a:t>Teaching Experience &gt; 25 Years</a:t>
            </a:r>
          </a:p>
          <a:p>
            <a:pPr lvl="1"/>
            <a:r>
              <a:rPr lang="en-GB" altLang="de-DE" sz="1300" dirty="0"/>
              <a:t>Teaching</a:t>
            </a:r>
          </a:p>
          <a:p>
            <a:pPr lvl="2"/>
            <a:r>
              <a:rPr lang="en-GB" altLang="de-DE" sz="1300" dirty="0"/>
              <a:t>International Marketing</a:t>
            </a:r>
          </a:p>
          <a:p>
            <a:pPr lvl="2"/>
            <a:r>
              <a:rPr lang="en-GB" altLang="de-DE" sz="1300" dirty="0"/>
              <a:t>International Business Projects</a:t>
            </a:r>
          </a:p>
          <a:p>
            <a:pPr lvl="2"/>
            <a:r>
              <a:rPr lang="en-GB" altLang="de-DE" sz="1300" dirty="0"/>
              <a:t>Marketing Research and Marketing Analytics</a:t>
            </a:r>
          </a:p>
          <a:p>
            <a:pPr lvl="2"/>
            <a:r>
              <a:rPr lang="en-GB" altLang="de-DE" sz="1300" dirty="0"/>
              <a:t>Global Branding</a:t>
            </a:r>
          </a:p>
          <a:p>
            <a:pPr lvl="2"/>
            <a:r>
              <a:rPr lang="en-GB" altLang="de-DE" sz="1300" dirty="0"/>
              <a:t>Supervision (BSc, MSc, PhD)</a:t>
            </a:r>
          </a:p>
          <a:p>
            <a:pPr lvl="1"/>
            <a:r>
              <a:rPr lang="en-GB" altLang="de-DE" sz="1300" dirty="0"/>
              <a:t>Research</a:t>
            </a:r>
          </a:p>
          <a:p>
            <a:pPr lvl="2"/>
            <a:r>
              <a:rPr lang="en-GB" altLang="de-DE" sz="1300" dirty="0"/>
              <a:t>Dynamic </a:t>
            </a:r>
            <a:r>
              <a:rPr lang="en-GB" altLang="de-DE" sz="1300" dirty="0" err="1"/>
              <a:t>Capabilties</a:t>
            </a:r>
            <a:r>
              <a:rPr lang="en-GB" altLang="de-DE" sz="1300" dirty="0"/>
              <a:t> and Firm Performance</a:t>
            </a:r>
          </a:p>
          <a:p>
            <a:pPr lvl="2"/>
            <a:r>
              <a:rPr lang="en-GB" altLang="de-DE" sz="1300" dirty="0"/>
              <a:t>GenAI and Marketing</a:t>
            </a:r>
          </a:p>
          <a:p>
            <a:pPr lvl="2"/>
            <a:r>
              <a:rPr lang="en-GB" altLang="de-DE" sz="1300" dirty="0"/>
              <a:t>SMEs and Internationalization</a:t>
            </a:r>
          </a:p>
          <a:p>
            <a:pPr lvl="1"/>
            <a:r>
              <a:rPr lang="en-GB" altLang="de-DE" sz="1300" dirty="0"/>
              <a:t>Private</a:t>
            </a:r>
          </a:p>
          <a:p>
            <a:pPr lvl="2"/>
            <a:r>
              <a:rPr lang="en-GB" altLang="de-DE" sz="1300" dirty="0"/>
              <a:t>Football</a:t>
            </a:r>
          </a:p>
          <a:p>
            <a:pPr lvl="2"/>
            <a:r>
              <a:rPr lang="en-GB" altLang="de-DE" sz="1300" dirty="0"/>
              <a:t>Electronic Gadgets</a:t>
            </a:r>
          </a:p>
          <a:p>
            <a:pPr lvl="2"/>
            <a:r>
              <a:rPr lang="en-GB" altLang="de-DE" sz="1300" dirty="0"/>
              <a:t>Austrian Wine</a:t>
            </a:r>
          </a:p>
          <a:p>
            <a:pPr lvl="1"/>
            <a:endParaRPr lang="en-GB" altLang="de-DE" sz="1300" dirty="0"/>
          </a:p>
          <a:p>
            <a:pPr lvl="1"/>
            <a:endParaRPr lang="en-GB" altLang="de-DE" sz="1300" dirty="0"/>
          </a:p>
          <a:p>
            <a:endParaRPr lang="en-GB" altLang="de-DE" sz="1300" dirty="0"/>
          </a:p>
          <a:p>
            <a:endParaRPr lang="en-GB" sz="13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3</a:t>
            </a:fld>
            <a:endParaRPr lang="en-GB" dirty="0"/>
          </a:p>
        </p:txBody>
      </p:sp>
      <p:sp>
        <p:nvSpPr>
          <p:cNvPr id="5" name="Titel 4"/>
          <p:cNvSpPr>
            <a:spLocks noGrp="1"/>
          </p:cNvSpPr>
          <p:nvPr>
            <p:ph type="title" idx="4294967295"/>
          </p:nvPr>
        </p:nvSpPr>
        <p:spPr>
          <a:xfrm>
            <a:off x="462408" y="139700"/>
            <a:ext cx="6840000" cy="903822"/>
          </a:xfrm>
        </p:spPr>
        <p:txBody>
          <a:bodyPr/>
          <a:lstStyle/>
          <a:p>
            <a:r>
              <a:rPr lang="de-AT" dirty="0"/>
              <a:t>Module </a:t>
            </a:r>
            <a:r>
              <a:rPr lang="de-AT" dirty="0" err="1"/>
              <a:t>Convenor</a:t>
            </a:r>
            <a:r>
              <a:rPr lang="de-AT" dirty="0"/>
              <a:t> – Dr Arne Floh</a:t>
            </a:r>
            <a:endParaRPr lang="en-GB" dirty="0"/>
          </a:p>
        </p:txBody>
      </p:sp>
      <p:pic>
        <p:nvPicPr>
          <p:cNvPr id="31" name="Picture 2"/>
          <p:cNvPicPr>
            <a:picLocks noChangeAspect="1"/>
          </p:cNvPicPr>
          <p:nvPr/>
        </p:nvPicPr>
        <p:blipFill rotWithShape="1">
          <a:blip r:embed="rId2"/>
          <a:srcRect l="22854" t="-354" r="47068" b="46641"/>
          <a:stretch/>
        </p:blipFill>
        <p:spPr>
          <a:xfrm>
            <a:off x="5976996" y="183329"/>
            <a:ext cx="871429" cy="782891"/>
          </a:xfrm>
          <a:prstGeom prst="rect">
            <a:avLst/>
          </a:prstGeom>
        </p:spPr>
      </p:pic>
      <p:pic>
        <p:nvPicPr>
          <p:cNvPr id="18" name="Picture 5">
            <a:extLst>
              <a:ext uri="{FF2B5EF4-FFF2-40B4-BE49-F238E27FC236}">
                <a16:creationId xmlns:a16="http://schemas.microsoft.com/office/drawing/2014/main" id="{B20435F2-0841-4617-84F5-0C069C5B7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23" b="18973"/>
          <a:stretch>
            <a:fillRect/>
          </a:stretch>
        </p:blipFill>
        <p:spPr bwMode="auto">
          <a:xfrm>
            <a:off x="5943600" y="1545167"/>
            <a:ext cx="812800" cy="135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7" descr="C:\Users\FLOH01\Documents\Diverses\Social Media Marketing.jpg">
            <a:extLst>
              <a:ext uri="{FF2B5EF4-FFF2-40B4-BE49-F238E27FC236}">
                <a16:creationId xmlns:a16="http://schemas.microsoft.com/office/drawing/2014/main" id="{748A9F97-126D-4B75-8FE0-16A3FBA3C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324376"/>
            <a:ext cx="812800" cy="59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C:\Users\FLOH01\Documents\Diverses\CustLoy.jpg">
            <a:extLst>
              <a:ext uri="{FF2B5EF4-FFF2-40B4-BE49-F238E27FC236}">
                <a16:creationId xmlns:a16="http://schemas.microsoft.com/office/drawing/2014/main" id="{9F9E079F-0FD9-4D44-A202-E4A6EDDA7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3251200"/>
            <a:ext cx="736600" cy="73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9" descr="C:\Users\FLOH01\Documents\Diverses\Maradona.jpg">
            <a:extLst>
              <a:ext uri="{FF2B5EF4-FFF2-40B4-BE49-F238E27FC236}">
                <a16:creationId xmlns:a16="http://schemas.microsoft.com/office/drawing/2014/main" id="{4D115C44-4118-40BB-A76E-053C6D127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239326"/>
            <a:ext cx="812800" cy="53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C:\Users\FLOH01\Documents\Diverses\iPhone.jpg">
            <a:extLst>
              <a:ext uri="{FF2B5EF4-FFF2-40B4-BE49-F238E27FC236}">
                <a16:creationId xmlns:a16="http://schemas.microsoft.com/office/drawing/2014/main" id="{2AF1D26F-471E-485B-92E1-5F56E09F5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203700"/>
            <a:ext cx="812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B408EE01-B542-4660-B0D3-FBD43BA77E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2807" y="2032000"/>
            <a:ext cx="765586" cy="10668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C149411-6646-4881-AC51-37581FA347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6300" y="2032000"/>
            <a:ext cx="787400" cy="10668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B7E81BED-3E73-4767-B869-CF72D9B7D0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4350" y="2032000"/>
            <a:ext cx="800100" cy="1066800"/>
          </a:xfrm>
          <a:prstGeom prst="rect">
            <a:avLst/>
          </a:prstGeom>
        </p:spPr>
      </p:pic>
      <p:pic>
        <p:nvPicPr>
          <p:cNvPr id="27" name="Picture 2" descr="Entrepreneurial Marketing">
            <a:extLst>
              <a:ext uri="{FF2B5EF4-FFF2-40B4-BE49-F238E27FC236}">
                <a16:creationId xmlns:a16="http://schemas.microsoft.com/office/drawing/2014/main" id="{D1D91749-54D0-4728-BD44-4530B7260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0" y="2032000"/>
            <a:ext cx="6731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0E861A12-FBD5-4375-9D5E-B3F3E3AAED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0000" y="1346200"/>
            <a:ext cx="711200" cy="5334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DCA1A994-C935-43CE-93F8-29BFA8C451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64350" y="1460500"/>
            <a:ext cx="800100" cy="3048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DA807570-9906-45C3-9264-3AD85B5FD1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0" y="1403350"/>
            <a:ext cx="736600" cy="4191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81F732C-A406-456E-26A8-5A5ABAEE90B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6896100" y="3251200"/>
            <a:ext cx="736600" cy="7366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9B8F467-DDA6-41DD-87EC-E17A8E3A849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0500" y="3251200"/>
            <a:ext cx="736600" cy="736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97428DC-BC39-C343-7D7A-1B67222543C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200" y="4184650"/>
            <a:ext cx="203200" cy="647700"/>
          </a:xfrm>
          <a:prstGeom prst="rect">
            <a:avLst/>
          </a:prstGeom>
        </p:spPr>
      </p:pic>
      <p:pic>
        <p:nvPicPr>
          <p:cNvPr id="6" name="Grafik 5" descr="Ein Bild, das draußen, Himmel, Person, Gras enthält.&#10;&#10;KI-generierte Inhalte können fehlerhaft sein.">
            <a:extLst>
              <a:ext uri="{FF2B5EF4-FFF2-40B4-BE49-F238E27FC236}">
                <a16:creationId xmlns:a16="http://schemas.microsoft.com/office/drawing/2014/main" id="{9506A783-5B4B-819B-A493-114BE8F2565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4205131"/>
            <a:ext cx="812800" cy="606738"/>
          </a:xfrm>
          <a:prstGeom prst="rect">
            <a:avLst/>
          </a:prstGeom>
        </p:spPr>
      </p:pic>
      <p:sp>
        <p:nvSpPr>
          <p:cNvPr id="950" name="Fußzeilenplatzhalter"/>
          <p:cNvSpPr>
            <a:spLocks noGrp="1"/>
          </p:cNvSpPr>
          <p:nvPr>
            <p:ph type="ftr" sz="quarter" idx="11"/>
          </p:nvPr>
        </p:nvSpPr>
        <p:spPr>
          <a:xfrm>
            <a:off x="1354561" y="5412059"/>
            <a:ext cx="3217443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Business Projects WT 2026/27 | Julius Meinl</a:t>
            </a:r>
          </a:p>
        </p:txBody>
      </p:sp>
    </p:spTree>
    <p:extLst>
      <p:ext uri="{BB962C8B-B14F-4D97-AF65-F5344CB8AC3E}">
        <p14:creationId xmlns:p14="http://schemas.microsoft.com/office/powerpoint/2010/main" val="331718922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1354561" y="5412059"/>
            <a:ext cx="3217443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Business Projects WT 2026/27 | Julius Meinl</a:t>
            </a: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462407" y="5412059"/>
            <a:ext cx="892150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Page </a:t>
            </a:r>
            <a:fld id="{941D2295-CC7E-4B5B-BFD3-593FD9D32866}" type="slidenum">
              <a:rPr lang="en-GB" smtClean="0"/>
              <a:pPr>
                <a:spcAft>
                  <a:spcPts val="600"/>
                </a:spcAft>
              </a:pPr>
              <a:t>4</a:t>
            </a:fld>
            <a:endParaRPr lang="en-GB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</p:spPr>
        <p:txBody>
          <a:bodyPr anchor="ctr">
            <a:normAutofit/>
          </a:bodyPr>
          <a:lstStyle/>
          <a:p>
            <a:pPr lvl="0"/>
            <a:r>
              <a:rPr lang="en-GB" dirty="0"/>
              <a:t>Course synopsis</a:t>
            </a:r>
          </a:p>
        </p:txBody>
      </p:sp>
      <p:graphicFrame>
        <p:nvGraphicFramePr>
          <p:cNvPr id="12" name="Inhaltsplatzhalter 9">
            <a:extLst>
              <a:ext uri="{FF2B5EF4-FFF2-40B4-BE49-F238E27FC236}">
                <a16:creationId xmlns:a16="http://schemas.microsoft.com/office/drawing/2014/main" id="{F0624128-5AD2-A6C8-8CBE-E7C2ED8A69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2019" y="1344613"/>
          <a:ext cx="7759644" cy="38539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063634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Learning objectives</a:t>
            </a:r>
          </a:p>
        </p:txBody>
      </p:sp>
      <p:sp>
        <p:nvSpPr>
          <p:cNvPr id="100" name="Objective band 1"/>
          <p:cNvSpPr/>
          <p:nvPr/>
        </p:nvSpPr>
        <p:spPr>
          <a:xfrm>
            <a:off x="457200" y="1193800"/>
            <a:ext cx="8229600" cy="1041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Objective accent 1"/>
          <p:cNvSpPr/>
          <p:nvPr/>
        </p:nvSpPr>
        <p:spPr>
          <a:xfrm>
            <a:off x="457200" y="1193800"/>
            <a:ext cx="50800" cy="104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Objective header 1"/>
          <p:cNvSpPr txBox="1"/>
          <p:nvPr/>
        </p:nvSpPr>
        <p:spPr>
          <a:xfrm>
            <a:off x="1143000" y="1193800"/>
            <a:ext cx="1905000" cy="1041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n-GB" sz="1600" b="1" dirty="0">
                <a:solidFill>
                  <a:schemeClr val="tx2"/>
                </a:solidFill>
                <a:latin typeface="+mj-lt"/>
              </a:rPr>
              <a:t>Research &amp;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2"/>
                </a:solidFill>
                <a:latin typeface="+mj-lt"/>
              </a:rPr>
              <a:t>analysis</a:t>
            </a:r>
          </a:p>
        </p:txBody>
      </p:sp>
      <p:sp>
        <p:nvSpPr>
          <p:cNvPr id="103" name="Objective list 1"/>
          <p:cNvSpPr txBox="1"/>
          <p:nvPr/>
        </p:nvSpPr>
        <p:spPr>
          <a:xfrm>
            <a:off x="3124200" y="1193800"/>
            <a:ext cx="5537200" cy="1041400"/>
          </a:xfrm>
          <a:prstGeom prst="rect">
            <a:avLst/>
          </a:prstGeom>
          <a:noFill/>
        </p:spPr>
        <p:txBody>
          <a:bodyPr wrap="square" lIns="76200" tIns="76200" rIns="76200" bIns="76200" anchor="ctr">
            <a:noAutofit/>
          </a:bodyPr>
          <a:lstStyle/>
          <a:p>
            <a:pPr marL="228600" indent="-228600">
              <a:spcBef>
                <a:spcPts val="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Conduct and interpret marketing research for evidence-based decisions</a:t>
            </a:r>
          </a:p>
          <a:p>
            <a:pPr marL="228600" indent="-228600">
              <a:spcBef>
                <a:spcPts val="30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Analyze competition, customer needs and cultural influences</a:t>
            </a:r>
          </a:p>
        </p:txBody>
      </p:sp>
      <p:sp>
        <p:nvSpPr>
          <p:cNvPr id="104" name="Objective band 2"/>
          <p:cNvSpPr/>
          <p:nvPr/>
        </p:nvSpPr>
        <p:spPr>
          <a:xfrm>
            <a:off x="457200" y="2387600"/>
            <a:ext cx="8229600" cy="1549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5" name="Objective accent 2"/>
          <p:cNvSpPr/>
          <p:nvPr/>
        </p:nvSpPr>
        <p:spPr>
          <a:xfrm>
            <a:off x="457200" y="2387600"/>
            <a:ext cx="50800" cy="1549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6" name="Objective header 2"/>
          <p:cNvSpPr txBox="1"/>
          <p:nvPr/>
        </p:nvSpPr>
        <p:spPr>
          <a:xfrm>
            <a:off x="1143000" y="2387600"/>
            <a:ext cx="1905000" cy="154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n-GB" sz="1600" b="1" dirty="0">
                <a:solidFill>
                  <a:schemeClr val="tx2"/>
                </a:solidFill>
                <a:latin typeface="+mj-lt"/>
              </a:rPr>
              <a:t>Strategy &amp;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2"/>
                </a:solidFill>
                <a:latin typeface="+mj-lt"/>
              </a:rPr>
              <a:t>planning</a:t>
            </a:r>
          </a:p>
        </p:txBody>
      </p:sp>
      <p:sp>
        <p:nvSpPr>
          <p:cNvPr id="107" name="Objective list 2"/>
          <p:cNvSpPr txBox="1"/>
          <p:nvPr/>
        </p:nvSpPr>
        <p:spPr>
          <a:xfrm>
            <a:off x="3124200" y="2387600"/>
            <a:ext cx="5537200" cy="1549400"/>
          </a:xfrm>
          <a:prstGeom prst="rect">
            <a:avLst/>
          </a:prstGeom>
          <a:noFill/>
        </p:spPr>
        <p:txBody>
          <a:bodyPr wrap="square" lIns="76200" tIns="76200" rIns="76200" bIns="76200" anchor="ctr">
            <a:noAutofit/>
          </a:bodyPr>
          <a:lstStyle/>
          <a:p>
            <a:pPr marL="228600" indent="-228600">
              <a:spcBef>
                <a:spcPts val="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Design and present a structured international marketing plan based on systematic analysis and research</a:t>
            </a:r>
          </a:p>
          <a:p>
            <a:pPr marL="228600" indent="-228600">
              <a:spcBef>
                <a:spcPts val="30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Apply marketing concepts internationally and evaluate opportunities and risks across markets</a:t>
            </a:r>
          </a:p>
          <a:p>
            <a:pPr marL="228600" indent="-228600">
              <a:spcBef>
                <a:spcPts val="30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Develop creativity and problem-solving to propose innovative, feasible strategies</a:t>
            </a:r>
          </a:p>
        </p:txBody>
      </p:sp>
      <p:sp>
        <p:nvSpPr>
          <p:cNvPr id="108" name="Objective band 3"/>
          <p:cNvSpPr/>
          <p:nvPr/>
        </p:nvSpPr>
        <p:spPr>
          <a:xfrm>
            <a:off x="457200" y="4089400"/>
            <a:ext cx="8229600" cy="1041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9" name="Objective accent 3"/>
          <p:cNvSpPr/>
          <p:nvPr/>
        </p:nvSpPr>
        <p:spPr>
          <a:xfrm>
            <a:off x="457200" y="4089400"/>
            <a:ext cx="50800" cy="104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0" name="Objective header 3"/>
          <p:cNvSpPr txBox="1"/>
          <p:nvPr/>
        </p:nvSpPr>
        <p:spPr>
          <a:xfrm>
            <a:off x="1143000" y="4089400"/>
            <a:ext cx="1905000" cy="1041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n-GB" sz="1600" b="1" dirty="0">
                <a:solidFill>
                  <a:schemeClr val="tx2"/>
                </a:solidFill>
                <a:latin typeface="+mj-lt"/>
              </a:rPr>
              <a:t>Teamwork &amp;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2"/>
                </a:solidFill>
                <a:latin typeface="+mj-lt"/>
              </a:rPr>
              <a:t>communication</a:t>
            </a:r>
          </a:p>
        </p:txBody>
      </p:sp>
      <p:sp>
        <p:nvSpPr>
          <p:cNvPr id="111" name="Objective list 3"/>
          <p:cNvSpPr txBox="1"/>
          <p:nvPr/>
        </p:nvSpPr>
        <p:spPr>
          <a:xfrm>
            <a:off x="3124200" y="4089400"/>
            <a:ext cx="5537200" cy="1041400"/>
          </a:xfrm>
          <a:prstGeom prst="rect">
            <a:avLst/>
          </a:prstGeom>
          <a:noFill/>
        </p:spPr>
        <p:txBody>
          <a:bodyPr wrap="square" lIns="76200" tIns="76200" rIns="76200" bIns="76200" anchor="ctr">
            <a:noAutofit/>
          </a:bodyPr>
          <a:lstStyle/>
          <a:p>
            <a:pPr marL="228600" indent="-228600">
              <a:spcBef>
                <a:spcPts val="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Strengthen teamwork, project management and intercultural collaboration</a:t>
            </a:r>
          </a:p>
          <a:p>
            <a:pPr marL="228600" indent="-228600">
              <a:spcBef>
                <a:spcPts val="30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Communicate complex ideas clearly and persuasively, in writing and orally</a:t>
            </a:r>
          </a:p>
        </p:txBody>
      </p:sp>
      <p:pic>
        <p:nvPicPr>
          <p:cNvPr id="112" name="Graphic 112" descr="Resear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000" y="1511300"/>
            <a:ext cx="406400" cy="406400"/>
          </a:xfrm>
          <a:prstGeom prst="rect">
            <a:avLst/>
          </a:prstGeom>
        </p:spPr>
      </p:pic>
      <p:pic>
        <p:nvPicPr>
          <p:cNvPr id="113" name="Graphic 113" descr="Strateg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000" y="2959100"/>
            <a:ext cx="406400" cy="406400"/>
          </a:xfrm>
          <a:prstGeom prst="rect">
            <a:avLst/>
          </a:prstGeom>
        </p:spPr>
      </p:pic>
      <p:pic>
        <p:nvPicPr>
          <p:cNvPr id="114" name="Graphic 114" descr="Teamwo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" y="44069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7343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ard before"/>
          <p:cNvSpPr/>
          <p:nvPr/>
        </p:nvSpPr>
        <p:spPr>
          <a:xfrm>
            <a:off x="457200" y="1879600"/>
            <a:ext cx="3810000" cy="254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21" name="Card in class"/>
          <p:cNvSpPr/>
          <p:nvPr/>
        </p:nvSpPr>
        <p:spPr>
          <a:xfrm>
            <a:off x="4876800" y="1879600"/>
            <a:ext cx="3810000" cy="254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Inhaltsplatzhalter 6"/>
          <p:cNvSpPr>
            <a:spLocks noGrp="1"/>
          </p:cNvSpPr>
          <p:nvPr>
            <p:ph sz="half" idx="1"/>
          </p:nvPr>
        </p:nvSpPr>
        <p:spPr>
          <a:xfrm>
            <a:off x="558800" y="1981200"/>
            <a:ext cx="3606800" cy="2362200"/>
          </a:xfrm>
        </p:spPr>
        <p:txBody>
          <a:bodyPr/>
          <a:lstStyle/>
          <a:p>
            <a:pPr lvl="0">
              <a:spcBef>
                <a:spcPts val="900"/>
              </a:spcBef>
            </a:pPr>
            <a:r>
              <a:rPr lang="en-GB" sz="1300" dirty="0"/>
              <a:t>Independent research on key concepts and methods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Preparation for the next session’s task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Self-directed learning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half" idx="2"/>
          </p:nvPr>
        </p:nvSpPr>
        <p:spPr>
          <a:xfrm>
            <a:off x="4978400" y="1981200"/>
            <a:ext cx="3606800" cy="2362200"/>
          </a:xfrm>
        </p:spPr>
        <p:txBody>
          <a:bodyPr/>
          <a:lstStyle/>
          <a:p>
            <a:pPr lvl="0">
              <a:spcBef>
                <a:spcPts val="900"/>
              </a:spcBef>
            </a:pPr>
            <a:r>
              <a:rPr lang="en-GB" sz="1300" dirty="0"/>
              <a:t>Discussion and application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Coaching sessions and progress reports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Peer feedback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Theory directly connected to the project task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idx="13"/>
          </p:nvPr>
        </p:nvSpPr>
        <p:spPr>
          <a:xfrm>
            <a:off x="457200" y="1346200"/>
            <a:ext cx="3810000" cy="533400"/>
          </a:xfrm>
        </p:spPr>
        <p:txBody>
          <a:bodyPr/>
          <a:lstStyle/>
          <a:p>
            <a:pPr lvl="0"/>
            <a:r>
              <a:rPr lang="en-GB" sz="1600" dirty="0"/>
              <a:t>Before class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Teaching and learning: flipped classroom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7"/>
          </p:nvPr>
        </p:nvSpPr>
        <p:spPr>
          <a:xfrm>
            <a:off x="4876800" y="1346200"/>
            <a:ext cx="3810000" cy="533400"/>
          </a:xfrm>
        </p:spPr>
        <p:txBody>
          <a:bodyPr/>
          <a:lstStyle/>
          <a:p>
            <a:pPr lvl="0"/>
            <a:r>
              <a:rPr lang="en-GB" sz="1600" dirty="0"/>
              <a:t>In class</a:t>
            </a:r>
          </a:p>
        </p:txBody>
      </p:sp>
      <p:sp>
        <p:nvSpPr>
          <p:cNvPr id="122" name="Flow arrow"/>
          <p:cNvSpPr/>
          <p:nvPr/>
        </p:nvSpPr>
        <p:spPr>
          <a:xfrm>
            <a:off x="4419600" y="2628900"/>
            <a:ext cx="304800" cy="5080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pic>
        <p:nvPicPr>
          <p:cNvPr id="123" name="Graphic 123" descr="Before clas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84600" y="1435100"/>
            <a:ext cx="355600" cy="355600"/>
          </a:xfrm>
          <a:prstGeom prst="rect">
            <a:avLst/>
          </a:prstGeom>
        </p:spPr>
      </p:pic>
      <p:pic>
        <p:nvPicPr>
          <p:cNvPr id="124" name="Graphic 124" descr="In clas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4200" y="14351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6970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GB" dirty="0"/>
              <a:t>The Julius Meinl case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287338" y="2642907"/>
            <a:ext cx="4284662" cy="805551"/>
          </a:xfrm>
        </p:spPr>
        <p:txBody>
          <a:bodyPr/>
          <a:lstStyle/>
          <a:p>
            <a:pPr lvl="0"/>
            <a:r>
              <a:rPr lang="en-GB" dirty="0"/>
              <a:t>Marketing plan for entering Latin America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Business Projects WT 2026/27 | Julius Meinl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27154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Our partner: Julius Meinl</a:t>
            </a:r>
          </a:p>
        </p:txBody>
      </p:sp>
      <p:pic>
        <p:nvPicPr>
          <p:cNvPr id="101" name="Julius Meinl espresso cups" descr="Two red Julius Meinl espresso cups on an espresso machine"/>
          <p:cNvPicPr>
            <a:picLocks noChangeAspect="1"/>
          </p:cNvPicPr>
          <p:nvPr/>
        </p:nvPicPr>
        <p:blipFill>
          <a:blip r:embed="rId2"/>
          <a:srcRect t="15000" b="21200"/>
          <a:stretch>
            <a:fillRect/>
          </a:stretch>
        </p:blipFill>
        <p:spPr>
          <a:xfrm>
            <a:off x="4715688" y="1344613"/>
            <a:ext cx="3960000" cy="3859212"/>
          </a:xfrm>
          <a:prstGeom prst="rect">
            <a:avLst/>
          </a:prstGeom>
        </p:spPr>
      </p:pic>
      <p:pic>
        <p:nvPicPr>
          <p:cNvPr id="102" name="Julius Meinl logo" descr="Julius Meinl logo, Vienna 1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688" y="4243825"/>
            <a:ext cx="860000" cy="860000"/>
          </a:xfrm>
          <a:prstGeom prst="rect">
            <a:avLst/>
          </a:prstGeom>
        </p:spPr>
      </p:pic>
      <p:sp>
        <p:nvSpPr>
          <p:cNvPr id="800" name="Stat accent 1"/>
          <p:cNvSpPr/>
          <p:nvPr/>
        </p:nvSpPr>
        <p:spPr>
          <a:xfrm>
            <a:off x="457200" y="1346200"/>
            <a:ext cx="50800" cy="66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801" name="Stat figure 1"/>
          <p:cNvSpPr/>
          <p:nvPr/>
        </p:nvSpPr>
        <p:spPr>
          <a:xfrm>
            <a:off x="635000" y="13462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2800" b="1" dirty="0">
                <a:solidFill>
                  <a:schemeClr val="tx2"/>
                </a:solidFill>
                <a:latin typeface="+mj-lt"/>
              </a:rPr>
              <a:t>1862</a:t>
            </a:r>
          </a:p>
        </p:txBody>
      </p:sp>
      <p:sp>
        <p:nvSpPr>
          <p:cNvPr id="802" name="Stat text 1"/>
          <p:cNvSpPr/>
          <p:nvPr/>
        </p:nvSpPr>
        <p:spPr>
          <a:xfrm>
            <a:off x="1752600" y="1346200"/>
            <a:ext cx="2667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300" dirty="0">
                <a:solidFill>
                  <a:schemeClr val="tx1"/>
                </a:solidFill>
              </a:rPr>
              <a:t>family-owned Viennese coffee roaster, now in its fifth generation</a:t>
            </a:r>
          </a:p>
        </p:txBody>
      </p:sp>
      <p:sp>
        <p:nvSpPr>
          <p:cNvPr id="803" name="Stat accent 2"/>
          <p:cNvSpPr/>
          <p:nvPr/>
        </p:nvSpPr>
        <p:spPr>
          <a:xfrm>
            <a:off x="457200" y="2159000"/>
            <a:ext cx="50800" cy="66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804" name="Stat figure 2"/>
          <p:cNvSpPr/>
          <p:nvPr/>
        </p:nvSpPr>
        <p:spPr>
          <a:xfrm>
            <a:off x="6350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2800" b="1" dirty="0">
                <a:solidFill>
                  <a:schemeClr val="tx2"/>
                </a:solidFill>
                <a:latin typeface="+mj-lt"/>
              </a:rPr>
              <a:t>70+</a:t>
            </a:r>
          </a:p>
        </p:txBody>
      </p:sp>
      <p:sp>
        <p:nvSpPr>
          <p:cNvPr id="805" name="Stat text 2"/>
          <p:cNvSpPr/>
          <p:nvPr/>
        </p:nvSpPr>
        <p:spPr>
          <a:xfrm>
            <a:off x="1752600" y="2159000"/>
            <a:ext cx="2667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300" dirty="0">
                <a:solidFill>
                  <a:schemeClr val="tx1"/>
                </a:solidFill>
              </a:rPr>
              <a:t>countries: mostly through local distribution partners</a:t>
            </a:r>
          </a:p>
        </p:txBody>
      </p:sp>
      <p:sp>
        <p:nvSpPr>
          <p:cNvPr id="806" name="Stat accent 3"/>
          <p:cNvSpPr/>
          <p:nvPr/>
        </p:nvSpPr>
        <p:spPr>
          <a:xfrm>
            <a:off x="457200" y="2971800"/>
            <a:ext cx="50800" cy="66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807" name="Stat figure 3"/>
          <p:cNvSpPr/>
          <p:nvPr/>
        </p:nvSpPr>
        <p:spPr>
          <a:xfrm>
            <a:off x="635000" y="29718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2800" b="1" dirty="0">
                <a:solidFill>
                  <a:schemeClr val="tx2"/>
                </a:solidFill>
                <a:latin typeface="+mj-lt"/>
              </a:rPr>
              <a:t>2</a:t>
            </a:r>
          </a:p>
        </p:txBody>
      </p:sp>
      <p:sp>
        <p:nvSpPr>
          <p:cNvPr id="808" name="Stat text 3"/>
          <p:cNvSpPr/>
          <p:nvPr/>
        </p:nvSpPr>
        <p:spPr>
          <a:xfrm>
            <a:off x="1752600" y="2971800"/>
            <a:ext cx="2667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300" dirty="0">
                <a:solidFill>
                  <a:schemeClr val="tx1"/>
                </a:solidFill>
              </a:rPr>
              <a:t>segments per market: hospitality and grocery retail</a:t>
            </a:r>
          </a:p>
        </p:txBody>
      </p:sp>
      <p:sp>
        <p:nvSpPr>
          <p:cNvPr id="809" name="Positioning card"/>
          <p:cNvSpPr/>
          <p:nvPr/>
        </p:nvSpPr>
        <p:spPr>
          <a:xfrm>
            <a:off x="457200" y="3860800"/>
            <a:ext cx="3962400" cy="1346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52400" tIns="101600" rIns="152400" bIns="101600" anchor="ctr">
            <a:noAutofit/>
          </a:bodyPr>
          <a:lstStyle/>
          <a:p>
            <a:pPr algn="l"/>
            <a:r>
              <a:rPr lang="en-GB" sz="1300" b="1" dirty="0">
                <a:solidFill>
                  <a:schemeClr val="tx2"/>
                </a:solidFill>
              </a:rPr>
              <a:t>Positioning: </a:t>
            </a:r>
            <a:r>
              <a:rPr lang="en-GB" sz="1300" dirty="0">
                <a:solidFill>
                  <a:schemeClr val="tx1"/>
                </a:solidFill>
              </a:rPr>
              <a:t>Viennese coffee house culture rather than the bean itself, meaning service, hospitality and the idea of taking time for a cup of coffee</a:t>
            </a:r>
          </a:p>
        </p:txBody>
      </p:sp>
    </p:spTree>
    <p:extLst>
      <p:ext uri="{BB962C8B-B14F-4D97-AF65-F5344CB8AC3E}">
        <p14:creationId xmlns:p14="http://schemas.microsoft.com/office/powerpoint/2010/main" val="345212696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ard left"/>
          <p:cNvSpPr/>
          <p:nvPr/>
        </p:nvSpPr>
        <p:spPr>
          <a:xfrm>
            <a:off x="457200" y="1879600"/>
            <a:ext cx="3810000" cy="2819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21" name="Card right"/>
          <p:cNvSpPr/>
          <p:nvPr/>
        </p:nvSpPr>
        <p:spPr>
          <a:xfrm>
            <a:off x="4876800" y="1879600"/>
            <a:ext cx="3810000" cy="2819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Inhaltsplatzhalter 6"/>
          <p:cNvSpPr>
            <a:spLocks noGrp="1"/>
          </p:cNvSpPr>
          <p:nvPr>
            <p:ph sz="half" idx="1"/>
          </p:nvPr>
        </p:nvSpPr>
        <p:spPr>
          <a:xfrm>
            <a:off x="558800" y="2006600"/>
            <a:ext cx="3606800" cy="2590800"/>
          </a:xfrm>
        </p:spPr>
        <p:txBody>
          <a:bodyPr/>
          <a:lstStyle/>
          <a:p>
            <a:pPr lvl="0">
              <a:spcBef>
                <a:spcPts val="900"/>
              </a:spcBef>
            </a:pPr>
            <a:r>
              <a:rPr lang="en-GB" sz="1300" dirty="0"/>
              <a:t>Cafés, restaurants and hotels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The primary segment: hotels matter most, with breakfast and bar business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A dedicated partner, because hotels and grocery chains are different businesses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half" idx="2"/>
          </p:nvPr>
        </p:nvSpPr>
        <p:spPr>
          <a:xfrm>
            <a:off x="4978400" y="2006600"/>
            <a:ext cx="3606800" cy="2590800"/>
          </a:xfrm>
        </p:spPr>
        <p:txBody>
          <a:bodyPr/>
          <a:lstStyle/>
          <a:p>
            <a:pPr lvl="0">
              <a:spcBef>
                <a:spcPts val="900"/>
              </a:spcBef>
            </a:pPr>
            <a:r>
              <a:rPr lang="en-GB" sz="1300" dirty="0"/>
              <a:t>Coffee for the home, through grocery chains and delicatessen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Premium assortment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A dedicated partner: with no own sales organisation in export markets, the partner is the sales force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idx="13"/>
          </p:nvPr>
        </p:nvSpPr>
        <p:spPr>
          <a:xfrm>
            <a:off x="457200" y="1346200"/>
            <a:ext cx="3810000" cy="533400"/>
          </a:xfrm>
        </p:spPr>
        <p:txBody>
          <a:bodyPr/>
          <a:lstStyle/>
          <a:p>
            <a:pPr lvl="0"/>
            <a:r>
              <a:rPr lang="en-GB" sz="1600" dirty="0"/>
              <a:t>Hospitality (HoReCa)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How Julius Meinl sells: two segments, two partners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7"/>
          </p:nvPr>
        </p:nvSpPr>
        <p:spPr>
          <a:xfrm>
            <a:off x="4876800" y="1346200"/>
            <a:ext cx="3810000" cy="533400"/>
          </a:xfrm>
        </p:spPr>
        <p:txBody>
          <a:bodyPr/>
          <a:lstStyle/>
          <a:p>
            <a:pPr lvl="0"/>
            <a:r>
              <a:rPr lang="en-GB" sz="1600" dirty="0"/>
              <a:t>Grocery retail</a:t>
            </a:r>
          </a:p>
        </p:txBody>
      </p:sp>
      <p:pic>
        <p:nvPicPr>
          <p:cNvPr id="122" name="Graphic 122" descr="Hospita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84600" y="1435100"/>
            <a:ext cx="355600" cy="355600"/>
          </a:xfrm>
          <a:prstGeom prst="rect">
            <a:avLst/>
          </a:prstGeom>
        </p:spPr>
      </p:pic>
      <p:pic>
        <p:nvPicPr>
          <p:cNvPr id="123" name="Graphic 123" descr="Grocery retai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4200" y="14351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2614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Who Julius Meinl sells to</a:t>
            </a:r>
          </a:p>
        </p:txBody>
      </p:sp>
      <p:sp>
        <p:nvSpPr>
          <p:cNvPr id="600" name="Segment band 1"/>
          <p:cNvSpPr/>
          <p:nvPr/>
        </p:nvSpPr>
        <p:spPr>
          <a:xfrm>
            <a:off x="457200" y="1320800"/>
            <a:ext cx="8229600" cy="116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601" name="Segment accent 1"/>
          <p:cNvSpPr/>
          <p:nvPr/>
        </p:nvSpPr>
        <p:spPr>
          <a:xfrm>
            <a:off x="457200" y="1320800"/>
            <a:ext cx="63500" cy="116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602" name="Segment label 1"/>
          <p:cNvSpPr/>
          <p:nvPr/>
        </p:nvSpPr>
        <p:spPr>
          <a:xfrm>
            <a:off x="736600" y="1320800"/>
            <a:ext cx="1651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tx2"/>
                </a:solidFill>
                <a:latin typeface="+mj-lt"/>
              </a:rPr>
              <a:t>Hospitality</a:t>
            </a:r>
          </a:p>
        </p:txBody>
      </p:sp>
      <p:sp>
        <p:nvSpPr>
          <p:cNvPr id="603" name="Segment text 1"/>
          <p:cNvSpPr/>
          <p:nvPr/>
        </p:nvSpPr>
        <p:spPr>
          <a:xfrm>
            <a:off x="2489200" y="1320800"/>
            <a:ext cx="60706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anchor="ctr">
            <a:noAutofit/>
          </a:bodyPr>
          <a:lstStyle/>
          <a:p>
            <a:pPr algn="l"/>
            <a:r>
              <a:rPr lang="en-GB" sz="1300" dirty="0">
                <a:solidFill>
                  <a:schemeClr val="tx1"/>
                </a:solidFill>
              </a:rPr>
              <a:t>Hotels with breakfast and bar service, especially with international guests; premium restaurants and cafés; venues where coffee is part of a quality experience</a:t>
            </a:r>
          </a:p>
        </p:txBody>
      </p:sp>
      <p:sp>
        <p:nvSpPr>
          <p:cNvPr id="604" name="Segment band 2"/>
          <p:cNvSpPr/>
          <p:nvPr/>
        </p:nvSpPr>
        <p:spPr>
          <a:xfrm>
            <a:off x="457200" y="2641600"/>
            <a:ext cx="8229600" cy="116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605" name="Segment accent 2"/>
          <p:cNvSpPr/>
          <p:nvPr/>
        </p:nvSpPr>
        <p:spPr>
          <a:xfrm>
            <a:off x="457200" y="2641600"/>
            <a:ext cx="63500" cy="116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606" name="Segment label 2"/>
          <p:cNvSpPr/>
          <p:nvPr/>
        </p:nvSpPr>
        <p:spPr>
          <a:xfrm>
            <a:off x="736600" y="2641600"/>
            <a:ext cx="1651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tx2"/>
                </a:solidFill>
                <a:latin typeface="+mj-lt"/>
              </a:rPr>
              <a:t>Retail</a:t>
            </a:r>
          </a:p>
        </p:txBody>
      </p:sp>
      <p:sp>
        <p:nvSpPr>
          <p:cNvPr id="607" name="Segment text 2"/>
          <p:cNvSpPr/>
          <p:nvPr/>
        </p:nvSpPr>
        <p:spPr>
          <a:xfrm>
            <a:off x="2489200" y="2641600"/>
            <a:ext cx="60706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anchor="ctr">
            <a:noAutofit/>
          </a:bodyPr>
          <a:lstStyle/>
          <a:p>
            <a:pPr algn="l"/>
            <a:r>
              <a:rPr lang="en-GB" sz="1300" dirty="0">
                <a:solidFill>
                  <a:schemeClr val="tx1"/>
                </a:solidFill>
              </a:rPr>
              <a:t>Grocery and delicatessen with a premium assortment; shoppers who can pay a premium price; places where brands such as illy are already on the shelf</a:t>
            </a:r>
          </a:p>
        </p:txBody>
      </p:sp>
      <p:sp>
        <p:nvSpPr>
          <p:cNvPr id="608" name="Segment band 3"/>
          <p:cNvSpPr/>
          <p:nvPr/>
        </p:nvSpPr>
        <p:spPr>
          <a:xfrm>
            <a:off x="457200" y="3962400"/>
            <a:ext cx="8229600" cy="116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609" name="Segment accent 3"/>
          <p:cNvSpPr/>
          <p:nvPr/>
        </p:nvSpPr>
        <p:spPr>
          <a:xfrm>
            <a:off x="457200" y="3962400"/>
            <a:ext cx="63500" cy="11684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610" name="Segment label 3"/>
          <p:cNvSpPr/>
          <p:nvPr/>
        </p:nvSpPr>
        <p:spPr>
          <a:xfrm>
            <a:off x="736600" y="3962400"/>
            <a:ext cx="1651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tx2"/>
                </a:solidFill>
                <a:latin typeface="+mj-lt"/>
              </a:rPr>
              <a:t>Less relevant</a:t>
            </a:r>
          </a:p>
        </p:txBody>
      </p:sp>
      <p:sp>
        <p:nvSpPr>
          <p:cNvPr id="611" name="Segment text 3"/>
          <p:cNvSpPr/>
          <p:nvPr/>
        </p:nvSpPr>
        <p:spPr>
          <a:xfrm>
            <a:off x="2489200" y="3962400"/>
            <a:ext cx="60706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anchor="ctr">
            <a:noAutofit/>
          </a:bodyPr>
          <a:lstStyle/>
          <a:p>
            <a:pPr algn="l"/>
            <a:r>
              <a:rPr lang="en-GB" sz="1300" dirty="0">
                <a:solidFill>
                  <a:schemeClr val="tx1"/>
                </a:solidFill>
              </a:rPr>
              <a:t>Venues and retailers competing on price, and areas without purchasing power</a:t>
            </a:r>
          </a:p>
        </p:txBody>
      </p:sp>
    </p:spTree>
    <p:extLst>
      <p:ext uri="{BB962C8B-B14F-4D97-AF65-F5344CB8AC3E}">
        <p14:creationId xmlns:p14="http://schemas.microsoft.com/office/powerpoint/2010/main" val="141546314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/>
          <p:cNvSpPr>
            <a:spLocks noGrp="1"/>
          </p:cNvSpPr>
          <p:nvPr>
            <p:ph idx="1"/>
          </p:nvPr>
        </p:nvSpPr>
        <p:spPr>
          <a:xfrm>
            <a:off x="457200" y="1320800"/>
            <a:ext cx="8229600" cy="5842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1300" dirty="0"/>
              <a:t>Julius Meinl sees Latin America (South America and Mexico) as a potential future growth region, where it is currently not present or only marginally.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The question: growth in Latin America</a:t>
            </a:r>
          </a:p>
        </p:txBody>
      </p:sp>
      <p:sp>
        <p:nvSpPr>
          <p:cNvPr id="400" name="Question 1 card"/>
          <p:cNvSpPr/>
          <p:nvPr/>
        </p:nvSpPr>
        <p:spPr>
          <a:xfrm>
            <a:off x="3302000" y="1981200"/>
            <a:ext cx="5384800" cy="584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203200" tIns="50800" rIns="127000" bIns="50800" anchor="ctr">
            <a:noAutofit/>
          </a:bodyPr>
          <a:lstStyle/>
          <a:p>
            <a:pPr algn="l"/>
            <a:r>
              <a:rPr lang="en-GB" sz="2000" b="1" dirty="0">
                <a:solidFill>
                  <a:schemeClr val="accent1"/>
                </a:solidFill>
                <a:latin typeface="+mj-lt"/>
              </a:rPr>
              <a:t>1  </a:t>
            </a:r>
            <a:r>
              <a:rPr lang="en-GB" sz="1300" dirty="0">
                <a:solidFill>
                  <a:schemeClr val="tx1"/>
                </a:solidFill>
              </a:rPr>
              <a:t>Which Latin American markets are attractive?</a:t>
            </a:r>
          </a:p>
        </p:txBody>
      </p:sp>
      <p:sp>
        <p:nvSpPr>
          <p:cNvPr id="401" name="Question 1 accent"/>
          <p:cNvSpPr/>
          <p:nvPr/>
        </p:nvSpPr>
        <p:spPr>
          <a:xfrm>
            <a:off x="3302000" y="1981200"/>
            <a:ext cx="50800" cy="58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402" name="Question 2 card"/>
          <p:cNvSpPr/>
          <p:nvPr/>
        </p:nvSpPr>
        <p:spPr>
          <a:xfrm>
            <a:off x="3302000" y="2667000"/>
            <a:ext cx="5384800" cy="584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203200" tIns="50800" rIns="127000" bIns="50800" anchor="ctr">
            <a:noAutofit/>
          </a:bodyPr>
          <a:lstStyle/>
          <a:p>
            <a:pPr algn="l"/>
            <a:r>
              <a:rPr lang="en-GB" sz="2000" b="1" dirty="0">
                <a:solidFill>
                  <a:schemeClr val="accent1"/>
                </a:solidFill>
                <a:latin typeface="+mj-lt"/>
              </a:rPr>
              <a:t>2  </a:t>
            </a:r>
            <a:r>
              <a:rPr lang="en-GB" sz="1300" dirty="0">
                <a:solidFill>
                  <a:schemeClr val="tx1"/>
                </a:solidFill>
              </a:rPr>
              <a:t>How could market entry look?</a:t>
            </a:r>
          </a:p>
        </p:txBody>
      </p:sp>
      <p:sp>
        <p:nvSpPr>
          <p:cNvPr id="403" name="Question 2 accent"/>
          <p:cNvSpPr/>
          <p:nvPr/>
        </p:nvSpPr>
        <p:spPr>
          <a:xfrm>
            <a:off x="3302000" y="2667000"/>
            <a:ext cx="50800" cy="58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404" name="Question 3 card"/>
          <p:cNvSpPr/>
          <p:nvPr/>
        </p:nvSpPr>
        <p:spPr>
          <a:xfrm>
            <a:off x="3302000" y="3352800"/>
            <a:ext cx="5384800" cy="584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203200" tIns="50800" rIns="127000" bIns="50800" anchor="ctr">
            <a:noAutofit/>
          </a:bodyPr>
          <a:lstStyle/>
          <a:p>
            <a:pPr algn="l"/>
            <a:r>
              <a:rPr lang="en-GB" sz="2000" b="1" dirty="0">
                <a:solidFill>
                  <a:schemeClr val="accent1"/>
                </a:solidFill>
                <a:latin typeface="+mj-lt"/>
              </a:rPr>
              <a:t>3  </a:t>
            </a:r>
            <a:r>
              <a:rPr lang="en-GB" sz="1300" dirty="0">
                <a:solidFill>
                  <a:schemeClr val="tx1"/>
                </a:solidFill>
              </a:rPr>
              <a:t>How should the brand be marketed?</a:t>
            </a:r>
          </a:p>
        </p:txBody>
      </p:sp>
      <p:sp>
        <p:nvSpPr>
          <p:cNvPr id="405" name="Question 3 accent"/>
          <p:cNvSpPr/>
          <p:nvPr/>
        </p:nvSpPr>
        <p:spPr>
          <a:xfrm>
            <a:off x="3302000" y="3352800"/>
            <a:ext cx="50800" cy="58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406" name="Central question"/>
          <p:cNvSpPr/>
          <p:nvPr/>
        </p:nvSpPr>
        <p:spPr>
          <a:xfrm>
            <a:off x="457200" y="4140200"/>
            <a:ext cx="8229600" cy="1041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203200" tIns="127000" rIns="203200" bIns="127000" anchor="ctr">
            <a:noAutofit/>
          </a:bodyPr>
          <a:lstStyle/>
          <a:p>
            <a:pPr algn="l"/>
            <a:r>
              <a:rPr lang="en-GB" sz="1300" b="1" dirty="0">
                <a:solidFill>
                  <a:schemeClr val="bg1"/>
                </a:solidFill>
              </a:rPr>
              <a:t>Central question: </a:t>
            </a:r>
            <a:r>
              <a:rPr lang="en-GB" sz="1300" dirty="0">
                <a:solidFill>
                  <a:schemeClr val="bg1"/>
                </a:solidFill>
              </a:rPr>
              <a:t>Many Latin American countries grow and roast their own coffee and have a strong coffee culture. Why would cafés, hotels, retailers and consumers choose a coffee brand from Vienna, and who exactly would do so?</a:t>
            </a:r>
          </a:p>
        </p:txBody>
      </p:sp>
      <p:grpSp>
        <p:nvGrpSpPr>
          <p:cNvPr id="1113" name="Map of the Americas" descr="Simplified map of the Americas with the six target markets highlighted"/>
          <p:cNvGrpSpPr/>
          <p:nvPr/>
        </p:nvGrpSpPr>
        <p:grpSpPr>
          <a:xfrm>
            <a:off x="857860" y="1998675"/>
            <a:ext cx="1797761" cy="1922272"/>
            <a:chOff x="857860" y="1998675"/>
            <a:chExt cx="1797761" cy="1922272"/>
          </a:xfrm>
        </p:grpSpPr>
        <p:sp>
          <p:nvSpPr>
            <p:cNvPr id="1101" name="Map camer"/>
            <p:cNvSpPr/>
            <p:nvPr/>
          </p:nvSpPr>
          <p:spPr>
            <a:xfrm>
              <a:off x="1401775" y="2308860"/>
              <a:ext cx="321107" cy="246837"/>
            </a:xfrm>
            <a:custGeom>
              <a:avLst/>
              <a:gdLst/>
              <a:ahLst/>
              <a:cxnLst/>
              <a:rect l="0" t="0" r="r" b="b"/>
              <a:pathLst>
                <a:path w="321107" h="246837">
                  <a:moveTo>
                    <a:pt x="0" y="72085"/>
                  </a:moveTo>
                  <a:lnTo>
                    <a:pt x="17475" y="26213"/>
                  </a:lnTo>
                  <a:lnTo>
                    <a:pt x="39319" y="15291"/>
                  </a:lnTo>
                  <a:lnTo>
                    <a:pt x="85192" y="0"/>
                  </a:lnTo>
                  <a:lnTo>
                    <a:pt x="89560" y="54610"/>
                  </a:lnTo>
                  <a:lnTo>
                    <a:pt x="157277" y="56794"/>
                  </a:lnTo>
                  <a:lnTo>
                    <a:pt x="196596" y="76454"/>
                  </a:lnTo>
                  <a:lnTo>
                    <a:pt x="187858" y="141986"/>
                  </a:lnTo>
                  <a:lnTo>
                    <a:pt x="185674" y="168199"/>
                  </a:lnTo>
                  <a:lnTo>
                    <a:pt x="211887" y="196596"/>
                  </a:lnTo>
                  <a:lnTo>
                    <a:pt x="266497" y="203149"/>
                  </a:lnTo>
                  <a:lnTo>
                    <a:pt x="321107" y="214071"/>
                  </a:lnTo>
                  <a:lnTo>
                    <a:pt x="312369" y="246837"/>
                  </a:lnTo>
                  <a:lnTo>
                    <a:pt x="305816" y="240284"/>
                  </a:lnTo>
                  <a:lnTo>
                    <a:pt x="262128" y="244653"/>
                  </a:lnTo>
                  <a:lnTo>
                    <a:pt x="205334" y="229362"/>
                  </a:lnTo>
                  <a:lnTo>
                    <a:pt x="141986" y="185674"/>
                  </a:lnTo>
                  <a:lnTo>
                    <a:pt x="102667" y="120142"/>
                  </a:lnTo>
                  <a:lnTo>
                    <a:pt x="48057" y="104851"/>
                  </a:lnTo>
                  <a:lnTo>
                    <a:pt x="0" y="87376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02" name="Map venguy"/>
            <p:cNvSpPr/>
            <p:nvPr/>
          </p:nvSpPr>
          <p:spPr>
            <a:xfrm>
              <a:off x="1827733" y="2450846"/>
              <a:ext cx="460908" cy="233731"/>
            </a:xfrm>
            <a:custGeom>
              <a:avLst/>
              <a:gdLst/>
              <a:ahLst/>
              <a:cxnLst/>
              <a:rect l="0" t="0" r="r" b="b"/>
              <a:pathLst>
                <a:path w="460908" h="233731">
                  <a:moveTo>
                    <a:pt x="30582" y="4369"/>
                  </a:moveTo>
                  <a:lnTo>
                    <a:pt x="58979" y="0"/>
                  </a:lnTo>
                  <a:lnTo>
                    <a:pt x="102667" y="30582"/>
                  </a:lnTo>
                  <a:lnTo>
                    <a:pt x="190043" y="30582"/>
                  </a:lnTo>
                  <a:lnTo>
                    <a:pt x="233731" y="32766"/>
                  </a:lnTo>
                  <a:lnTo>
                    <a:pt x="277419" y="76454"/>
                  </a:lnTo>
                  <a:lnTo>
                    <a:pt x="342951" y="131064"/>
                  </a:lnTo>
                  <a:lnTo>
                    <a:pt x="408483" y="135433"/>
                  </a:lnTo>
                  <a:lnTo>
                    <a:pt x="452171" y="163830"/>
                  </a:lnTo>
                  <a:lnTo>
                    <a:pt x="460908" y="172568"/>
                  </a:lnTo>
                  <a:lnTo>
                    <a:pt x="397561" y="211887"/>
                  </a:lnTo>
                  <a:lnTo>
                    <a:pt x="353873" y="218440"/>
                  </a:lnTo>
                  <a:lnTo>
                    <a:pt x="288341" y="227178"/>
                  </a:lnTo>
                  <a:lnTo>
                    <a:pt x="262128" y="148539"/>
                  </a:lnTo>
                  <a:lnTo>
                    <a:pt x="222809" y="170383"/>
                  </a:lnTo>
                  <a:lnTo>
                    <a:pt x="190043" y="174752"/>
                  </a:lnTo>
                  <a:lnTo>
                    <a:pt x="179121" y="207518"/>
                  </a:lnTo>
                  <a:lnTo>
                    <a:pt x="126695" y="233731"/>
                  </a:lnTo>
                  <a:lnTo>
                    <a:pt x="111404" y="203149"/>
                  </a:lnTo>
                  <a:lnTo>
                    <a:pt x="113589" y="161646"/>
                  </a:lnTo>
                  <a:lnTo>
                    <a:pt x="107036" y="126695"/>
                  </a:lnTo>
                  <a:lnTo>
                    <a:pt x="56794" y="111404"/>
                  </a:lnTo>
                  <a:lnTo>
                    <a:pt x="13106" y="89560"/>
                  </a:lnTo>
                  <a:lnTo>
                    <a:pt x="0" y="65532"/>
                  </a:lnTo>
                  <a:lnTo>
                    <a:pt x="15291" y="26213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03" name="Map ecuador"/>
            <p:cNvSpPr/>
            <p:nvPr/>
          </p:nvSpPr>
          <p:spPr>
            <a:xfrm>
              <a:off x="1648612" y="2682392"/>
              <a:ext cx="122326" cy="131064"/>
            </a:xfrm>
            <a:custGeom>
              <a:avLst/>
              <a:gdLst/>
              <a:ahLst/>
              <a:cxnLst/>
              <a:rect l="0" t="0" r="r" b="b"/>
              <a:pathLst>
                <a:path w="122326" h="131064">
                  <a:moveTo>
                    <a:pt x="45872" y="0"/>
                  </a:moveTo>
                  <a:lnTo>
                    <a:pt x="63348" y="4369"/>
                  </a:lnTo>
                  <a:lnTo>
                    <a:pt x="85192" y="24028"/>
                  </a:lnTo>
                  <a:lnTo>
                    <a:pt x="122326" y="32766"/>
                  </a:lnTo>
                  <a:lnTo>
                    <a:pt x="117958" y="63348"/>
                  </a:lnTo>
                  <a:lnTo>
                    <a:pt x="67716" y="96114"/>
                  </a:lnTo>
                  <a:lnTo>
                    <a:pt x="43688" y="131064"/>
                  </a:lnTo>
                  <a:lnTo>
                    <a:pt x="13106" y="104851"/>
                  </a:lnTo>
                  <a:lnTo>
                    <a:pt x="0" y="80823"/>
                  </a:lnTo>
                  <a:lnTo>
                    <a:pt x="19660" y="52426"/>
                  </a:lnTo>
                  <a:lnTo>
                    <a:pt x="17475" y="17475"/>
                  </a:lnTo>
                  <a:lnTo>
                    <a:pt x="24028" y="4369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04" name="Map peru"/>
            <p:cNvSpPr/>
            <p:nvPr/>
          </p:nvSpPr>
          <p:spPr>
            <a:xfrm>
              <a:off x="1642059" y="2715158"/>
              <a:ext cx="273050" cy="397561"/>
            </a:xfrm>
            <a:custGeom>
              <a:avLst/>
              <a:gdLst/>
              <a:ahLst/>
              <a:cxnLst/>
              <a:rect l="0" t="0" r="r" b="b"/>
              <a:pathLst>
                <a:path w="273050" h="397561">
                  <a:moveTo>
                    <a:pt x="128880" y="0"/>
                  </a:moveTo>
                  <a:lnTo>
                    <a:pt x="190043" y="52426"/>
                  </a:lnTo>
                  <a:lnTo>
                    <a:pt x="246837" y="89560"/>
                  </a:lnTo>
                  <a:lnTo>
                    <a:pt x="246837" y="89560"/>
                  </a:lnTo>
                  <a:lnTo>
                    <a:pt x="233731" y="89560"/>
                  </a:lnTo>
                  <a:lnTo>
                    <a:pt x="187858" y="117958"/>
                  </a:lnTo>
                  <a:lnTo>
                    <a:pt x="168199" y="157277"/>
                  </a:lnTo>
                  <a:lnTo>
                    <a:pt x="179121" y="194412"/>
                  </a:lnTo>
                  <a:lnTo>
                    <a:pt x="200965" y="220624"/>
                  </a:lnTo>
                  <a:lnTo>
                    <a:pt x="231546" y="238100"/>
                  </a:lnTo>
                  <a:lnTo>
                    <a:pt x="253390" y="238100"/>
                  </a:lnTo>
                  <a:lnTo>
                    <a:pt x="273050" y="270866"/>
                  </a:lnTo>
                  <a:lnTo>
                    <a:pt x="262128" y="303632"/>
                  </a:lnTo>
                  <a:lnTo>
                    <a:pt x="262128" y="329844"/>
                  </a:lnTo>
                  <a:lnTo>
                    <a:pt x="266497" y="358242"/>
                  </a:lnTo>
                  <a:lnTo>
                    <a:pt x="255575" y="382270"/>
                  </a:lnTo>
                  <a:lnTo>
                    <a:pt x="235915" y="397561"/>
                  </a:lnTo>
                  <a:lnTo>
                    <a:pt x="211887" y="375717"/>
                  </a:lnTo>
                  <a:lnTo>
                    <a:pt x="179121" y="353873"/>
                  </a:lnTo>
                  <a:lnTo>
                    <a:pt x="131064" y="325476"/>
                  </a:lnTo>
                  <a:lnTo>
                    <a:pt x="109220" y="292710"/>
                  </a:lnTo>
                  <a:lnTo>
                    <a:pt x="87376" y="259944"/>
                  </a:lnTo>
                  <a:lnTo>
                    <a:pt x="61163" y="211887"/>
                  </a:lnTo>
                  <a:lnTo>
                    <a:pt x="30582" y="168199"/>
                  </a:lnTo>
                  <a:lnTo>
                    <a:pt x="0" y="128880"/>
                  </a:lnTo>
                  <a:lnTo>
                    <a:pt x="0" y="96114"/>
                  </a:lnTo>
                  <a:lnTo>
                    <a:pt x="19660" y="72085"/>
                  </a:lnTo>
                  <a:lnTo>
                    <a:pt x="50241" y="98298"/>
                  </a:lnTo>
                  <a:lnTo>
                    <a:pt x="74270" y="63348"/>
                  </a:lnTo>
                  <a:lnTo>
                    <a:pt x="124511" y="30582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05" name="Map bolivia"/>
            <p:cNvSpPr/>
            <p:nvPr/>
          </p:nvSpPr>
          <p:spPr>
            <a:xfrm>
              <a:off x="1897634" y="2940152"/>
              <a:ext cx="251206" cy="273050"/>
            </a:xfrm>
            <a:custGeom>
              <a:avLst/>
              <a:gdLst/>
              <a:ahLst/>
              <a:cxnLst/>
              <a:rect l="0" t="0" r="r" b="b"/>
              <a:pathLst>
                <a:path w="251206" h="273050">
                  <a:moveTo>
                    <a:pt x="17475" y="45872"/>
                  </a:moveTo>
                  <a:lnTo>
                    <a:pt x="89560" y="0"/>
                  </a:lnTo>
                  <a:lnTo>
                    <a:pt x="141986" y="34950"/>
                  </a:lnTo>
                  <a:lnTo>
                    <a:pt x="196596" y="72085"/>
                  </a:lnTo>
                  <a:lnTo>
                    <a:pt x="207518" y="128880"/>
                  </a:lnTo>
                  <a:lnTo>
                    <a:pt x="246837" y="128880"/>
                  </a:lnTo>
                  <a:lnTo>
                    <a:pt x="251206" y="166014"/>
                  </a:lnTo>
                  <a:lnTo>
                    <a:pt x="246837" y="205334"/>
                  </a:lnTo>
                  <a:lnTo>
                    <a:pt x="166014" y="209702"/>
                  </a:lnTo>
                  <a:lnTo>
                    <a:pt x="150724" y="259944"/>
                  </a:lnTo>
                  <a:lnTo>
                    <a:pt x="113589" y="270866"/>
                  </a:lnTo>
                  <a:lnTo>
                    <a:pt x="76454" y="257759"/>
                  </a:lnTo>
                  <a:lnTo>
                    <a:pt x="50241" y="270866"/>
                  </a:lnTo>
                  <a:lnTo>
                    <a:pt x="34950" y="273050"/>
                  </a:lnTo>
                  <a:lnTo>
                    <a:pt x="24028" y="242468"/>
                  </a:lnTo>
                  <a:lnTo>
                    <a:pt x="21844" y="198780"/>
                  </a:lnTo>
                  <a:lnTo>
                    <a:pt x="10922" y="176936"/>
                  </a:lnTo>
                  <a:lnTo>
                    <a:pt x="0" y="157277"/>
                  </a:lnTo>
                  <a:lnTo>
                    <a:pt x="10922" y="133248"/>
                  </a:lnTo>
                  <a:lnTo>
                    <a:pt x="6553" y="104851"/>
                  </a:lnTo>
                  <a:lnTo>
                    <a:pt x="6553" y="78638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06" name="Map paraguay"/>
            <p:cNvSpPr/>
            <p:nvPr/>
          </p:nvSpPr>
          <p:spPr>
            <a:xfrm>
              <a:off x="2048358" y="3145485"/>
              <a:ext cx="176936" cy="166014"/>
            </a:xfrm>
            <a:custGeom>
              <a:avLst/>
              <a:gdLst/>
              <a:ahLst/>
              <a:cxnLst/>
              <a:rect l="0" t="0" r="r" b="b"/>
              <a:pathLst>
                <a:path w="176936" h="166014">
                  <a:moveTo>
                    <a:pt x="0" y="54610"/>
                  </a:moveTo>
                  <a:lnTo>
                    <a:pt x="15291" y="4369"/>
                  </a:lnTo>
                  <a:lnTo>
                    <a:pt x="96114" y="0"/>
                  </a:lnTo>
                  <a:lnTo>
                    <a:pt x="102667" y="50241"/>
                  </a:lnTo>
                  <a:lnTo>
                    <a:pt x="150724" y="52426"/>
                  </a:lnTo>
                  <a:lnTo>
                    <a:pt x="176936" y="91745"/>
                  </a:lnTo>
                  <a:lnTo>
                    <a:pt x="174752" y="126695"/>
                  </a:lnTo>
                  <a:lnTo>
                    <a:pt x="146355" y="166014"/>
                  </a:lnTo>
                  <a:lnTo>
                    <a:pt x="87376" y="163830"/>
                  </a:lnTo>
                  <a:lnTo>
                    <a:pt x="102667" y="120142"/>
                  </a:lnTo>
                  <a:lnTo>
                    <a:pt x="56794" y="93929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07" name="Map mexico"/>
            <p:cNvSpPr/>
            <p:nvPr/>
          </p:nvSpPr>
          <p:spPr>
            <a:xfrm>
              <a:off x="857860" y="1998675"/>
              <a:ext cx="657504" cy="382270"/>
            </a:xfrm>
            <a:custGeom>
              <a:avLst/>
              <a:gdLst/>
              <a:ahLst/>
              <a:cxnLst/>
              <a:rect l="0" t="0" r="r" b="b"/>
              <a:pathLst>
                <a:path w="657504" h="382270">
                  <a:moveTo>
                    <a:pt x="0" y="4369"/>
                  </a:moveTo>
                  <a:lnTo>
                    <a:pt x="52426" y="0"/>
                  </a:lnTo>
                  <a:lnTo>
                    <a:pt x="133248" y="30582"/>
                  </a:lnTo>
                  <a:lnTo>
                    <a:pt x="194412" y="19660"/>
                  </a:lnTo>
                  <a:lnTo>
                    <a:pt x="231546" y="19660"/>
                  </a:lnTo>
                  <a:lnTo>
                    <a:pt x="266497" y="45872"/>
                  </a:lnTo>
                  <a:lnTo>
                    <a:pt x="303632" y="80823"/>
                  </a:lnTo>
                  <a:lnTo>
                    <a:pt x="342951" y="63348"/>
                  </a:lnTo>
                  <a:lnTo>
                    <a:pt x="384454" y="113589"/>
                  </a:lnTo>
                  <a:lnTo>
                    <a:pt x="434696" y="148539"/>
                  </a:lnTo>
                  <a:lnTo>
                    <a:pt x="423774" y="233731"/>
                  </a:lnTo>
                  <a:lnTo>
                    <a:pt x="434696" y="264312"/>
                  </a:lnTo>
                  <a:lnTo>
                    <a:pt x="460908" y="299263"/>
                  </a:lnTo>
                  <a:lnTo>
                    <a:pt x="493674" y="316738"/>
                  </a:lnTo>
                  <a:lnTo>
                    <a:pt x="548284" y="308000"/>
                  </a:lnTo>
                  <a:lnTo>
                    <a:pt x="581050" y="279603"/>
                  </a:lnTo>
                  <a:lnTo>
                    <a:pt x="583235" y="255575"/>
                  </a:lnTo>
                  <a:lnTo>
                    <a:pt x="657504" y="244653"/>
                  </a:lnTo>
                  <a:lnTo>
                    <a:pt x="646582" y="310185"/>
                  </a:lnTo>
                  <a:lnTo>
                    <a:pt x="629107" y="310185"/>
                  </a:lnTo>
                  <a:lnTo>
                    <a:pt x="583235" y="325476"/>
                  </a:lnTo>
                  <a:lnTo>
                    <a:pt x="561391" y="336398"/>
                  </a:lnTo>
                  <a:lnTo>
                    <a:pt x="543916" y="382270"/>
                  </a:lnTo>
                  <a:lnTo>
                    <a:pt x="493674" y="360426"/>
                  </a:lnTo>
                  <a:lnTo>
                    <a:pt x="449986" y="371348"/>
                  </a:lnTo>
                  <a:lnTo>
                    <a:pt x="395376" y="349504"/>
                  </a:lnTo>
                  <a:lnTo>
                    <a:pt x="340766" y="323291"/>
                  </a:lnTo>
                  <a:lnTo>
                    <a:pt x="259944" y="277419"/>
                  </a:lnTo>
                  <a:lnTo>
                    <a:pt x="249022" y="222809"/>
                  </a:lnTo>
                  <a:lnTo>
                    <a:pt x="209702" y="168199"/>
                  </a:lnTo>
                  <a:lnTo>
                    <a:pt x="170383" y="128880"/>
                  </a:lnTo>
                  <a:lnTo>
                    <a:pt x="133248" y="91745"/>
                  </a:lnTo>
                  <a:lnTo>
                    <a:pt x="93929" y="37135"/>
                  </a:lnTo>
                  <a:lnTo>
                    <a:pt x="52426" y="19660"/>
                  </a:lnTo>
                  <a:lnTo>
                    <a:pt x="85192" y="69901"/>
                  </a:lnTo>
                  <a:lnTo>
                    <a:pt x="115773" y="124511"/>
                  </a:lnTo>
                  <a:lnTo>
                    <a:pt x="155092" y="179121"/>
                  </a:lnTo>
                  <a:lnTo>
                    <a:pt x="166014" y="211887"/>
                  </a:lnTo>
                  <a:lnTo>
                    <a:pt x="148539" y="194412"/>
                  </a:lnTo>
                  <a:lnTo>
                    <a:pt x="107036" y="168199"/>
                  </a:lnTo>
                  <a:lnTo>
                    <a:pt x="61163" y="113589"/>
                  </a:lnTo>
                  <a:lnTo>
                    <a:pt x="28397" y="58979"/>
                  </a:lnTo>
                  <a:lnTo>
                    <a:pt x="2184" y="873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08" name="Map colombia"/>
            <p:cNvSpPr/>
            <p:nvPr/>
          </p:nvSpPr>
          <p:spPr>
            <a:xfrm>
              <a:off x="1694485" y="2446477"/>
              <a:ext cx="259944" cy="358242"/>
            </a:xfrm>
            <a:custGeom>
              <a:avLst/>
              <a:gdLst/>
              <a:ahLst/>
              <a:cxnLst/>
              <a:rect l="0" t="0" r="r" b="b"/>
              <a:pathLst>
                <a:path w="259944" h="358242">
                  <a:moveTo>
                    <a:pt x="32766" y="76454"/>
                  </a:moveTo>
                  <a:lnTo>
                    <a:pt x="69901" y="30582"/>
                  </a:lnTo>
                  <a:lnTo>
                    <a:pt x="100482" y="19660"/>
                  </a:lnTo>
                  <a:lnTo>
                    <a:pt x="144170" y="0"/>
                  </a:lnTo>
                  <a:lnTo>
                    <a:pt x="163830" y="8738"/>
                  </a:lnTo>
                  <a:lnTo>
                    <a:pt x="148539" y="30582"/>
                  </a:lnTo>
                  <a:lnTo>
                    <a:pt x="133248" y="69901"/>
                  </a:lnTo>
                  <a:lnTo>
                    <a:pt x="146355" y="93929"/>
                  </a:lnTo>
                  <a:lnTo>
                    <a:pt x="190043" y="115773"/>
                  </a:lnTo>
                  <a:lnTo>
                    <a:pt x="240284" y="131064"/>
                  </a:lnTo>
                  <a:lnTo>
                    <a:pt x="246837" y="166014"/>
                  </a:lnTo>
                  <a:lnTo>
                    <a:pt x="244653" y="207518"/>
                  </a:lnTo>
                  <a:lnTo>
                    <a:pt x="259944" y="238100"/>
                  </a:lnTo>
                  <a:lnTo>
                    <a:pt x="196596" y="242468"/>
                  </a:lnTo>
                  <a:lnTo>
                    <a:pt x="205334" y="288341"/>
                  </a:lnTo>
                  <a:lnTo>
                    <a:pt x="194412" y="358242"/>
                  </a:lnTo>
                  <a:lnTo>
                    <a:pt x="137617" y="321107"/>
                  </a:lnTo>
                  <a:lnTo>
                    <a:pt x="76454" y="268681"/>
                  </a:lnTo>
                  <a:lnTo>
                    <a:pt x="39319" y="259944"/>
                  </a:lnTo>
                  <a:lnTo>
                    <a:pt x="17475" y="240284"/>
                  </a:lnTo>
                  <a:lnTo>
                    <a:pt x="0" y="235915"/>
                  </a:lnTo>
                  <a:lnTo>
                    <a:pt x="6553" y="205334"/>
                  </a:lnTo>
                  <a:lnTo>
                    <a:pt x="30582" y="179121"/>
                  </a:lnTo>
                  <a:lnTo>
                    <a:pt x="30582" y="135433"/>
                  </a:lnTo>
                  <a:lnTo>
                    <a:pt x="19660" y="10922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09" name="Map brazil"/>
            <p:cNvSpPr/>
            <p:nvPr/>
          </p:nvSpPr>
          <p:spPr>
            <a:xfrm>
              <a:off x="1810258" y="2599385"/>
              <a:ext cx="845363" cy="849732"/>
            </a:xfrm>
            <a:custGeom>
              <a:avLst/>
              <a:gdLst/>
              <a:ahLst/>
              <a:cxnLst/>
              <a:rect l="0" t="0" r="r" b="b"/>
              <a:pathLst>
                <a:path w="845363" h="849732">
                  <a:moveTo>
                    <a:pt x="478384" y="24028"/>
                  </a:moveTo>
                  <a:lnTo>
                    <a:pt x="513334" y="80823"/>
                  </a:lnTo>
                  <a:lnTo>
                    <a:pt x="502412" y="124511"/>
                  </a:lnTo>
                  <a:lnTo>
                    <a:pt x="546100" y="139802"/>
                  </a:lnTo>
                  <a:lnTo>
                    <a:pt x="633476" y="168199"/>
                  </a:lnTo>
                  <a:lnTo>
                    <a:pt x="709930" y="176936"/>
                  </a:lnTo>
                  <a:lnTo>
                    <a:pt x="775462" y="200965"/>
                  </a:lnTo>
                  <a:lnTo>
                    <a:pt x="836625" y="231546"/>
                  </a:lnTo>
                  <a:lnTo>
                    <a:pt x="845363" y="273050"/>
                  </a:lnTo>
                  <a:lnTo>
                    <a:pt x="830072" y="321107"/>
                  </a:lnTo>
                  <a:lnTo>
                    <a:pt x="792937" y="364795"/>
                  </a:lnTo>
                  <a:lnTo>
                    <a:pt x="764540" y="397561"/>
                  </a:lnTo>
                  <a:lnTo>
                    <a:pt x="753618" y="463093"/>
                  </a:lnTo>
                  <a:lnTo>
                    <a:pt x="738327" y="539547"/>
                  </a:lnTo>
                  <a:lnTo>
                    <a:pt x="709930" y="594157"/>
                  </a:lnTo>
                  <a:lnTo>
                    <a:pt x="666242" y="616001"/>
                  </a:lnTo>
                  <a:lnTo>
                    <a:pt x="611632" y="633476"/>
                  </a:lnTo>
                  <a:lnTo>
                    <a:pt x="546100" y="681533"/>
                  </a:lnTo>
                  <a:lnTo>
                    <a:pt x="543916" y="736143"/>
                  </a:lnTo>
                  <a:lnTo>
                    <a:pt x="513334" y="768909"/>
                  </a:lnTo>
                  <a:lnTo>
                    <a:pt x="465277" y="823519"/>
                  </a:lnTo>
                  <a:lnTo>
                    <a:pt x="439064" y="849732"/>
                  </a:lnTo>
                  <a:lnTo>
                    <a:pt x="432511" y="812597"/>
                  </a:lnTo>
                  <a:lnTo>
                    <a:pt x="404114" y="788568"/>
                  </a:lnTo>
                  <a:lnTo>
                    <a:pt x="382270" y="773278"/>
                  </a:lnTo>
                  <a:lnTo>
                    <a:pt x="347320" y="773278"/>
                  </a:lnTo>
                  <a:lnTo>
                    <a:pt x="382270" y="740512"/>
                  </a:lnTo>
                  <a:lnTo>
                    <a:pt x="412852" y="709930"/>
                  </a:lnTo>
                  <a:lnTo>
                    <a:pt x="432511" y="685902"/>
                  </a:lnTo>
                  <a:lnTo>
                    <a:pt x="412852" y="672795"/>
                  </a:lnTo>
                  <a:lnTo>
                    <a:pt x="415036" y="637845"/>
                  </a:lnTo>
                  <a:lnTo>
                    <a:pt x="388823" y="598526"/>
                  </a:lnTo>
                  <a:lnTo>
                    <a:pt x="340766" y="596341"/>
                  </a:lnTo>
                  <a:lnTo>
                    <a:pt x="334213" y="546100"/>
                  </a:lnTo>
                  <a:lnTo>
                    <a:pt x="338582" y="506781"/>
                  </a:lnTo>
                  <a:lnTo>
                    <a:pt x="334213" y="469646"/>
                  </a:lnTo>
                  <a:lnTo>
                    <a:pt x="294894" y="469646"/>
                  </a:lnTo>
                  <a:lnTo>
                    <a:pt x="283972" y="412852"/>
                  </a:lnTo>
                  <a:lnTo>
                    <a:pt x="229362" y="375717"/>
                  </a:lnTo>
                  <a:lnTo>
                    <a:pt x="176936" y="340766"/>
                  </a:lnTo>
                  <a:lnTo>
                    <a:pt x="104851" y="386639"/>
                  </a:lnTo>
                  <a:lnTo>
                    <a:pt x="85192" y="353873"/>
                  </a:lnTo>
                  <a:lnTo>
                    <a:pt x="63348" y="353873"/>
                  </a:lnTo>
                  <a:lnTo>
                    <a:pt x="32766" y="336398"/>
                  </a:lnTo>
                  <a:lnTo>
                    <a:pt x="10922" y="310185"/>
                  </a:lnTo>
                  <a:lnTo>
                    <a:pt x="0" y="273050"/>
                  </a:lnTo>
                  <a:lnTo>
                    <a:pt x="19660" y="233731"/>
                  </a:lnTo>
                  <a:lnTo>
                    <a:pt x="65532" y="205334"/>
                  </a:lnTo>
                  <a:lnTo>
                    <a:pt x="78638" y="205334"/>
                  </a:lnTo>
                  <a:lnTo>
                    <a:pt x="89560" y="135433"/>
                  </a:lnTo>
                  <a:lnTo>
                    <a:pt x="80823" y="89560"/>
                  </a:lnTo>
                  <a:lnTo>
                    <a:pt x="144170" y="85192"/>
                  </a:lnTo>
                  <a:lnTo>
                    <a:pt x="196596" y="58979"/>
                  </a:lnTo>
                  <a:lnTo>
                    <a:pt x="207518" y="26213"/>
                  </a:lnTo>
                  <a:lnTo>
                    <a:pt x="240284" y="21844"/>
                  </a:lnTo>
                  <a:lnTo>
                    <a:pt x="279603" y="0"/>
                  </a:lnTo>
                  <a:lnTo>
                    <a:pt x="305816" y="78638"/>
                  </a:lnTo>
                  <a:lnTo>
                    <a:pt x="371348" y="69901"/>
                  </a:lnTo>
                  <a:lnTo>
                    <a:pt x="415036" y="63348"/>
                  </a:lnTo>
                  <a:lnTo>
                    <a:pt x="478384" y="2402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10" name="Map chile"/>
            <p:cNvSpPr/>
            <p:nvPr/>
          </p:nvSpPr>
          <p:spPr>
            <a:xfrm>
              <a:off x="1768754" y="3097428"/>
              <a:ext cx="176936" cy="823519"/>
            </a:xfrm>
            <a:custGeom>
              <a:avLst/>
              <a:gdLst/>
              <a:ahLst/>
              <a:cxnLst/>
              <a:rect l="0" t="0" r="r" b="b"/>
              <a:pathLst>
                <a:path w="176936" h="823519">
                  <a:moveTo>
                    <a:pt x="109220" y="15291"/>
                  </a:moveTo>
                  <a:lnTo>
                    <a:pt x="113589" y="52426"/>
                  </a:lnTo>
                  <a:lnTo>
                    <a:pt x="113589" y="117958"/>
                  </a:lnTo>
                  <a:lnTo>
                    <a:pt x="104851" y="183490"/>
                  </a:lnTo>
                  <a:lnTo>
                    <a:pt x="85192" y="270866"/>
                  </a:lnTo>
                  <a:lnTo>
                    <a:pt x="83007" y="336398"/>
                  </a:lnTo>
                  <a:lnTo>
                    <a:pt x="67716" y="401930"/>
                  </a:lnTo>
                  <a:lnTo>
                    <a:pt x="45872" y="456540"/>
                  </a:lnTo>
                  <a:lnTo>
                    <a:pt x="39319" y="511150"/>
                  </a:lnTo>
                  <a:lnTo>
                    <a:pt x="34950" y="565760"/>
                  </a:lnTo>
                  <a:lnTo>
                    <a:pt x="0" y="631292"/>
                  </a:lnTo>
                  <a:lnTo>
                    <a:pt x="30582" y="707746"/>
                  </a:lnTo>
                  <a:lnTo>
                    <a:pt x="4369" y="762356"/>
                  </a:lnTo>
                  <a:lnTo>
                    <a:pt x="52426" y="795122"/>
                  </a:lnTo>
                  <a:lnTo>
                    <a:pt x="117958" y="823519"/>
                  </a:lnTo>
                  <a:lnTo>
                    <a:pt x="152908" y="816966"/>
                  </a:lnTo>
                  <a:lnTo>
                    <a:pt x="148539" y="764540"/>
                  </a:lnTo>
                  <a:lnTo>
                    <a:pt x="139802" y="755802"/>
                  </a:lnTo>
                  <a:lnTo>
                    <a:pt x="65532" y="742696"/>
                  </a:lnTo>
                  <a:lnTo>
                    <a:pt x="63348" y="664058"/>
                  </a:lnTo>
                  <a:lnTo>
                    <a:pt x="78638" y="620370"/>
                  </a:lnTo>
                  <a:lnTo>
                    <a:pt x="78638" y="554838"/>
                  </a:lnTo>
                  <a:lnTo>
                    <a:pt x="74270" y="522072"/>
                  </a:lnTo>
                  <a:lnTo>
                    <a:pt x="83007" y="478384"/>
                  </a:lnTo>
                  <a:lnTo>
                    <a:pt x="96114" y="423774"/>
                  </a:lnTo>
                  <a:lnTo>
                    <a:pt x="100482" y="380086"/>
                  </a:lnTo>
                  <a:lnTo>
                    <a:pt x="113589" y="336398"/>
                  </a:lnTo>
                  <a:lnTo>
                    <a:pt x="117958" y="270866"/>
                  </a:lnTo>
                  <a:lnTo>
                    <a:pt x="139802" y="227178"/>
                  </a:lnTo>
                  <a:lnTo>
                    <a:pt x="152908" y="194412"/>
                  </a:lnTo>
                  <a:lnTo>
                    <a:pt x="176936" y="144170"/>
                  </a:lnTo>
                  <a:lnTo>
                    <a:pt x="163830" y="115773"/>
                  </a:lnTo>
                  <a:lnTo>
                    <a:pt x="152908" y="85192"/>
                  </a:lnTo>
                  <a:lnTo>
                    <a:pt x="150724" y="41504"/>
                  </a:lnTo>
                  <a:lnTo>
                    <a:pt x="139802" y="19660"/>
                  </a:lnTo>
                  <a:lnTo>
                    <a:pt x="12888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11" name="Map argentina"/>
            <p:cNvSpPr/>
            <p:nvPr/>
          </p:nvSpPr>
          <p:spPr>
            <a:xfrm>
              <a:off x="1832102" y="3197911"/>
              <a:ext cx="410667" cy="659689"/>
            </a:xfrm>
            <a:custGeom>
              <a:avLst/>
              <a:gdLst/>
              <a:ahLst/>
              <a:cxnLst/>
              <a:rect l="0" t="0" r="r" b="b"/>
              <a:pathLst>
                <a:path w="410667" h="659689">
                  <a:moveTo>
                    <a:pt x="325476" y="174752"/>
                  </a:moveTo>
                  <a:lnTo>
                    <a:pt x="360426" y="141986"/>
                  </a:lnTo>
                  <a:lnTo>
                    <a:pt x="391008" y="111404"/>
                  </a:lnTo>
                  <a:lnTo>
                    <a:pt x="410667" y="87376"/>
                  </a:lnTo>
                  <a:lnTo>
                    <a:pt x="391008" y="74270"/>
                  </a:lnTo>
                  <a:lnTo>
                    <a:pt x="362610" y="113589"/>
                  </a:lnTo>
                  <a:lnTo>
                    <a:pt x="303632" y="111404"/>
                  </a:lnTo>
                  <a:lnTo>
                    <a:pt x="318922" y="67716"/>
                  </a:lnTo>
                  <a:lnTo>
                    <a:pt x="273050" y="41504"/>
                  </a:lnTo>
                  <a:lnTo>
                    <a:pt x="216256" y="2184"/>
                  </a:lnTo>
                  <a:lnTo>
                    <a:pt x="179121" y="13106"/>
                  </a:lnTo>
                  <a:lnTo>
                    <a:pt x="141986" y="0"/>
                  </a:lnTo>
                  <a:lnTo>
                    <a:pt x="100482" y="15291"/>
                  </a:lnTo>
                  <a:lnTo>
                    <a:pt x="113589" y="43688"/>
                  </a:lnTo>
                  <a:lnTo>
                    <a:pt x="89560" y="93929"/>
                  </a:lnTo>
                  <a:lnTo>
                    <a:pt x="76454" y="126695"/>
                  </a:lnTo>
                  <a:lnTo>
                    <a:pt x="54610" y="170383"/>
                  </a:lnTo>
                  <a:lnTo>
                    <a:pt x="50241" y="235915"/>
                  </a:lnTo>
                  <a:lnTo>
                    <a:pt x="37135" y="279603"/>
                  </a:lnTo>
                  <a:lnTo>
                    <a:pt x="32766" y="323291"/>
                  </a:lnTo>
                  <a:lnTo>
                    <a:pt x="19660" y="377901"/>
                  </a:lnTo>
                  <a:lnTo>
                    <a:pt x="10922" y="421589"/>
                  </a:lnTo>
                  <a:lnTo>
                    <a:pt x="15291" y="454355"/>
                  </a:lnTo>
                  <a:lnTo>
                    <a:pt x="15291" y="519887"/>
                  </a:lnTo>
                  <a:lnTo>
                    <a:pt x="0" y="563575"/>
                  </a:lnTo>
                  <a:lnTo>
                    <a:pt x="2184" y="642214"/>
                  </a:lnTo>
                  <a:lnTo>
                    <a:pt x="76454" y="655320"/>
                  </a:lnTo>
                  <a:lnTo>
                    <a:pt x="89560" y="659689"/>
                  </a:lnTo>
                  <a:lnTo>
                    <a:pt x="109220" y="607263"/>
                  </a:lnTo>
                  <a:lnTo>
                    <a:pt x="141986" y="559206"/>
                  </a:lnTo>
                  <a:lnTo>
                    <a:pt x="109220" y="519887"/>
                  </a:lnTo>
                  <a:lnTo>
                    <a:pt x="146355" y="498043"/>
                  </a:lnTo>
                  <a:lnTo>
                    <a:pt x="152908" y="465277"/>
                  </a:lnTo>
                  <a:lnTo>
                    <a:pt x="174752" y="443433"/>
                  </a:lnTo>
                  <a:lnTo>
                    <a:pt x="196596" y="415036"/>
                  </a:lnTo>
                  <a:lnTo>
                    <a:pt x="222809" y="401930"/>
                  </a:lnTo>
                  <a:lnTo>
                    <a:pt x="224993" y="366979"/>
                  </a:lnTo>
                  <a:lnTo>
                    <a:pt x="262128" y="351688"/>
                  </a:lnTo>
                  <a:lnTo>
                    <a:pt x="325476" y="345135"/>
                  </a:lnTo>
                  <a:lnTo>
                    <a:pt x="329844" y="310185"/>
                  </a:lnTo>
                  <a:lnTo>
                    <a:pt x="308000" y="264312"/>
                  </a:lnTo>
                  <a:lnTo>
                    <a:pt x="308000" y="249022"/>
                  </a:lnTo>
                  <a:lnTo>
                    <a:pt x="312369" y="222809"/>
                  </a:lnTo>
                  <a:lnTo>
                    <a:pt x="316738" y="192227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12" name="Map uruguay"/>
            <p:cNvSpPr/>
            <p:nvPr/>
          </p:nvSpPr>
          <p:spPr>
            <a:xfrm>
              <a:off x="2140102" y="3372663"/>
              <a:ext cx="109220" cy="102667"/>
            </a:xfrm>
            <a:custGeom>
              <a:avLst/>
              <a:gdLst/>
              <a:ahLst/>
              <a:cxnLst/>
              <a:rect l="0" t="0" r="r" b="b"/>
              <a:pathLst>
                <a:path w="109220" h="102667">
                  <a:moveTo>
                    <a:pt x="109220" y="76454"/>
                  </a:moveTo>
                  <a:lnTo>
                    <a:pt x="102667" y="39319"/>
                  </a:lnTo>
                  <a:lnTo>
                    <a:pt x="74270" y="15291"/>
                  </a:lnTo>
                  <a:lnTo>
                    <a:pt x="52426" y="0"/>
                  </a:lnTo>
                  <a:lnTo>
                    <a:pt x="17475" y="0"/>
                  </a:lnTo>
                  <a:lnTo>
                    <a:pt x="4369" y="48057"/>
                  </a:lnTo>
                  <a:lnTo>
                    <a:pt x="0" y="74270"/>
                  </a:lnTo>
                  <a:lnTo>
                    <a:pt x="13106" y="93929"/>
                  </a:lnTo>
                  <a:lnTo>
                    <a:pt x="52426" y="102667"/>
                  </a:lnTo>
                  <a:lnTo>
                    <a:pt x="91745" y="982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3048265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1600" b="1" dirty="0"/>
              <a:t>Markets compared by all groups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half" idx="2"/>
          </p:nvPr>
        </p:nvSpPr>
        <p:spPr>
          <a:xfrm>
            <a:off x="5054600" y="1346200"/>
            <a:ext cx="3632200" cy="38608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1600" b="1" dirty="0"/>
              <a:t>Common criteria by PESTEL dimension</a:t>
            </a:r>
          </a:p>
          <a:p>
            <a:pPr lvl="0"/>
            <a:r>
              <a:rPr lang="en-GB" sz="1300" dirty="0"/>
              <a:t>Political: stability, EU trade agreement</a:t>
            </a:r>
          </a:p>
          <a:p>
            <a:pPr lvl="0"/>
            <a:r>
              <a:rPr lang="en-GB" sz="1300" dirty="0"/>
              <a:t>Economic: purchasing power, consumption, tariff</a:t>
            </a:r>
          </a:p>
          <a:p>
            <a:pPr lvl="0"/>
            <a:r>
              <a:rPr lang="en-GB" sz="1300" dirty="0"/>
              <a:t>Social: coffee culture, tourism</a:t>
            </a:r>
          </a:p>
          <a:p>
            <a:pPr lvl="0"/>
            <a:r>
              <a:rPr lang="en-GB" sz="1300" dirty="0"/>
              <a:t>Technological: digital reach, logistics</a:t>
            </a:r>
          </a:p>
          <a:p>
            <a:pPr lvl="0"/>
            <a:r>
              <a:rPr lang="en-GB" sz="1300" dirty="0"/>
              <a:t>Environmental: demand for certified coffee</a:t>
            </a:r>
          </a:p>
          <a:p>
            <a:pPr lvl="0"/>
            <a:r>
              <a:rPr lang="en-GB" sz="1300" dirty="0"/>
              <a:t>Legal: regulation, product and labelling rules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Six markets, one set of criteria</a:t>
            </a:r>
          </a:p>
        </p:txBody>
      </p:sp>
      <p:grpSp>
        <p:nvGrpSpPr>
          <p:cNvPr id="1024" name="Map of the Americas" descr="Simplified map of the Americas with Mexico, Colombia, Brazil, Chile, Argentina and Uruguay highlighted"/>
          <p:cNvGrpSpPr/>
          <p:nvPr/>
        </p:nvGrpSpPr>
        <p:grpSpPr>
          <a:xfrm>
            <a:off x="609600" y="1752600"/>
            <a:ext cx="3733800" cy="3157728"/>
            <a:chOff x="609600" y="1752600"/>
            <a:chExt cx="3733800" cy="3157728"/>
          </a:xfrm>
        </p:grpSpPr>
        <p:sp>
          <p:nvSpPr>
            <p:cNvPr id="1000" name="Map usa"/>
            <p:cNvSpPr/>
            <p:nvPr/>
          </p:nvSpPr>
          <p:spPr>
            <a:xfrm>
              <a:off x="701040" y="1752600"/>
              <a:ext cx="1386840" cy="284480"/>
            </a:xfrm>
            <a:custGeom>
              <a:avLst/>
              <a:gdLst/>
              <a:ahLst/>
              <a:cxnLst/>
              <a:rect l="0" t="0" r="r" b="b"/>
              <a:pathLst>
                <a:path w="1386840" h="284480">
                  <a:moveTo>
                    <a:pt x="0" y="0"/>
                  </a:moveTo>
                  <a:lnTo>
                    <a:pt x="32004" y="35560"/>
                  </a:lnTo>
                  <a:lnTo>
                    <a:pt x="117348" y="28448"/>
                  </a:lnTo>
                  <a:lnTo>
                    <a:pt x="248920" y="78232"/>
                  </a:lnTo>
                  <a:lnTo>
                    <a:pt x="348488" y="60452"/>
                  </a:lnTo>
                  <a:lnTo>
                    <a:pt x="408940" y="60452"/>
                  </a:lnTo>
                  <a:lnTo>
                    <a:pt x="465836" y="103124"/>
                  </a:lnTo>
                  <a:lnTo>
                    <a:pt x="526288" y="160020"/>
                  </a:lnTo>
                  <a:lnTo>
                    <a:pt x="590296" y="131572"/>
                  </a:lnTo>
                  <a:lnTo>
                    <a:pt x="657860" y="213360"/>
                  </a:lnTo>
                  <a:lnTo>
                    <a:pt x="739648" y="270256"/>
                  </a:lnTo>
                  <a:lnTo>
                    <a:pt x="732536" y="213360"/>
                  </a:lnTo>
                  <a:lnTo>
                    <a:pt x="853440" y="142240"/>
                  </a:lnTo>
                  <a:lnTo>
                    <a:pt x="995680" y="152908"/>
                  </a:lnTo>
                  <a:lnTo>
                    <a:pt x="1066800" y="113792"/>
                  </a:lnTo>
                  <a:lnTo>
                    <a:pt x="1173480" y="135128"/>
                  </a:lnTo>
                  <a:lnTo>
                    <a:pt x="1244600" y="160020"/>
                  </a:lnTo>
                  <a:lnTo>
                    <a:pt x="1308608" y="284480"/>
                  </a:lnTo>
                  <a:lnTo>
                    <a:pt x="1351280" y="231140"/>
                  </a:lnTo>
                  <a:lnTo>
                    <a:pt x="1315720" y="88900"/>
                  </a:lnTo>
                  <a:lnTo>
                    <a:pt x="1386840" y="0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01" name="Map camer"/>
            <p:cNvSpPr/>
            <p:nvPr/>
          </p:nvSpPr>
          <p:spPr>
            <a:xfrm>
              <a:off x="1618488" y="2286000"/>
              <a:ext cx="522732" cy="401828"/>
            </a:xfrm>
            <a:custGeom>
              <a:avLst/>
              <a:gdLst/>
              <a:ahLst/>
              <a:cxnLst/>
              <a:rect l="0" t="0" r="r" b="b"/>
              <a:pathLst>
                <a:path w="522732" h="401828">
                  <a:moveTo>
                    <a:pt x="0" y="117348"/>
                  </a:moveTo>
                  <a:lnTo>
                    <a:pt x="28448" y="42672"/>
                  </a:lnTo>
                  <a:lnTo>
                    <a:pt x="64008" y="24892"/>
                  </a:lnTo>
                  <a:lnTo>
                    <a:pt x="138684" y="0"/>
                  </a:lnTo>
                  <a:lnTo>
                    <a:pt x="145796" y="88900"/>
                  </a:lnTo>
                  <a:lnTo>
                    <a:pt x="256032" y="92456"/>
                  </a:lnTo>
                  <a:lnTo>
                    <a:pt x="320040" y="124460"/>
                  </a:lnTo>
                  <a:lnTo>
                    <a:pt x="305816" y="231140"/>
                  </a:lnTo>
                  <a:lnTo>
                    <a:pt x="302260" y="273812"/>
                  </a:lnTo>
                  <a:lnTo>
                    <a:pt x="344932" y="320040"/>
                  </a:lnTo>
                  <a:lnTo>
                    <a:pt x="433832" y="330708"/>
                  </a:lnTo>
                  <a:lnTo>
                    <a:pt x="522732" y="348488"/>
                  </a:lnTo>
                  <a:lnTo>
                    <a:pt x="508508" y="401828"/>
                  </a:lnTo>
                  <a:lnTo>
                    <a:pt x="497840" y="391160"/>
                  </a:lnTo>
                  <a:lnTo>
                    <a:pt x="426720" y="398272"/>
                  </a:lnTo>
                  <a:lnTo>
                    <a:pt x="334264" y="373380"/>
                  </a:lnTo>
                  <a:lnTo>
                    <a:pt x="231140" y="302260"/>
                  </a:lnTo>
                  <a:lnTo>
                    <a:pt x="167132" y="195580"/>
                  </a:lnTo>
                  <a:lnTo>
                    <a:pt x="78232" y="170688"/>
                  </a:lnTo>
                  <a:lnTo>
                    <a:pt x="0" y="142240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02" name="Map venguy"/>
            <p:cNvSpPr/>
            <p:nvPr/>
          </p:nvSpPr>
          <p:spPr>
            <a:xfrm>
              <a:off x="2311908" y="2517140"/>
              <a:ext cx="750316" cy="380492"/>
            </a:xfrm>
            <a:custGeom>
              <a:avLst/>
              <a:gdLst/>
              <a:ahLst/>
              <a:cxnLst/>
              <a:rect l="0" t="0" r="r" b="b"/>
              <a:pathLst>
                <a:path w="750316" h="380492">
                  <a:moveTo>
                    <a:pt x="49784" y="7112"/>
                  </a:moveTo>
                  <a:lnTo>
                    <a:pt x="96012" y="0"/>
                  </a:lnTo>
                  <a:lnTo>
                    <a:pt x="167132" y="49784"/>
                  </a:lnTo>
                  <a:lnTo>
                    <a:pt x="309372" y="49784"/>
                  </a:lnTo>
                  <a:lnTo>
                    <a:pt x="380492" y="53340"/>
                  </a:lnTo>
                  <a:lnTo>
                    <a:pt x="451612" y="124460"/>
                  </a:lnTo>
                  <a:lnTo>
                    <a:pt x="558292" y="213360"/>
                  </a:lnTo>
                  <a:lnTo>
                    <a:pt x="664972" y="220472"/>
                  </a:lnTo>
                  <a:lnTo>
                    <a:pt x="736092" y="266700"/>
                  </a:lnTo>
                  <a:lnTo>
                    <a:pt x="750316" y="280924"/>
                  </a:lnTo>
                  <a:lnTo>
                    <a:pt x="647192" y="344932"/>
                  </a:lnTo>
                  <a:lnTo>
                    <a:pt x="576072" y="355600"/>
                  </a:lnTo>
                  <a:lnTo>
                    <a:pt x="469392" y="369824"/>
                  </a:lnTo>
                  <a:lnTo>
                    <a:pt x="426720" y="241808"/>
                  </a:lnTo>
                  <a:lnTo>
                    <a:pt x="362712" y="277368"/>
                  </a:lnTo>
                  <a:lnTo>
                    <a:pt x="309372" y="284480"/>
                  </a:lnTo>
                  <a:lnTo>
                    <a:pt x="291592" y="337820"/>
                  </a:lnTo>
                  <a:lnTo>
                    <a:pt x="206248" y="380492"/>
                  </a:lnTo>
                  <a:lnTo>
                    <a:pt x="181356" y="330708"/>
                  </a:lnTo>
                  <a:lnTo>
                    <a:pt x="184912" y="263144"/>
                  </a:lnTo>
                  <a:lnTo>
                    <a:pt x="174244" y="206248"/>
                  </a:lnTo>
                  <a:lnTo>
                    <a:pt x="92456" y="181356"/>
                  </a:lnTo>
                  <a:lnTo>
                    <a:pt x="21336" y="145796"/>
                  </a:lnTo>
                  <a:lnTo>
                    <a:pt x="0" y="106680"/>
                  </a:lnTo>
                  <a:lnTo>
                    <a:pt x="24892" y="42672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03" name="Map ecuador"/>
            <p:cNvSpPr/>
            <p:nvPr/>
          </p:nvSpPr>
          <p:spPr>
            <a:xfrm>
              <a:off x="2020316" y="2894076"/>
              <a:ext cx="199136" cy="213360"/>
            </a:xfrm>
            <a:custGeom>
              <a:avLst/>
              <a:gdLst/>
              <a:ahLst/>
              <a:cxnLst/>
              <a:rect l="0" t="0" r="r" b="b"/>
              <a:pathLst>
                <a:path w="199136" h="213360">
                  <a:moveTo>
                    <a:pt x="74676" y="0"/>
                  </a:moveTo>
                  <a:lnTo>
                    <a:pt x="103124" y="7112"/>
                  </a:lnTo>
                  <a:lnTo>
                    <a:pt x="138684" y="39116"/>
                  </a:lnTo>
                  <a:lnTo>
                    <a:pt x="199136" y="53340"/>
                  </a:lnTo>
                  <a:lnTo>
                    <a:pt x="192024" y="103124"/>
                  </a:lnTo>
                  <a:lnTo>
                    <a:pt x="110236" y="156464"/>
                  </a:lnTo>
                  <a:lnTo>
                    <a:pt x="71120" y="213360"/>
                  </a:lnTo>
                  <a:lnTo>
                    <a:pt x="21336" y="170688"/>
                  </a:lnTo>
                  <a:lnTo>
                    <a:pt x="0" y="131572"/>
                  </a:lnTo>
                  <a:lnTo>
                    <a:pt x="32004" y="85344"/>
                  </a:lnTo>
                  <a:lnTo>
                    <a:pt x="28448" y="28448"/>
                  </a:lnTo>
                  <a:lnTo>
                    <a:pt x="39116" y="7112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04" name="Map peru"/>
            <p:cNvSpPr/>
            <p:nvPr/>
          </p:nvSpPr>
          <p:spPr>
            <a:xfrm>
              <a:off x="2009648" y="2947416"/>
              <a:ext cx="444500" cy="647192"/>
            </a:xfrm>
            <a:custGeom>
              <a:avLst/>
              <a:gdLst/>
              <a:ahLst/>
              <a:cxnLst/>
              <a:rect l="0" t="0" r="r" b="b"/>
              <a:pathLst>
                <a:path w="444500" h="647192">
                  <a:moveTo>
                    <a:pt x="209804" y="0"/>
                  </a:moveTo>
                  <a:lnTo>
                    <a:pt x="309372" y="85344"/>
                  </a:lnTo>
                  <a:lnTo>
                    <a:pt x="401828" y="145796"/>
                  </a:lnTo>
                  <a:lnTo>
                    <a:pt x="401828" y="145796"/>
                  </a:lnTo>
                  <a:lnTo>
                    <a:pt x="380492" y="145796"/>
                  </a:lnTo>
                  <a:lnTo>
                    <a:pt x="305816" y="192024"/>
                  </a:lnTo>
                  <a:lnTo>
                    <a:pt x="273812" y="256032"/>
                  </a:lnTo>
                  <a:lnTo>
                    <a:pt x="291592" y="316484"/>
                  </a:lnTo>
                  <a:lnTo>
                    <a:pt x="327152" y="359156"/>
                  </a:lnTo>
                  <a:lnTo>
                    <a:pt x="376936" y="387604"/>
                  </a:lnTo>
                  <a:lnTo>
                    <a:pt x="412496" y="387604"/>
                  </a:lnTo>
                  <a:lnTo>
                    <a:pt x="444500" y="440944"/>
                  </a:lnTo>
                  <a:lnTo>
                    <a:pt x="426720" y="494284"/>
                  </a:lnTo>
                  <a:lnTo>
                    <a:pt x="426720" y="536956"/>
                  </a:lnTo>
                  <a:lnTo>
                    <a:pt x="433832" y="583184"/>
                  </a:lnTo>
                  <a:lnTo>
                    <a:pt x="416052" y="622300"/>
                  </a:lnTo>
                  <a:lnTo>
                    <a:pt x="384048" y="647192"/>
                  </a:lnTo>
                  <a:lnTo>
                    <a:pt x="344932" y="611632"/>
                  </a:lnTo>
                  <a:lnTo>
                    <a:pt x="291592" y="576072"/>
                  </a:lnTo>
                  <a:lnTo>
                    <a:pt x="213360" y="529844"/>
                  </a:lnTo>
                  <a:lnTo>
                    <a:pt x="177800" y="476504"/>
                  </a:lnTo>
                  <a:lnTo>
                    <a:pt x="142240" y="423164"/>
                  </a:lnTo>
                  <a:lnTo>
                    <a:pt x="99568" y="344932"/>
                  </a:lnTo>
                  <a:lnTo>
                    <a:pt x="49784" y="273812"/>
                  </a:lnTo>
                  <a:lnTo>
                    <a:pt x="0" y="209804"/>
                  </a:lnTo>
                  <a:lnTo>
                    <a:pt x="0" y="156464"/>
                  </a:lnTo>
                  <a:lnTo>
                    <a:pt x="32004" y="117348"/>
                  </a:lnTo>
                  <a:lnTo>
                    <a:pt x="81788" y="160020"/>
                  </a:lnTo>
                  <a:lnTo>
                    <a:pt x="120904" y="103124"/>
                  </a:lnTo>
                  <a:lnTo>
                    <a:pt x="202692" y="49784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05" name="Map bolivia"/>
            <p:cNvSpPr/>
            <p:nvPr/>
          </p:nvSpPr>
          <p:spPr>
            <a:xfrm>
              <a:off x="2425700" y="3313684"/>
              <a:ext cx="408940" cy="444500"/>
            </a:xfrm>
            <a:custGeom>
              <a:avLst/>
              <a:gdLst/>
              <a:ahLst/>
              <a:cxnLst/>
              <a:rect l="0" t="0" r="r" b="b"/>
              <a:pathLst>
                <a:path w="408940" h="444500">
                  <a:moveTo>
                    <a:pt x="28448" y="74676"/>
                  </a:moveTo>
                  <a:lnTo>
                    <a:pt x="145796" y="0"/>
                  </a:lnTo>
                  <a:lnTo>
                    <a:pt x="231140" y="56896"/>
                  </a:lnTo>
                  <a:lnTo>
                    <a:pt x="320040" y="117348"/>
                  </a:lnTo>
                  <a:lnTo>
                    <a:pt x="337820" y="209804"/>
                  </a:lnTo>
                  <a:lnTo>
                    <a:pt x="401828" y="209804"/>
                  </a:lnTo>
                  <a:lnTo>
                    <a:pt x="408940" y="270256"/>
                  </a:lnTo>
                  <a:lnTo>
                    <a:pt x="401828" y="334264"/>
                  </a:lnTo>
                  <a:lnTo>
                    <a:pt x="270256" y="341376"/>
                  </a:lnTo>
                  <a:lnTo>
                    <a:pt x="245364" y="423164"/>
                  </a:lnTo>
                  <a:lnTo>
                    <a:pt x="184912" y="440944"/>
                  </a:lnTo>
                  <a:lnTo>
                    <a:pt x="124460" y="419608"/>
                  </a:lnTo>
                  <a:lnTo>
                    <a:pt x="81788" y="440944"/>
                  </a:lnTo>
                  <a:lnTo>
                    <a:pt x="56896" y="444500"/>
                  </a:lnTo>
                  <a:lnTo>
                    <a:pt x="39116" y="394716"/>
                  </a:lnTo>
                  <a:lnTo>
                    <a:pt x="35560" y="323596"/>
                  </a:lnTo>
                  <a:lnTo>
                    <a:pt x="17780" y="288036"/>
                  </a:lnTo>
                  <a:lnTo>
                    <a:pt x="0" y="256032"/>
                  </a:lnTo>
                  <a:lnTo>
                    <a:pt x="17780" y="216916"/>
                  </a:lnTo>
                  <a:lnTo>
                    <a:pt x="10668" y="170688"/>
                  </a:lnTo>
                  <a:lnTo>
                    <a:pt x="10668" y="128016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06" name="Map paraguay"/>
            <p:cNvSpPr/>
            <p:nvPr/>
          </p:nvSpPr>
          <p:spPr>
            <a:xfrm>
              <a:off x="2671064" y="3647948"/>
              <a:ext cx="288036" cy="270256"/>
            </a:xfrm>
            <a:custGeom>
              <a:avLst/>
              <a:gdLst/>
              <a:ahLst/>
              <a:cxnLst/>
              <a:rect l="0" t="0" r="r" b="b"/>
              <a:pathLst>
                <a:path w="288036" h="270256">
                  <a:moveTo>
                    <a:pt x="0" y="88900"/>
                  </a:moveTo>
                  <a:lnTo>
                    <a:pt x="24892" y="7112"/>
                  </a:lnTo>
                  <a:lnTo>
                    <a:pt x="156464" y="0"/>
                  </a:lnTo>
                  <a:lnTo>
                    <a:pt x="167132" y="81788"/>
                  </a:lnTo>
                  <a:lnTo>
                    <a:pt x="245364" y="85344"/>
                  </a:lnTo>
                  <a:lnTo>
                    <a:pt x="288036" y="149352"/>
                  </a:lnTo>
                  <a:lnTo>
                    <a:pt x="284480" y="206248"/>
                  </a:lnTo>
                  <a:lnTo>
                    <a:pt x="238252" y="270256"/>
                  </a:lnTo>
                  <a:lnTo>
                    <a:pt x="142240" y="266700"/>
                  </a:lnTo>
                  <a:lnTo>
                    <a:pt x="167132" y="195580"/>
                  </a:lnTo>
                  <a:lnTo>
                    <a:pt x="92456" y="152908"/>
                  </a:lnTo>
                  <a:close/>
                </a:path>
              </a:pathLst>
            </a:custGeom>
            <a:solidFill>
              <a:srgbClr val="D9D9D9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07" name="Map mexico"/>
            <p:cNvSpPr/>
            <p:nvPr/>
          </p:nvSpPr>
          <p:spPr>
            <a:xfrm>
              <a:off x="733044" y="1781048"/>
              <a:ext cx="1070356" cy="622300"/>
            </a:xfrm>
            <a:custGeom>
              <a:avLst/>
              <a:gdLst/>
              <a:ahLst/>
              <a:cxnLst/>
              <a:rect l="0" t="0" r="r" b="b"/>
              <a:pathLst>
                <a:path w="1070356" h="622300">
                  <a:moveTo>
                    <a:pt x="0" y="7112"/>
                  </a:moveTo>
                  <a:lnTo>
                    <a:pt x="85344" y="0"/>
                  </a:lnTo>
                  <a:lnTo>
                    <a:pt x="216916" y="49784"/>
                  </a:lnTo>
                  <a:lnTo>
                    <a:pt x="316484" y="32004"/>
                  </a:lnTo>
                  <a:lnTo>
                    <a:pt x="376936" y="32004"/>
                  </a:lnTo>
                  <a:lnTo>
                    <a:pt x="433832" y="74676"/>
                  </a:lnTo>
                  <a:lnTo>
                    <a:pt x="494284" y="131572"/>
                  </a:lnTo>
                  <a:lnTo>
                    <a:pt x="558292" y="103124"/>
                  </a:lnTo>
                  <a:lnTo>
                    <a:pt x="625856" y="184912"/>
                  </a:lnTo>
                  <a:lnTo>
                    <a:pt x="707644" y="241808"/>
                  </a:lnTo>
                  <a:lnTo>
                    <a:pt x="689864" y="380492"/>
                  </a:lnTo>
                  <a:lnTo>
                    <a:pt x="707644" y="430276"/>
                  </a:lnTo>
                  <a:lnTo>
                    <a:pt x="750316" y="487172"/>
                  </a:lnTo>
                  <a:lnTo>
                    <a:pt x="803656" y="515620"/>
                  </a:lnTo>
                  <a:lnTo>
                    <a:pt x="892556" y="501396"/>
                  </a:lnTo>
                  <a:lnTo>
                    <a:pt x="945896" y="455168"/>
                  </a:lnTo>
                  <a:lnTo>
                    <a:pt x="949452" y="416052"/>
                  </a:lnTo>
                  <a:lnTo>
                    <a:pt x="1070356" y="398272"/>
                  </a:lnTo>
                  <a:lnTo>
                    <a:pt x="1052576" y="504952"/>
                  </a:lnTo>
                  <a:lnTo>
                    <a:pt x="1024128" y="504952"/>
                  </a:lnTo>
                  <a:lnTo>
                    <a:pt x="949452" y="529844"/>
                  </a:lnTo>
                  <a:lnTo>
                    <a:pt x="913892" y="547624"/>
                  </a:lnTo>
                  <a:lnTo>
                    <a:pt x="885444" y="622300"/>
                  </a:lnTo>
                  <a:lnTo>
                    <a:pt x="803656" y="586740"/>
                  </a:lnTo>
                  <a:lnTo>
                    <a:pt x="732536" y="604520"/>
                  </a:lnTo>
                  <a:lnTo>
                    <a:pt x="643636" y="568960"/>
                  </a:lnTo>
                  <a:lnTo>
                    <a:pt x="554736" y="526288"/>
                  </a:lnTo>
                  <a:lnTo>
                    <a:pt x="423164" y="451612"/>
                  </a:lnTo>
                  <a:lnTo>
                    <a:pt x="405384" y="362712"/>
                  </a:lnTo>
                  <a:lnTo>
                    <a:pt x="341376" y="273812"/>
                  </a:lnTo>
                  <a:lnTo>
                    <a:pt x="277368" y="209804"/>
                  </a:lnTo>
                  <a:lnTo>
                    <a:pt x="216916" y="149352"/>
                  </a:lnTo>
                  <a:lnTo>
                    <a:pt x="152908" y="60452"/>
                  </a:lnTo>
                  <a:lnTo>
                    <a:pt x="85344" y="32004"/>
                  </a:lnTo>
                  <a:lnTo>
                    <a:pt x="138684" y="113792"/>
                  </a:lnTo>
                  <a:lnTo>
                    <a:pt x="188468" y="202692"/>
                  </a:lnTo>
                  <a:lnTo>
                    <a:pt x="252476" y="291592"/>
                  </a:lnTo>
                  <a:lnTo>
                    <a:pt x="270256" y="344932"/>
                  </a:lnTo>
                  <a:lnTo>
                    <a:pt x="241808" y="316484"/>
                  </a:lnTo>
                  <a:lnTo>
                    <a:pt x="174244" y="273812"/>
                  </a:lnTo>
                  <a:lnTo>
                    <a:pt x="99568" y="184912"/>
                  </a:lnTo>
                  <a:lnTo>
                    <a:pt x="46228" y="96012"/>
                  </a:lnTo>
                  <a:lnTo>
                    <a:pt x="3556" y="14224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08" name="Map colombia"/>
            <p:cNvSpPr/>
            <p:nvPr/>
          </p:nvSpPr>
          <p:spPr>
            <a:xfrm>
              <a:off x="2094992" y="2510028"/>
              <a:ext cx="423164" cy="583184"/>
            </a:xfrm>
            <a:custGeom>
              <a:avLst/>
              <a:gdLst/>
              <a:ahLst/>
              <a:cxnLst/>
              <a:rect l="0" t="0" r="r" b="b"/>
              <a:pathLst>
                <a:path w="423164" h="583184">
                  <a:moveTo>
                    <a:pt x="53340" y="124460"/>
                  </a:moveTo>
                  <a:lnTo>
                    <a:pt x="113792" y="49784"/>
                  </a:lnTo>
                  <a:lnTo>
                    <a:pt x="163576" y="32004"/>
                  </a:lnTo>
                  <a:lnTo>
                    <a:pt x="234696" y="0"/>
                  </a:lnTo>
                  <a:lnTo>
                    <a:pt x="266700" y="14224"/>
                  </a:lnTo>
                  <a:lnTo>
                    <a:pt x="241808" y="49784"/>
                  </a:lnTo>
                  <a:lnTo>
                    <a:pt x="216916" y="113792"/>
                  </a:lnTo>
                  <a:lnTo>
                    <a:pt x="238252" y="152908"/>
                  </a:lnTo>
                  <a:lnTo>
                    <a:pt x="309372" y="188468"/>
                  </a:lnTo>
                  <a:lnTo>
                    <a:pt x="391160" y="213360"/>
                  </a:lnTo>
                  <a:lnTo>
                    <a:pt x="401828" y="270256"/>
                  </a:lnTo>
                  <a:lnTo>
                    <a:pt x="398272" y="337820"/>
                  </a:lnTo>
                  <a:lnTo>
                    <a:pt x="423164" y="387604"/>
                  </a:lnTo>
                  <a:lnTo>
                    <a:pt x="320040" y="394716"/>
                  </a:lnTo>
                  <a:lnTo>
                    <a:pt x="334264" y="469392"/>
                  </a:lnTo>
                  <a:lnTo>
                    <a:pt x="316484" y="583184"/>
                  </a:lnTo>
                  <a:lnTo>
                    <a:pt x="224028" y="522732"/>
                  </a:lnTo>
                  <a:lnTo>
                    <a:pt x="124460" y="437388"/>
                  </a:lnTo>
                  <a:lnTo>
                    <a:pt x="64008" y="423164"/>
                  </a:lnTo>
                  <a:lnTo>
                    <a:pt x="28448" y="391160"/>
                  </a:lnTo>
                  <a:lnTo>
                    <a:pt x="0" y="384048"/>
                  </a:lnTo>
                  <a:lnTo>
                    <a:pt x="10668" y="334264"/>
                  </a:lnTo>
                  <a:lnTo>
                    <a:pt x="49784" y="291592"/>
                  </a:lnTo>
                  <a:lnTo>
                    <a:pt x="49784" y="220472"/>
                  </a:lnTo>
                  <a:lnTo>
                    <a:pt x="32004" y="17780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09" name="Map brazil"/>
            <p:cNvSpPr/>
            <p:nvPr/>
          </p:nvSpPr>
          <p:spPr>
            <a:xfrm>
              <a:off x="2283460" y="2758948"/>
              <a:ext cx="1376172" cy="1383284"/>
            </a:xfrm>
            <a:custGeom>
              <a:avLst/>
              <a:gdLst/>
              <a:ahLst/>
              <a:cxnLst/>
              <a:rect l="0" t="0" r="r" b="b"/>
              <a:pathLst>
                <a:path w="1376172" h="1383284">
                  <a:moveTo>
                    <a:pt x="778764" y="39116"/>
                  </a:moveTo>
                  <a:lnTo>
                    <a:pt x="835660" y="131572"/>
                  </a:lnTo>
                  <a:lnTo>
                    <a:pt x="817880" y="202692"/>
                  </a:lnTo>
                  <a:lnTo>
                    <a:pt x="889000" y="227584"/>
                  </a:lnTo>
                  <a:lnTo>
                    <a:pt x="1031240" y="273812"/>
                  </a:lnTo>
                  <a:lnTo>
                    <a:pt x="1155700" y="288036"/>
                  </a:lnTo>
                  <a:lnTo>
                    <a:pt x="1262380" y="327152"/>
                  </a:lnTo>
                  <a:lnTo>
                    <a:pt x="1361948" y="376936"/>
                  </a:lnTo>
                  <a:lnTo>
                    <a:pt x="1376172" y="444500"/>
                  </a:lnTo>
                  <a:lnTo>
                    <a:pt x="1351280" y="522732"/>
                  </a:lnTo>
                  <a:lnTo>
                    <a:pt x="1290828" y="593852"/>
                  </a:lnTo>
                  <a:lnTo>
                    <a:pt x="1244600" y="647192"/>
                  </a:lnTo>
                  <a:lnTo>
                    <a:pt x="1226820" y="753872"/>
                  </a:lnTo>
                  <a:lnTo>
                    <a:pt x="1201928" y="878332"/>
                  </a:lnTo>
                  <a:lnTo>
                    <a:pt x="1155700" y="967232"/>
                  </a:lnTo>
                  <a:lnTo>
                    <a:pt x="1084580" y="1002792"/>
                  </a:lnTo>
                  <a:lnTo>
                    <a:pt x="995680" y="1031240"/>
                  </a:lnTo>
                  <a:lnTo>
                    <a:pt x="889000" y="1109472"/>
                  </a:lnTo>
                  <a:lnTo>
                    <a:pt x="885444" y="1198372"/>
                  </a:lnTo>
                  <a:lnTo>
                    <a:pt x="835660" y="1251712"/>
                  </a:lnTo>
                  <a:lnTo>
                    <a:pt x="757428" y="1340612"/>
                  </a:lnTo>
                  <a:lnTo>
                    <a:pt x="714756" y="1383284"/>
                  </a:lnTo>
                  <a:lnTo>
                    <a:pt x="704088" y="1322832"/>
                  </a:lnTo>
                  <a:lnTo>
                    <a:pt x="657860" y="1283716"/>
                  </a:lnTo>
                  <a:lnTo>
                    <a:pt x="622300" y="1258824"/>
                  </a:lnTo>
                  <a:lnTo>
                    <a:pt x="565404" y="1258824"/>
                  </a:lnTo>
                  <a:lnTo>
                    <a:pt x="622300" y="1205484"/>
                  </a:lnTo>
                  <a:lnTo>
                    <a:pt x="672084" y="1155700"/>
                  </a:lnTo>
                  <a:lnTo>
                    <a:pt x="704088" y="1116584"/>
                  </a:lnTo>
                  <a:lnTo>
                    <a:pt x="672084" y="1095248"/>
                  </a:lnTo>
                  <a:lnTo>
                    <a:pt x="675640" y="1038352"/>
                  </a:lnTo>
                  <a:lnTo>
                    <a:pt x="632968" y="974344"/>
                  </a:lnTo>
                  <a:lnTo>
                    <a:pt x="554736" y="970788"/>
                  </a:lnTo>
                  <a:lnTo>
                    <a:pt x="544068" y="889000"/>
                  </a:lnTo>
                  <a:lnTo>
                    <a:pt x="551180" y="824992"/>
                  </a:lnTo>
                  <a:lnTo>
                    <a:pt x="544068" y="764540"/>
                  </a:lnTo>
                  <a:lnTo>
                    <a:pt x="480060" y="764540"/>
                  </a:lnTo>
                  <a:lnTo>
                    <a:pt x="462280" y="672084"/>
                  </a:lnTo>
                  <a:lnTo>
                    <a:pt x="373380" y="611632"/>
                  </a:lnTo>
                  <a:lnTo>
                    <a:pt x="288036" y="554736"/>
                  </a:lnTo>
                  <a:lnTo>
                    <a:pt x="170688" y="629412"/>
                  </a:lnTo>
                  <a:lnTo>
                    <a:pt x="138684" y="576072"/>
                  </a:lnTo>
                  <a:lnTo>
                    <a:pt x="103124" y="576072"/>
                  </a:lnTo>
                  <a:lnTo>
                    <a:pt x="53340" y="547624"/>
                  </a:lnTo>
                  <a:lnTo>
                    <a:pt x="17780" y="504952"/>
                  </a:lnTo>
                  <a:lnTo>
                    <a:pt x="0" y="444500"/>
                  </a:lnTo>
                  <a:lnTo>
                    <a:pt x="32004" y="380492"/>
                  </a:lnTo>
                  <a:lnTo>
                    <a:pt x="106680" y="334264"/>
                  </a:lnTo>
                  <a:lnTo>
                    <a:pt x="128016" y="334264"/>
                  </a:lnTo>
                  <a:lnTo>
                    <a:pt x="145796" y="220472"/>
                  </a:lnTo>
                  <a:lnTo>
                    <a:pt x="131572" y="145796"/>
                  </a:lnTo>
                  <a:lnTo>
                    <a:pt x="234696" y="138684"/>
                  </a:lnTo>
                  <a:lnTo>
                    <a:pt x="320040" y="96012"/>
                  </a:lnTo>
                  <a:lnTo>
                    <a:pt x="337820" y="42672"/>
                  </a:lnTo>
                  <a:lnTo>
                    <a:pt x="391160" y="35560"/>
                  </a:lnTo>
                  <a:lnTo>
                    <a:pt x="455168" y="0"/>
                  </a:lnTo>
                  <a:lnTo>
                    <a:pt x="497840" y="128016"/>
                  </a:lnTo>
                  <a:lnTo>
                    <a:pt x="604520" y="113792"/>
                  </a:lnTo>
                  <a:lnTo>
                    <a:pt x="675640" y="103124"/>
                  </a:lnTo>
                  <a:lnTo>
                    <a:pt x="778764" y="39116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10" name="Map chile"/>
            <p:cNvSpPr/>
            <p:nvPr/>
          </p:nvSpPr>
          <p:spPr>
            <a:xfrm>
              <a:off x="2215896" y="3569716"/>
              <a:ext cx="288036" cy="1340612"/>
            </a:xfrm>
            <a:custGeom>
              <a:avLst/>
              <a:gdLst/>
              <a:ahLst/>
              <a:cxnLst/>
              <a:rect l="0" t="0" r="r" b="b"/>
              <a:pathLst>
                <a:path w="288036" h="1340612">
                  <a:moveTo>
                    <a:pt x="177800" y="24892"/>
                  </a:moveTo>
                  <a:lnTo>
                    <a:pt x="184912" y="85344"/>
                  </a:lnTo>
                  <a:lnTo>
                    <a:pt x="184912" y="192024"/>
                  </a:lnTo>
                  <a:lnTo>
                    <a:pt x="170688" y="298704"/>
                  </a:lnTo>
                  <a:lnTo>
                    <a:pt x="138684" y="440944"/>
                  </a:lnTo>
                  <a:lnTo>
                    <a:pt x="135128" y="547624"/>
                  </a:lnTo>
                  <a:lnTo>
                    <a:pt x="110236" y="654304"/>
                  </a:lnTo>
                  <a:lnTo>
                    <a:pt x="74676" y="743204"/>
                  </a:lnTo>
                  <a:lnTo>
                    <a:pt x="64008" y="832104"/>
                  </a:lnTo>
                  <a:lnTo>
                    <a:pt x="56896" y="921004"/>
                  </a:lnTo>
                  <a:lnTo>
                    <a:pt x="0" y="1027684"/>
                  </a:lnTo>
                  <a:lnTo>
                    <a:pt x="49784" y="1152144"/>
                  </a:lnTo>
                  <a:lnTo>
                    <a:pt x="7112" y="1241044"/>
                  </a:lnTo>
                  <a:lnTo>
                    <a:pt x="85344" y="1294384"/>
                  </a:lnTo>
                  <a:lnTo>
                    <a:pt x="192024" y="1340612"/>
                  </a:lnTo>
                  <a:lnTo>
                    <a:pt x="248920" y="1329944"/>
                  </a:lnTo>
                  <a:lnTo>
                    <a:pt x="241808" y="1244600"/>
                  </a:lnTo>
                  <a:lnTo>
                    <a:pt x="227584" y="1230376"/>
                  </a:lnTo>
                  <a:lnTo>
                    <a:pt x="106680" y="1209040"/>
                  </a:lnTo>
                  <a:lnTo>
                    <a:pt x="103124" y="1081024"/>
                  </a:lnTo>
                  <a:lnTo>
                    <a:pt x="128016" y="1009904"/>
                  </a:lnTo>
                  <a:lnTo>
                    <a:pt x="128016" y="903224"/>
                  </a:lnTo>
                  <a:lnTo>
                    <a:pt x="120904" y="849884"/>
                  </a:lnTo>
                  <a:lnTo>
                    <a:pt x="135128" y="778764"/>
                  </a:lnTo>
                  <a:lnTo>
                    <a:pt x="156464" y="689864"/>
                  </a:lnTo>
                  <a:lnTo>
                    <a:pt x="163576" y="618744"/>
                  </a:lnTo>
                  <a:lnTo>
                    <a:pt x="184912" y="547624"/>
                  </a:lnTo>
                  <a:lnTo>
                    <a:pt x="192024" y="440944"/>
                  </a:lnTo>
                  <a:lnTo>
                    <a:pt x="227584" y="369824"/>
                  </a:lnTo>
                  <a:lnTo>
                    <a:pt x="248920" y="316484"/>
                  </a:lnTo>
                  <a:lnTo>
                    <a:pt x="288036" y="234696"/>
                  </a:lnTo>
                  <a:lnTo>
                    <a:pt x="266700" y="188468"/>
                  </a:lnTo>
                  <a:lnTo>
                    <a:pt x="248920" y="138684"/>
                  </a:lnTo>
                  <a:lnTo>
                    <a:pt x="245364" y="67564"/>
                  </a:lnTo>
                  <a:lnTo>
                    <a:pt x="227584" y="32004"/>
                  </a:lnTo>
                  <a:lnTo>
                    <a:pt x="209804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11" name="Map argentina"/>
            <p:cNvSpPr/>
            <p:nvPr/>
          </p:nvSpPr>
          <p:spPr>
            <a:xfrm>
              <a:off x="2319020" y="3733292"/>
              <a:ext cx="668528" cy="1073912"/>
            </a:xfrm>
            <a:custGeom>
              <a:avLst/>
              <a:gdLst/>
              <a:ahLst/>
              <a:cxnLst/>
              <a:rect l="0" t="0" r="r" b="b"/>
              <a:pathLst>
                <a:path w="668528" h="1073912">
                  <a:moveTo>
                    <a:pt x="529844" y="284480"/>
                  </a:moveTo>
                  <a:lnTo>
                    <a:pt x="586740" y="231140"/>
                  </a:lnTo>
                  <a:lnTo>
                    <a:pt x="636524" y="181356"/>
                  </a:lnTo>
                  <a:lnTo>
                    <a:pt x="668528" y="142240"/>
                  </a:lnTo>
                  <a:lnTo>
                    <a:pt x="636524" y="120904"/>
                  </a:lnTo>
                  <a:lnTo>
                    <a:pt x="590296" y="184912"/>
                  </a:lnTo>
                  <a:lnTo>
                    <a:pt x="494284" y="181356"/>
                  </a:lnTo>
                  <a:lnTo>
                    <a:pt x="519176" y="110236"/>
                  </a:lnTo>
                  <a:lnTo>
                    <a:pt x="444500" y="67564"/>
                  </a:lnTo>
                  <a:lnTo>
                    <a:pt x="352044" y="3556"/>
                  </a:lnTo>
                  <a:lnTo>
                    <a:pt x="291592" y="21336"/>
                  </a:lnTo>
                  <a:lnTo>
                    <a:pt x="231140" y="0"/>
                  </a:lnTo>
                  <a:lnTo>
                    <a:pt x="163576" y="24892"/>
                  </a:lnTo>
                  <a:lnTo>
                    <a:pt x="184912" y="71120"/>
                  </a:lnTo>
                  <a:lnTo>
                    <a:pt x="145796" y="152908"/>
                  </a:lnTo>
                  <a:lnTo>
                    <a:pt x="124460" y="206248"/>
                  </a:lnTo>
                  <a:lnTo>
                    <a:pt x="88900" y="277368"/>
                  </a:lnTo>
                  <a:lnTo>
                    <a:pt x="81788" y="384048"/>
                  </a:lnTo>
                  <a:lnTo>
                    <a:pt x="60452" y="455168"/>
                  </a:lnTo>
                  <a:lnTo>
                    <a:pt x="53340" y="526288"/>
                  </a:lnTo>
                  <a:lnTo>
                    <a:pt x="32004" y="615188"/>
                  </a:lnTo>
                  <a:lnTo>
                    <a:pt x="17780" y="686308"/>
                  </a:lnTo>
                  <a:lnTo>
                    <a:pt x="24892" y="739648"/>
                  </a:lnTo>
                  <a:lnTo>
                    <a:pt x="24892" y="846328"/>
                  </a:lnTo>
                  <a:lnTo>
                    <a:pt x="0" y="917448"/>
                  </a:lnTo>
                  <a:lnTo>
                    <a:pt x="3556" y="1045464"/>
                  </a:lnTo>
                  <a:lnTo>
                    <a:pt x="124460" y="1066800"/>
                  </a:lnTo>
                  <a:lnTo>
                    <a:pt x="145796" y="1073912"/>
                  </a:lnTo>
                  <a:lnTo>
                    <a:pt x="177800" y="988568"/>
                  </a:lnTo>
                  <a:lnTo>
                    <a:pt x="231140" y="910336"/>
                  </a:lnTo>
                  <a:lnTo>
                    <a:pt x="177800" y="846328"/>
                  </a:lnTo>
                  <a:lnTo>
                    <a:pt x="238252" y="810768"/>
                  </a:lnTo>
                  <a:lnTo>
                    <a:pt x="248920" y="757428"/>
                  </a:lnTo>
                  <a:lnTo>
                    <a:pt x="284480" y="721868"/>
                  </a:lnTo>
                  <a:lnTo>
                    <a:pt x="320040" y="675640"/>
                  </a:lnTo>
                  <a:lnTo>
                    <a:pt x="362712" y="654304"/>
                  </a:lnTo>
                  <a:lnTo>
                    <a:pt x="366268" y="597408"/>
                  </a:lnTo>
                  <a:lnTo>
                    <a:pt x="426720" y="572516"/>
                  </a:lnTo>
                  <a:lnTo>
                    <a:pt x="529844" y="561848"/>
                  </a:lnTo>
                  <a:lnTo>
                    <a:pt x="536956" y="504952"/>
                  </a:lnTo>
                  <a:lnTo>
                    <a:pt x="501396" y="430276"/>
                  </a:lnTo>
                  <a:lnTo>
                    <a:pt x="501396" y="405384"/>
                  </a:lnTo>
                  <a:lnTo>
                    <a:pt x="508508" y="362712"/>
                  </a:lnTo>
                  <a:lnTo>
                    <a:pt x="515620" y="31292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12" name="Map uruguay"/>
            <p:cNvSpPr/>
            <p:nvPr/>
          </p:nvSpPr>
          <p:spPr>
            <a:xfrm>
              <a:off x="2820416" y="4017772"/>
              <a:ext cx="177800" cy="167132"/>
            </a:xfrm>
            <a:custGeom>
              <a:avLst/>
              <a:gdLst/>
              <a:ahLst/>
              <a:cxnLst/>
              <a:rect l="0" t="0" r="r" b="b"/>
              <a:pathLst>
                <a:path w="177800" h="167132">
                  <a:moveTo>
                    <a:pt x="177800" y="124460"/>
                  </a:moveTo>
                  <a:lnTo>
                    <a:pt x="167132" y="64008"/>
                  </a:lnTo>
                  <a:lnTo>
                    <a:pt x="120904" y="24892"/>
                  </a:lnTo>
                  <a:lnTo>
                    <a:pt x="85344" y="0"/>
                  </a:lnTo>
                  <a:lnTo>
                    <a:pt x="28448" y="0"/>
                  </a:lnTo>
                  <a:lnTo>
                    <a:pt x="7112" y="78232"/>
                  </a:lnTo>
                  <a:lnTo>
                    <a:pt x="0" y="120904"/>
                  </a:lnTo>
                  <a:lnTo>
                    <a:pt x="21336" y="152908"/>
                  </a:lnTo>
                  <a:lnTo>
                    <a:pt x="85344" y="167132"/>
                  </a:lnTo>
                  <a:lnTo>
                    <a:pt x="149352" y="16002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FFFFFF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cxnSp>
          <p:nvCxnSpPr>
            <p:cNvPr id="1013" name="Map leader"/>
            <p:cNvCxnSpPr/>
            <p:nvPr/>
          </p:nvCxnSpPr>
          <p:spPr>
            <a:xfrm flipV="1">
              <a:off x="1066800" y="2250440"/>
              <a:ext cx="203200" cy="137160"/>
            </a:xfrm>
            <a:prstGeom prst="line">
              <a:avLst/>
            </a:prstGeom>
            <a:ln w="9525">
              <a:solidFill>
                <a:schemeClr val="tx2"/>
              </a:solidFill>
            </a:ln>
          </p:spPr>
        </p:cxnSp>
        <p:sp>
          <p:nvSpPr>
            <p:cNvPr id="1014" name="Map label Mexico"/>
            <p:cNvSpPr txBox="1"/>
            <p:nvPr/>
          </p:nvSpPr>
          <p:spPr>
            <a:xfrm>
              <a:off x="609600" y="2387600"/>
              <a:ext cx="762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GB" sz="1300" b="1" dirty="0">
                  <a:solidFill>
                    <a:schemeClr val="tx2"/>
                  </a:solidFill>
                </a:rPr>
                <a:t>Mexico</a:t>
              </a:r>
            </a:p>
          </p:txBody>
        </p:sp>
        <p:cxnSp>
          <p:nvCxnSpPr>
            <p:cNvPr id="1015" name="Map leader"/>
            <p:cNvCxnSpPr/>
            <p:nvPr/>
          </p:nvCxnSpPr>
          <p:spPr>
            <a:xfrm flipV="1">
              <a:off x="1752600" y="2819400"/>
              <a:ext cx="495300" cy="12700"/>
            </a:xfrm>
            <a:prstGeom prst="line">
              <a:avLst/>
            </a:prstGeom>
            <a:ln w="9525">
              <a:solidFill>
                <a:schemeClr val="tx2"/>
              </a:solidFill>
            </a:ln>
          </p:spPr>
        </p:cxnSp>
        <p:sp>
          <p:nvSpPr>
            <p:cNvPr id="1016" name="Map label Colombia"/>
            <p:cNvSpPr txBox="1"/>
            <p:nvPr/>
          </p:nvSpPr>
          <p:spPr>
            <a:xfrm>
              <a:off x="787400" y="2717800"/>
              <a:ext cx="9398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GB" sz="1300" b="1" dirty="0">
                  <a:solidFill>
                    <a:schemeClr val="tx2"/>
                  </a:solidFill>
                </a:rPr>
                <a:t>Colombia</a:t>
              </a:r>
            </a:p>
          </p:txBody>
        </p:sp>
        <p:cxnSp>
          <p:nvCxnSpPr>
            <p:cNvPr id="1017" name="Map leader"/>
            <p:cNvCxnSpPr/>
            <p:nvPr/>
          </p:nvCxnSpPr>
          <p:spPr>
            <a:xfrm>
              <a:off x="1854200" y="4117340"/>
              <a:ext cx="511048" cy="0"/>
            </a:xfrm>
            <a:prstGeom prst="line">
              <a:avLst/>
            </a:prstGeom>
            <a:ln w="9525">
              <a:solidFill>
                <a:schemeClr val="tx2"/>
              </a:solidFill>
            </a:ln>
          </p:spPr>
        </p:cxnSp>
        <p:sp>
          <p:nvSpPr>
            <p:cNvPr id="1018" name="Map label Chile"/>
            <p:cNvSpPr txBox="1"/>
            <p:nvPr/>
          </p:nvSpPr>
          <p:spPr>
            <a:xfrm>
              <a:off x="1270000" y="4003040"/>
              <a:ext cx="5588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GB" sz="1300" b="1" dirty="0">
                  <a:solidFill>
                    <a:schemeClr val="tx2"/>
                  </a:solidFill>
                </a:rPr>
                <a:t>Chile</a:t>
              </a:r>
            </a:p>
          </p:txBody>
        </p:sp>
        <p:cxnSp>
          <p:nvCxnSpPr>
            <p:cNvPr id="1019" name="Map leader"/>
            <p:cNvCxnSpPr/>
            <p:nvPr/>
          </p:nvCxnSpPr>
          <p:spPr>
            <a:xfrm>
              <a:off x="2514600" y="4508500"/>
              <a:ext cx="482600" cy="63500"/>
            </a:xfrm>
            <a:prstGeom prst="line">
              <a:avLst/>
            </a:prstGeom>
            <a:ln w="9525">
              <a:solidFill>
                <a:schemeClr val="tx2"/>
              </a:solidFill>
            </a:ln>
          </p:spPr>
        </p:cxnSp>
        <p:sp>
          <p:nvSpPr>
            <p:cNvPr id="1020" name="Map label Argentina"/>
            <p:cNvSpPr txBox="1"/>
            <p:nvPr/>
          </p:nvSpPr>
          <p:spPr>
            <a:xfrm>
              <a:off x="3048000" y="4457700"/>
              <a:ext cx="10668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GB" sz="1300" b="1" dirty="0">
                  <a:solidFill>
                    <a:schemeClr val="tx2"/>
                  </a:solidFill>
                </a:rPr>
                <a:t>Argentina</a:t>
              </a:r>
            </a:p>
          </p:txBody>
        </p:sp>
        <p:cxnSp>
          <p:nvCxnSpPr>
            <p:cNvPr id="1021" name="Map leader"/>
            <p:cNvCxnSpPr/>
            <p:nvPr/>
          </p:nvCxnSpPr>
          <p:spPr>
            <a:xfrm>
              <a:off x="2905760" y="4128008"/>
              <a:ext cx="497840" cy="0"/>
            </a:xfrm>
            <a:prstGeom prst="line">
              <a:avLst/>
            </a:prstGeom>
            <a:ln w="9525">
              <a:solidFill>
                <a:schemeClr val="tx2"/>
              </a:solidFill>
            </a:ln>
          </p:spPr>
        </p:cxnSp>
        <p:sp>
          <p:nvSpPr>
            <p:cNvPr id="1022" name="Map label Uruguay"/>
            <p:cNvSpPr txBox="1"/>
            <p:nvPr/>
          </p:nvSpPr>
          <p:spPr>
            <a:xfrm>
              <a:off x="3454400" y="4013708"/>
              <a:ext cx="889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GB" sz="1300" b="1" dirty="0">
                  <a:solidFill>
                    <a:schemeClr val="tx2"/>
                  </a:solidFill>
                </a:rPr>
                <a:t>Uruguay</a:t>
              </a:r>
            </a:p>
          </p:txBody>
        </p:sp>
        <p:sp>
          <p:nvSpPr>
            <p:cNvPr id="1023" name="Map label Brazil"/>
            <p:cNvSpPr txBox="1"/>
            <p:nvPr/>
          </p:nvSpPr>
          <p:spPr>
            <a:xfrm>
              <a:off x="2667000" y="3185160"/>
              <a:ext cx="762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GB" sz="1300" b="1" dirty="0">
                  <a:solidFill>
                    <a:schemeClr val="bg1"/>
                  </a:solidFill>
                </a:rPr>
                <a:t>Brazil</a:t>
              </a:r>
            </a:p>
          </p:txBody>
        </p:sp>
      </p:grpSp>
      <p:sp>
        <p:nvSpPr>
          <p:cNvPr id="1025" name="Map note"/>
          <p:cNvSpPr txBox="1"/>
          <p:nvPr/>
        </p:nvSpPr>
        <p:spPr>
          <a:xfrm>
            <a:off x="457200" y="5003800"/>
            <a:ext cx="3962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GB" sz="1300" dirty="0">
                <a:solidFill>
                  <a:srgbClr val="595959"/>
                </a:solidFill>
              </a:rPr>
              <a:t>Simplified outlines, not to scale</a:t>
            </a:r>
          </a:p>
        </p:txBody>
      </p:sp>
    </p:spTree>
    <p:extLst>
      <p:ext uri="{BB962C8B-B14F-4D97-AF65-F5344CB8AC3E}">
        <p14:creationId xmlns:p14="http://schemas.microsoft.com/office/powerpoint/2010/main" val="391517542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GB" dirty="0"/>
              <a:t>Assessment strategy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287338" y="2642907"/>
            <a:ext cx="4284662" cy="805551"/>
          </a:xfrm>
        </p:spPr>
        <p:txBody>
          <a:bodyPr/>
          <a:lstStyle/>
          <a:p>
            <a:pPr lvl="0"/>
            <a:r>
              <a:rPr lang="en-GB" dirty="0"/>
              <a:t>Three group presentations, self-reflection and peer review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Business Projects WT 2026/27 | Julius Meinl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27154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Overview of the presentations</a:t>
            </a:r>
          </a:p>
        </p:txBody>
      </p:sp>
      <p:graphicFrame>
        <p:nvGraphicFramePr>
          <p:cNvPr id="7" name="Inhaltsplatzhalter 5"/>
          <p:cNvGraphicFramePr>
            <a:graphicFrameLocks/>
          </p:cNvGraphicFramePr>
          <p:nvPr/>
        </p:nvGraphicFramePr>
        <p:xfrm>
          <a:off x="468313" y="1498600"/>
          <a:ext cx="8135938" cy="287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5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GB" sz="1300" dirty="0"/>
                        <a:t>Presentation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Length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Weight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Focus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GB" sz="1300" dirty="0"/>
                        <a:t>1  Content presentation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15 min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20 %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Market selection tools: theory, real-world applications, pitfalls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GB" sz="1300" dirty="0"/>
                        <a:t>2  Midterm presentation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20 min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30 %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Country scoring and industry analysis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GB" sz="1300" dirty="0"/>
                        <a:t>3  Final presentation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25 min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30 %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Marketing implementation plan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44755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/>
          <p:cNvSpPr>
            <a:spLocks noGrp="1"/>
          </p:cNvSpPr>
          <p:nvPr>
            <p:ph idx="1"/>
          </p:nvPr>
        </p:nvSpPr>
        <p:spPr>
          <a:xfrm>
            <a:off x="457200" y="2006600"/>
            <a:ext cx="8229600" cy="3175000"/>
          </a:xfrm>
        </p:spPr>
        <p:txBody>
          <a:bodyPr>
            <a:normAutofit/>
          </a:bodyPr>
          <a:lstStyle/>
          <a:p>
            <a:pPr lvl="0">
              <a:spcBef>
                <a:spcPts val="700"/>
              </a:spcBef>
            </a:pPr>
            <a:r>
              <a:rPr lang="en-GB" sz="1300" dirty="0"/>
              <a:t>Review the tools companies use to screen, compare and select international markets</a:t>
            </a:r>
          </a:p>
          <a:p>
            <a:pPr lvl="0">
              <a:spcBef>
                <a:spcPts val="700"/>
              </a:spcBef>
            </a:pPr>
            <a:r>
              <a:rPr lang="en-GB" sz="1300" dirty="0"/>
              <a:t>Cover the theory, real-world applications and typical pitfalls (e.g., data availability, subjective weighting, outdated indicators)</a:t>
            </a:r>
          </a:p>
          <a:p>
            <a:pPr lvl="0">
              <a:spcBef>
                <a:spcPts val="700"/>
              </a:spcBef>
            </a:pPr>
            <a:r>
              <a:rPr lang="en-GB" sz="1300" dirty="0"/>
              <a:t>Recommend the tool best suited to compare the six Latin American markets for Julius Meinl</a:t>
            </a:r>
          </a:p>
          <a:p>
            <a:pPr lvl="0">
              <a:spcBef>
                <a:spcPts val="700"/>
              </a:spcBef>
            </a:pPr>
            <a:r>
              <a:rPr lang="en-GB" sz="1300" dirty="0"/>
              <a:t>Format: max. 15 minutes and 15 slides, information-rich with clear visualizations</a:t>
            </a:r>
          </a:p>
          <a:p>
            <a:pPr lvl="0">
              <a:spcBef>
                <a:spcPts val="700"/>
              </a:spcBef>
            </a:pPr>
            <a:r>
              <a:rPr lang="en-GB" sz="1300" dirty="0"/>
              <a:t>Document all sources in a separate Excel sheet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Presentation 1: market selection tools</a:t>
            </a:r>
          </a:p>
        </p:txBody>
      </p:sp>
      <p:sp>
        <p:nvSpPr>
          <p:cNvPr id="500" name="Progress step 1"/>
          <p:cNvSpPr/>
          <p:nvPr/>
        </p:nvSpPr>
        <p:spPr>
          <a:xfrm>
            <a:off x="457200" y="1244600"/>
            <a:ext cx="2692400" cy="533400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txBody>
          <a:bodyPr wrap="square" lIns="152400" tIns="0" rIns="304800" bIns="0" anchor="ctr">
            <a:noAutofit/>
          </a:bodyPr>
          <a:lstStyle/>
          <a:p>
            <a:pPr algn="l"/>
            <a:r>
              <a:rPr lang="en-GB" sz="1300" b="1" dirty="0">
                <a:solidFill>
                  <a:schemeClr val="bg1"/>
                </a:solidFill>
              </a:rPr>
              <a:t>1 Content</a:t>
            </a:r>
          </a:p>
          <a:p>
            <a:pPr algn="l"/>
            <a:r>
              <a:rPr lang="en-GB" sz="1300" dirty="0">
                <a:solidFill>
                  <a:schemeClr val="bg1"/>
                </a:solidFill>
              </a:rPr>
              <a:t>15 min · 20 %</a:t>
            </a:r>
          </a:p>
        </p:txBody>
      </p:sp>
      <p:sp>
        <p:nvSpPr>
          <p:cNvPr id="501" name="Progress step 2"/>
          <p:cNvSpPr/>
          <p:nvPr/>
        </p:nvSpPr>
        <p:spPr>
          <a:xfrm>
            <a:off x="3225800" y="1244600"/>
            <a:ext cx="2692400" cy="533400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txBody>
          <a:bodyPr wrap="square" lIns="152400" tIns="0" rIns="304800" bIns="0" anchor="ctr">
            <a:noAutofit/>
          </a:bodyPr>
          <a:lstStyle/>
          <a:p>
            <a:pPr algn="l"/>
            <a:r>
              <a:rPr lang="en-GB" sz="1300" b="1" dirty="0">
                <a:solidFill>
                  <a:schemeClr val="tx2"/>
                </a:solidFill>
              </a:rPr>
              <a:t>2 Midterm</a:t>
            </a:r>
          </a:p>
          <a:p>
            <a:pPr algn="l"/>
            <a:r>
              <a:rPr lang="en-GB" sz="1300" dirty="0">
                <a:solidFill>
                  <a:schemeClr val="tx1"/>
                </a:solidFill>
              </a:rPr>
              <a:t>20 min · 30 %</a:t>
            </a:r>
          </a:p>
        </p:txBody>
      </p:sp>
      <p:sp>
        <p:nvSpPr>
          <p:cNvPr id="502" name="Progress step 3"/>
          <p:cNvSpPr/>
          <p:nvPr/>
        </p:nvSpPr>
        <p:spPr>
          <a:xfrm>
            <a:off x="5994400" y="1244600"/>
            <a:ext cx="2692400" cy="533400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txBody>
          <a:bodyPr wrap="square" lIns="152400" tIns="0" rIns="304800" bIns="0" anchor="ctr">
            <a:noAutofit/>
          </a:bodyPr>
          <a:lstStyle/>
          <a:p>
            <a:pPr algn="l"/>
            <a:r>
              <a:rPr lang="en-GB" sz="1300" b="1" dirty="0">
                <a:solidFill>
                  <a:schemeClr val="tx2"/>
                </a:solidFill>
              </a:rPr>
              <a:t>3 Final</a:t>
            </a:r>
          </a:p>
          <a:p>
            <a:pPr algn="l"/>
            <a:r>
              <a:rPr lang="en-GB" sz="1300" dirty="0">
                <a:solidFill>
                  <a:schemeClr val="tx1"/>
                </a:solidFill>
              </a:rPr>
              <a:t>25 min · 30 %</a:t>
            </a:r>
          </a:p>
        </p:txBody>
      </p:sp>
    </p:spTree>
    <p:extLst>
      <p:ext uri="{BB962C8B-B14F-4D97-AF65-F5344CB8AC3E}">
        <p14:creationId xmlns:p14="http://schemas.microsoft.com/office/powerpoint/2010/main" val="183019374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half" idx="1"/>
          </p:nvPr>
        </p:nvSpPr>
        <p:spPr>
          <a:xfrm>
            <a:off x="457200" y="2768600"/>
            <a:ext cx="3886200" cy="2438400"/>
          </a:xfrm>
        </p:spPr>
        <p:txBody>
          <a:bodyPr>
            <a:normAutofit/>
          </a:bodyPr>
          <a:lstStyle/>
          <a:p>
            <a:pPr lvl="0"/>
            <a:r>
              <a:rPr lang="en-GB" sz="1300" dirty="0"/>
              <a:t>One common model: PESTEL criteria and fixed weights for all groups</a:t>
            </a:r>
          </a:p>
          <a:p>
            <a:pPr lvl="0"/>
            <a:r>
              <a:rPr lang="en-GB" sz="1300" dirty="0"/>
              <a:t>Collect and document the data of your allocated country</a:t>
            </a:r>
          </a:p>
          <a:p>
            <a:pPr lvl="0"/>
            <a:r>
              <a:rPr lang="en-GB" sz="1300" dirty="0"/>
              <a:t>Rank of your country among the six, scores by dimension</a:t>
            </a:r>
          </a:p>
          <a:p>
            <a:pPr lvl="0"/>
            <a:r>
              <a:rPr lang="en-GB" sz="1300" dirty="0"/>
              <a:t>Test robustness with the alternative weight sets provided</a:t>
            </a:r>
          </a:p>
          <a:p>
            <a:pPr lvl="0"/>
            <a:r>
              <a:rPr lang="en-GB" sz="1300" dirty="0"/>
              <a:t>Submit one Excel file and one presentation file (20 slides plus appendix); end with a justified recommendation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half" idx="2"/>
          </p:nvPr>
        </p:nvSpPr>
        <p:spPr>
          <a:xfrm>
            <a:off x="4724400" y="2768600"/>
            <a:ext cx="3962400" cy="2438400"/>
          </a:xfrm>
        </p:spPr>
        <p:txBody>
          <a:bodyPr>
            <a:normAutofit/>
          </a:bodyPr>
          <a:lstStyle/>
          <a:p>
            <a:pPr lvl="0"/>
            <a:r>
              <a:rPr lang="en-GB" sz="1300" dirty="0"/>
              <a:t>Statistics from the allocated country</a:t>
            </a:r>
          </a:p>
          <a:p>
            <a:pPr lvl="0"/>
            <a:r>
              <a:rPr lang="en-GB" sz="1300" dirty="0"/>
              <a:t>Hotels and restaurants</a:t>
            </a:r>
          </a:p>
          <a:p>
            <a:pPr lvl="0"/>
            <a:r>
              <a:rPr lang="en-GB" sz="1300" dirty="0"/>
              <a:t>Cafes</a:t>
            </a:r>
          </a:p>
          <a:p>
            <a:pPr lvl="0"/>
            <a:r>
              <a:rPr lang="en-GB" sz="1300" dirty="0"/>
              <a:t>Private end customers</a:t>
            </a:r>
          </a:p>
          <a:p>
            <a:pPr lvl="0"/>
            <a:r>
              <a:rPr lang="en-GB" sz="1300" dirty="0"/>
              <a:t>Value chain, rules of the game</a:t>
            </a:r>
          </a:p>
          <a:p>
            <a:pPr lvl="0"/>
            <a:r>
              <a:rPr lang="en-GB" sz="1300" dirty="0"/>
              <a:t>Trends and online scan of prices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idx="13"/>
          </p:nvPr>
        </p:nvSpPr>
        <p:spPr>
          <a:xfrm>
            <a:off x="457200" y="2006600"/>
            <a:ext cx="3886200" cy="660400"/>
          </a:xfrm>
        </p:spPr>
        <p:txBody>
          <a:bodyPr/>
          <a:lstStyle/>
          <a:p>
            <a:pPr lvl="0"/>
            <a:r>
              <a:rPr lang="en-GB" sz="1600" dirty="0"/>
              <a:t>Part A: Scoring method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Presentation 2: midterm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7"/>
          </p:nvPr>
        </p:nvSpPr>
        <p:spPr>
          <a:xfrm>
            <a:off x="4724400" y="2006600"/>
            <a:ext cx="3962400" cy="660400"/>
          </a:xfrm>
        </p:spPr>
        <p:txBody>
          <a:bodyPr/>
          <a:lstStyle/>
          <a:p>
            <a:pPr lvl="0"/>
            <a:r>
              <a:rPr lang="en-GB" sz="1600" dirty="0"/>
              <a:t>Part B: Industry analysis</a:t>
            </a:r>
          </a:p>
        </p:txBody>
      </p:sp>
      <p:sp>
        <p:nvSpPr>
          <p:cNvPr id="500" name="Progress step 1"/>
          <p:cNvSpPr/>
          <p:nvPr/>
        </p:nvSpPr>
        <p:spPr>
          <a:xfrm>
            <a:off x="457200" y="1244600"/>
            <a:ext cx="2692400" cy="533400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txBody>
          <a:bodyPr wrap="square" lIns="152400" tIns="0" rIns="304800" bIns="0" anchor="ctr">
            <a:noAutofit/>
          </a:bodyPr>
          <a:lstStyle/>
          <a:p>
            <a:pPr algn="l"/>
            <a:r>
              <a:rPr lang="en-GB" sz="1300" b="1" dirty="0">
                <a:solidFill>
                  <a:schemeClr val="tx2"/>
                </a:solidFill>
              </a:rPr>
              <a:t>1 Content</a:t>
            </a:r>
          </a:p>
          <a:p>
            <a:pPr algn="l"/>
            <a:r>
              <a:rPr lang="en-GB" sz="1300" dirty="0">
                <a:solidFill>
                  <a:schemeClr val="tx1"/>
                </a:solidFill>
              </a:rPr>
              <a:t>15 min · 20 %</a:t>
            </a:r>
          </a:p>
        </p:txBody>
      </p:sp>
      <p:sp>
        <p:nvSpPr>
          <p:cNvPr id="501" name="Progress step 2"/>
          <p:cNvSpPr/>
          <p:nvPr/>
        </p:nvSpPr>
        <p:spPr>
          <a:xfrm>
            <a:off x="3225800" y="1244600"/>
            <a:ext cx="2692400" cy="533400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txBody>
          <a:bodyPr wrap="square" lIns="152400" tIns="0" rIns="304800" bIns="0" anchor="ctr">
            <a:noAutofit/>
          </a:bodyPr>
          <a:lstStyle/>
          <a:p>
            <a:pPr algn="l"/>
            <a:r>
              <a:rPr lang="en-GB" sz="1300" b="1" dirty="0">
                <a:solidFill>
                  <a:schemeClr val="bg1"/>
                </a:solidFill>
              </a:rPr>
              <a:t>2 Midterm</a:t>
            </a:r>
          </a:p>
          <a:p>
            <a:pPr algn="l"/>
            <a:r>
              <a:rPr lang="en-GB" sz="1300" dirty="0">
                <a:solidFill>
                  <a:schemeClr val="bg1"/>
                </a:solidFill>
              </a:rPr>
              <a:t>20 min · 30 %</a:t>
            </a:r>
          </a:p>
        </p:txBody>
      </p:sp>
      <p:sp>
        <p:nvSpPr>
          <p:cNvPr id="502" name="Progress step 3"/>
          <p:cNvSpPr/>
          <p:nvPr/>
        </p:nvSpPr>
        <p:spPr>
          <a:xfrm>
            <a:off x="5994400" y="1244600"/>
            <a:ext cx="2692400" cy="533400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txBody>
          <a:bodyPr wrap="square" lIns="152400" tIns="0" rIns="304800" bIns="0" anchor="ctr">
            <a:noAutofit/>
          </a:bodyPr>
          <a:lstStyle/>
          <a:p>
            <a:pPr algn="l"/>
            <a:r>
              <a:rPr lang="en-GB" sz="1300" b="1" dirty="0">
                <a:solidFill>
                  <a:schemeClr val="tx2"/>
                </a:solidFill>
              </a:rPr>
              <a:t>3 Final</a:t>
            </a:r>
          </a:p>
          <a:p>
            <a:pPr algn="l"/>
            <a:r>
              <a:rPr lang="en-GB" sz="1300" dirty="0">
                <a:solidFill>
                  <a:schemeClr val="tx1"/>
                </a:solidFill>
              </a:rPr>
              <a:t>25 min · 30 %</a:t>
            </a:r>
          </a:p>
        </p:txBody>
      </p:sp>
    </p:spTree>
    <p:extLst>
      <p:ext uri="{BB962C8B-B14F-4D97-AF65-F5344CB8AC3E}">
        <p14:creationId xmlns:p14="http://schemas.microsoft.com/office/powerpoint/2010/main" val="83307247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/>
          <p:cNvSpPr>
            <a:spLocks noGrp="1"/>
          </p:cNvSpPr>
          <p:nvPr>
            <p:ph idx="1"/>
          </p:nvPr>
        </p:nvSpPr>
        <p:spPr>
          <a:xfrm>
            <a:off x="457200" y="2006600"/>
            <a:ext cx="8229600" cy="3175000"/>
          </a:xfrm>
        </p:spPr>
        <p:txBody>
          <a:bodyPr>
            <a:normAutofit/>
          </a:bodyPr>
          <a:lstStyle/>
          <a:p>
            <a:pPr lvl="0">
              <a:spcBef>
                <a:spcPts val="500"/>
              </a:spcBef>
            </a:pPr>
            <a:r>
              <a:rPr lang="en-GB" sz="1300" dirty="0"/>
              <a:t>Market entry and marketing plan for the assigned market: how the brand is marketed and how Julius Meinl enters the market</a:t>
            </a:r>
          </a:p>
          <a:p>
            <a:pPr lvl="1">
              <a:spcBef>
                <a:spcPts val="500"/>
              </a:spcBef>
            </a:pPr>
            <a:r>
              <a:rPr lang="en-GB" sz="1300" dirty="0"/>
              <a:t>Target segment and first customers</a:t>
            </a:r>
          </a:p>
          <a:p>
            <a:pPr lvl="1">
              <a:spcBef>
                <a:spcPts val="500"/>
              </a:spcBef>
            </a:pPr>
            <a:r>
              <a:rPr lang="en-GB" sz="1300" dirty="0"/>
              <a:t>Positioning, incl. the answer to the central question</a:t>
            </a:r>
          </a:p>
          <a:p>
            <a:pPr lvl="1">
              <a:spcBef>
                <a:spcPts val="500"/>
              </a:spcBef>
            </a:pPr>
            <a:r>
              <a:rPr lang="en-GB" sz="1300" dirty="0"/>
              <a:t>Price positioning vs. competition</a:t>
            </a:r>
          </a:p>
          <a:p>
            <a:pPr lvl="1">
              <a:spcBef>
                <a:spcPts val="500"/>
              </a:spcBef>
            </a:pPr>
            <a:r>
              <a:rPr lang="en-GB" sz="1300" dirty="0"/>
              <a:t>Distribution via a local partner, incl. a profile of a suitable partner</a:t>
            </a:r>
          </a:p>
          <a:p>
            <a:pPr lvl="1">
              <a:spcBef>
                <a:spcPts val="500"/>
              </a:spcBef>
            </a:pPr>
            <a:r>
              <a:rPr lang="en-GB" sz="1300" dirty="0"/>
              <a:t>Communication and in-market activation (incl. creative implementation)</a:t>
            </a:r>
          </a:p>
          <a:p>
            <a:pPr lvl="1">
              <a:spcBef>
                <a:spcPts val="500"/>
              </a:spcBef>
            </a:pPr>
            <a:r>
              <a:rPr lang="en-GB" sz="1300" dirty="0"/>
              <a:t>Rough timeline, first-year KPIs and key risks</a:t>
            </a:r>
          </a:p>
          <a:p>
            <a:pPr lvl="0">
              <a:spcBef>
                <a:spcPts val="500"/>
              </a:spcBef>
            </a:pPr>
            <a:r>
              <a:rPr lang="en-GB" sz="1300" dirty="0"/>
              <a:t>Format: max. 25 minutes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Presentation 3: marketing implementation plan</a:t>
            </a:r>
          </a:p>
        </p:txBody>
      </p:sp>
      <p:sp>
        <p:nvSpPr>
          <p:cNvPr id="500" name="Progress step 1"/>
          <p:cNvSpPr/>
          <p:nvPr/>
        </p:nvSpPr>
        <p:spPr>
          <a:xfrm>
            <a:off x="457200" y="1244600"/>
            <a:ext cx="2692400" cy="533400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txBody>
          <a:bodyPr wrap="square" lIns="152400" tIns="0" rIns="304800" bIns="0" anchor="ctr">
            <a:noAutofit/>
          </a:bodyPr>
          <a:lstStyle/>
          <a:p>
            <a:pPr algn="l"/>
            <a:r>
              <a:rPr lang="en-GB" sz="1300" b="1" dirty="0">
                <a:solidFill>
                  <a:schemeClr val="tx2"/>
                </a:solidFill>
              </a:rPr>
              <a:t>1 Content</a:t>
            </a:r>
          </a:p>
          <a:p>
            <a:pPr algn="l"/>
            <a:r>
              <a:rPr lang="en-GB" sz="1300" dirty="0">
                <a:solidFill>
                  <a:schemeClr val="tx1"/>
                </a:solidFill>
              </a:rPr>
              <a:t>15 min · 20 %</a:t>
            </a:r>
          </a:p>
        </p:txBody>
      </p:sp>
      <p:sp>
        <p:nvSpPr>
          <p:cNvPr id="501" name="Progress step 2"/>
          <p:cNvSpPr/>
          <p:nvPr/>
        </p:nvSpPr>
        <p:spPr>
          <a:xfrm>
            <a:off x="3225800" y="1244600"/>
            <a:ext cx="2692400" cy="533400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txBody>
          <a:bodyPr wrap="square" lIns="152400" tIns="0" rIns="304800" bIns="0" anchor="ctr">
            <a:noAutofit/>
          </a:bodyPr>
          <a:lstStyle/>
          <a:p>
            <a:pPr algn="l"/>
            <a:r>
              <a:rPr lang="en-GB" sz="1300" b="1" dirty="0">
                <a:solidFill>
                  <a:schemeClr val="tx2"/>
                </a:solidFill>
              </a:rPr>
              <a:t>2 Midterm</a:t>
            </a:r>
          </a:p>
          <a:p>
            <a:pPr algn="l"/>
            <a:r>
              <a:rPr lang="en-GB" sz="1300" dirty="0">
                <a:solidFill>
                  <a:schemeClr val="tx1"/>
                </a:solidFill>
              </a:rPr>
              <a:t>20 min · 30 %</a:t>
            </a:r>
          </a:p>
        </p:txBody>
      </p:sp>
      <p:sp>
        <p:nvSpPr>
          <p:cNvPr id="502" name="Progress step 3"/>
          <p:cNvSpPr/>
          <p:nvPr/>
        </p:nvSpPr>
        <p:spPr>
          <a:xfrm>
            <a:off x="5994400" y="1244600"/>
            <a:ext cx="2692400" cy="533400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txBody>
          <a:bodyPr wrap="square" lIns="152400" tIns="0" rIns="304800" bIns="0" anchor="ctr">
            <a:noAutofit/>
          </a:bodyPr>
          <a:lstStyle/>
          <a:p>
            <a:pPr algn="l"/>
            <a:r>
              <a:rPr lang="en-GB" sz="1300" b="1" dirty="0">
                <a:solidFill>
                  <a:schemeClr val="bg1"/>
                </a:solidFill>
              </a:rPr>
              <a:t>3 Final</a:t>
            </a:r>
          </a:p>
          <a:p>
            <a:pPr algn="l"/>
            <a:r>
              <a:rPr lang="en-GB" sz="1300" dirty="0">
                <a:solidFill>
                  <a:schemeClr val="bg1"/>
                </a:solidFill>
              </a:rPr>
              <a:t>25 min · 30 %</a:t>
            </a:r>
          </a:p>
        </p:txBody>
      </p:sp>
    </p:spTree>
    <p:extLst>
      <p:ext uri="{BB962C8B-B14F-4D97-AF65-F5344CB8AC3E}">
        <p14:creationId xmlns:p14="http://schemas.microsoft.com/office/powerpoint/2010/main" val="120822436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GB" sz="1300" dirty="0"/>
              <a:t>1 (90–100 %)</a:t>
            </a:r>
          </a:p>
          <a:p>
            <a:pPr lvl="0"/>
            <a:r>
              <a:rPr lang="en-GB" sz="1300" dirty="0"/>
              <a:t>2 (80–89 %)</a:t>
            </a:r>
          </a:p>
          <a:p>
            <a:pPr lvl="0"/>
            <a:r>
              <a:rPr lang="en-GB" sz="1300" dirty="0"/>
              <a:t>3 (70–79 %)</a:t>
            </a:r>
          </a:p>
          <a:p>
            <a:pPr lvl="0"/>
            <a:r>
              <a:rPr lang="en-GB" sz="1300" dirty="0"/>
              <a:t>4 (51–69 %)</a:t>
            </a:r>
          </a:p>
          <a:p>
            <a:pPr lvl="0"/>
            <a:r>
              <a:rPr lang="en-GB" sz="1300" dirty="0"/>
              <a:t>5 (0–50 %)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lvl="0"/>
            <a:r>
              <a:rPr lang="en-GB" sz="1600" dirty="0"/>
              <a:t>Grade components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Grading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0"/>
            <a:r>
              <a:rPr lang="en-GB" sz="1600" dirty="0"/>
              <a:t>Grading scale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457200" y="1930400"/>
          <a:ext cx="39624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097340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Teaching schedule</a:t>
            </a:r>
          </a:p>
        </p:txBody>
      </p:sp>
      <p:sp>
        <p:nvSpPr>
          <p:cNvPr id="300" name="Session 1 header"/>
          <p:cNvSpPr/>
          <p:nvPr/>
        </p:nvSpPr>
        <p:spPr>
          <a:xfrm>
            <a:off x="457200" y="1295400"/>
            <a:ext cx="1866900" cy="330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</a:rPr>
              <a:t>S1 · 5 Oct</a:t>
            </a:r>
          </a:p>
        </p:txBody>
      </p:sp>
      <p:sp>
        <p:nvSpPr>
          <p:cNvPr id="301" name="Session 1 body"/>
          <p:cNvSpPr/>
          <p:nvPr/>
        </p:nvSpPr>
        <p:spPr>
          <a:xfrm>
            <a:off x="457200" y="1625600"/>
            <a:ext cx="1866900" cy="1549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76200" rIns="101600" bIns="76200" anchor="t">
            <a:noAutofit/>
          </a:bodyPr>
          <a:lstStyle/>
          <a:p>
            <a:pPr algn="l"/>
            <a:r>
              <a:rPr lang="en-GB" sz="1300" b="1" dirty="0">
                <a:solidFill>
                  <a:schemeClr val="tx1"/>
                </a:solidFill>
              </a:rPr>
              <a:t>Course content and logistics</a:t>
            </a:r>
          </a:p>
          <a:p>
            <a:pPr algn="l">
              <a:spcBef>
                <a:spcPts val="600"/>
              </a:spcBef>
            </a:pPr>
            <a:r>
              <a:rPr lang="en-GB" sz="1300" b="1" dirty="0">
                <a:solidFill>
                  <a:schemeClr val="accent1"/>
                </a:solidFill>
              </a:rPr>
              <a:t>→ </a:t>
            </a:r>
            <a:r>
              <a:rPr lang="en-GB" sz="1300" dirty="0">
                <a:solidFill>
                  <a:schemeClr val="tx1"/>
                </a:solidFill>
              </a:rPr>
              <a:t>Prepare content presentation</a:t>
            </a:r>
          </a:p>
        </p:txBody>
      </p:sp>
      <p:sp>
        <p:nvSpPr>
          <p:cNvPr id="302" name="Session 2 header"/>
          <p:cNvSpPr/>
          <p:nvPr/>
        </p:nvSpPr>
        <p:spPr>
          <a:xfrm>
            <a:off x="2578100" y="1295400"/>
            <a:ext cx="1866900" cy="330200"/>
          </a:xfrm>
          <a:prstGeom prst="rect">
            <a:avLst/>
          </a:prstGeom>
          <a:solidFill>
            <a:srgbClr val="002350"/>
          </a:solidFill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</a:rPr>
              <a:t>S2 · 12 Oct</a:t>
            </a:r>
          </a:p>
        </p:txBody>
      </p:sp>
      <p:sp>
        <p:nvSpPr>
          <p:cNvPr id="303" name="Session 2 body"/>
          <p:cNvSpPr/>
          <p:nvPr/>
        </p:nvSpPr>
        <p:spPr>
          <a:xfrm>
            <a:off x="2578100" y="1625600"/>
            <a:ext cx="1866900" cy="1549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27000" tIns="76200" rIns="101600" bIns="76200" anchor="t">
            <a:noAutofit/>
          </a:bodyPr>
          <a:lstStyle/>
          <a:p>
            <a:pPr algn="l"/>
            <a:r>
              <a:rPr lang="en-GB" sz="1300" b="1" dirty="0">
                <a:solidFill>
                  <a:schemeClr val="tx1"/>
                </a:solidFill>
              </a:rPr>
              <a:t>Content presentation</a:t>
            </a:r>
          </a:p>
          <a:p>
            <a:pPr algn="l">
              <a:spcBef>
                <a:spcPts val="600"/>
              </a:spcBef>
            </a:pPr>
            <a:r>
              <a:rPr lang="en-GB" sz="1300" b="1" dirty="0">
                <a:solidFill>
                  <a:schemeClr val="accent1"/>
                </a:solidFill>
              </a:rPr>
              <a:t>→ PESTEL criteria search</a:t>
            </a:r>
          </a:p>
        </p:txBody>
      </p:sp>
      <p:sp>
        <p:nvSpPr>
          <p:cNvPr id="304" name="Session 3 header"/>
          <p:cNvSpPr/>
          <p:nvPr/>
        </p:nvSpPr>
        <p:spPr>
          <a:xfrm>
            <a:off x="4699000" y="1295400"/>
            <a:ext cx="1866900" cy="330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</a:rPr>
              <a:t>S3 · 19 Oct</a:t>
            </a:r>
          </a:p>
        </p:txBody>
      </p:sp>
      <p:sp>
        <p:nvSpPr>
          <p:cNvPr id="305" name="Session 3 body"/>
          <p:cNvSpPr/>
          <p:nvPr/>
        </p:nvSpPr>
        <p:spPr>
          <a:xfrm>
            <a:off x="4699000" y="1625600"/>
            <a:ext cx="1866900" cy="1549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76200" rIns="101600" bIns="76200" anchor="t">
            <a:noAutofit/>
          </a:bodyPr>
          <a:lstStyle/>
          <a:p>
            <a:pPr algn="l"/>
            <a:r>
              <a:rPr lang="en-GB" sz="1300" b="1" dirty="0">
                <a:solidFill>
                  <a:schemeClr val="tx1"/>
                </a:solidFill>
              </a:rPr>
              <a:t>Zoom coaching, 20 min per group</a:t>
            </a:r>
          </a:p>
          <a:p>
            <a:pPr algn="l">
              <a:spcBef>
                <a:spcPts val="600"/>
              </a:spcBef>
            </a:pPr>
            <a:r>
              <a:rPr lang="en-GB" sz="1300" b="1" dirty="0">
                <a:solidFill>
                  <a:schemeClr val="accent1"/>
                </a:solidFill>
              </a:rPr>
              <a:t>→ Collect data</a:t>
            </a:r>
          </a:p>
        </p:txBody>
      </p:sp>
      <p:sp>
        <p:nvSpPr>
          <p:cNvPr id="306" name="Session 4 header"/>
          <p:cNvSpPr/>
          <p:nvPr/>
        </p:nvSpPr>
        <p:spPr>
          <a:xfrm>
            <a:off x="6819900" y="1295400"/>
            <a:ext cx="1866900" cy="330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</a:rPr>
              <a:t>S4 · 9 Nov</a:t>
            </a:r>
          </a:p>
        </p:txBody>
      </p:sp>
      <p:sp>
        <p:nvSpPr>
          <p:cNvPr id="307" name="Session 4 body"/>
          <p:cNvSpPr/>
          <p:nvPr/>
        </p:nvSpPr>
        <p:spPr>
          <a:xfrm>
            <a:off x="6819900" y="1625600"/>
            <a:ext cx="1866900" cy="1549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76200" rIns="101600" bIns="76200" anchor="t">
            <a:noAutofit/>
          </a:bodyPr>
          <a:lstStyle/>
          <a:p>
            <a:pPr algn="l"/>
            <a:r>
              <a:rPr lang="en-GB" sz="1300" b="1" dirty="0">
                <a:solidFill>
                  <a:schemeClr val="tx1"/>
                </a:solidFill>
              </a:rPr>
              <a:t>Zoom coaching, 20 min per group</a:t>
            </a:r>
          </a:p>
          <a:p>
            <a:pPr algn="l">
              <a:spcBef>
                <a:spcPts val="600"/>
              </a:spcBef>
            </a:pPr>
            <a:r>
              <a:rPr lang="en-GB" sz="1300" b="1" dirty="0">
                <a:solidFill>
                  <a:schemeClr val="accent1"/>
                </a:solidFill>
              </a:rPr>
              <a:t>→ Prepare midterm presentation</a:t>
            </a:r>
          </a:p>
        </p:txBody>
      </p:sp>
      <p:sp>
        <p:nvSpPr>
          <p:cNvPr id="308" name="Session 5 header"/>
          <p:cNvSpPr/>
          <p:nvPr/>
        </p:nvSpPr>
        <p:spPr>
          <a:xfrm>
            <a:off x="457200" y="3378200"/>
            <a:ext cx="1866900" cy="330200"/>
          </a:xfrm>
          <a:prstGeom prst="rect">
            <a:avLst/>
          </a:prstGeom>
          <a:solidFill>
            <a:srgbClr val="002350"/>
          </a:solidFill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</a:rPr>
              <a:t>S5 · 16 Nov</a:t>
            </a:r>
          </a:p>
        </p:txBody>
      </p:sp>
      <p:sp>
        <p:nvSpPr>
          <p:cNvPr id="309" name="Session 5 body"/>
          <p:cNvSpPr/>
          <p:nvPr/>
        </p:nvSpPr>
        <p:spPr>
          <a:xfrm>
            <a:off x="457200" y="3708400"/>
            <a:ext cx="1866900" cy="1549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27000" tIns="76200" rIns="101600" bIns="76200" anchor="t">
            <a:noAutofit/>
          </a:bodyPr>
          <a:lstStyle/>
          <a:p>
            <a:pPr algn="l"/>
            <a:r>
              <a:rPr lang="en-GB" sz="1300" b="1" dirty="0">
                <a:solidFill>
                  <a:schemeClr val="tx1"/>
                </a:solidFill>
              </a:rPr>
              <a:t>Midterm presentation</a:t>
            </a:r>
          </a:p>
          <a:p>
            <a:pPr algn="l">
              <a:spcBef>
                <a:spcPts val="600"/>
              </a:spcBef>
            </a:pPr>
            <a:r>
              <a:rPr lang="en-GB" sz="1300" b="1" dirty="0">
                <a:solidFill>
                  <a:schemeClr val="accent1"/>
                </a:solidFill>
              </a:rPr>
              <a:t>→ Marketing plan</a:t>
            </a:r>
          </a:p>
        </p:txBody>
      </p:sp>
      <p:sp>
        <p:nvSpPr>
          <p:cNvPr id="310" name="Session 6 header"/>
          <p:cNvSpPr/>
          <p:nvPr/>
        </p:nvSpPr>
        <p:spPr>
          <a:xfrm>
            <a:off x="2578100" y="3378200"/>
            <a:ext cx="1866900" cy="330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</a:rPr>
              <a:t>S6 · 23 Nov</a:t>
            </a:r>
          </a:p>
        </p:txBody>
      </p:sp>
      <p:sp>
        <p:nvSpPr>
          <p:cNvPr id="311" name="Session 6 body"/>
          <p:cNvSpPr/>
          <p:nvPr/>
        </p:nvSpPr>
        <p:spPr>
          <a:xfrm>
            <a:off x="2578100" y="3708400"/>
            <a:ext cx="1866900" cy="1549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76200" rIns="101600" bIns="76200" anchor="t">
            <a:noAutofit/>
          </a:bodyPr>
          <a:lstStyle/>
          <a:p>
            <a:pPr algn="l"/>
            <a:r>
              <a:rPr lang="en-GB" sz="1300" b="1" dirty="0">
                <a:solidFill>
                  <a:schemeClr val="tx1"/>
                </a:solidFill>
              </a:rPr>
              <a:t>Coaching session, progress report</a:t>
            </a:r>
          </a:p>
          <a:p>
            <a:pPr algn="l">
              <a:spcBef>
                <a:spcPts val="600"/>
              </a:spcBef>
            </a:pPr>
            <a:r>
              <a:rPr lang="en-GB" sz="1300" b="1" dirty="0">
                <a:solidFill>
                  <a:schemeClr val="accent1"/>
                </a:solidFill>
              </a:rPr>
              <a:t>→ </a:t>
            </a:r>
            <a:r>
              <a:rPr lang="en-GB" sz="1300" dirty="0">
                <a:solidFill>
                  <a:schemeClr val="tx1"/>
                </a:solidFill>
              </a:rPr>
              <a:t>Refinement and revision</a:t>
            </a:r>
          </a:p>
        </p:txBody>
      </p:sp>
      <p:sp>
        <p:nvSpPr>
          <p:cNvPr id="312" name="Session 7 header"/>
          <p:cNvSpPr/>
          <p:nvPr/>
        </p:nvSpPr>
        <p:spPr>
          <a:xfrm>
            <a:off x="4699000" y="3378200"/>
            <a:ext cx="1866900" cy="330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</a:rPr>
              <a:t>S7 · 30 Nov</a:t>
            </a:r>
          </a:p>
        </p:txBody>
      </p:sp>
      <p:sp>
        <p:nvSpPr>
          <p:cNvPr id="313" name="Session 7 body"/>
          <p:cNvSpPr/>
          <p:nvPr/>
        </p:nvSpPr>
        <p:spPr>
          <a:xfrm>
            <a:off x="4699000" y="3708400"/>
            <a:ext cx="1866900" cy="1549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76200" rIns="101600" bIns="76200" anchor="t">
            <a:noAutofit/>
          </a:bodyPr>
          <a:lstStyle/>
          <a:p>
            <a:pPr algn="l"/>
            <a:r>
              <a:rPr lang="en-GB" sz="1300" b="1" dirty="0">
                <a:solidFill>
                  <a:schemeClr val="tx1"/>
                </a:solidFill>
              </a:rPr>
              <a:t>Coaching session, progress report</a:t>
            </a:r>
          </a:p>
          <a:p>
            <a:pPr algn="l">
              <a:spcBef>
                <a:spcPts val="600"/>
              </a:spcBef>
            </a:pPr>
            <a:r>
              <a:rPr lang="en-GB" sz="1300" b="1" dirty="0">
                <a:solidFill>
                  <a:schemeClr val="accent1"/>
                </a:solidFill>
              </a:rPr>
              <a:t>→ </a:t>
            </a:r>
            <a:r>
              <a:rPr lang="en-GB" sz="1300" dirty="0">
                <a:solidFill>
                  <a:schemeClr val="tx1"/>
                </a:solidFill>
              </a:rPr>
              <a:t>Prepare final presentation</a:t>
            </a:r>
          </a:p>
        </p:txBody>
      </p:sp>
      <p:sp>
        <p:nvSpPr>
          <p:cNvPr id="314" name="Session 8 header"/>
          <p:cNvSpPr/>
          <p:nvPr/>
        </p:nvSpPr>
        <p:spPr>
          <a:xfrm>
            <a:off x="6819900" y="3378200"/>
            <a:ext cx="1866900" cy="330200"/>
          </a:xfrm>
          <a:prstGeom prst="rect">
            <a:avLst/>
          </a:prstGeom>
          <a:solidFill>
            <a:srgbClr val="002350"/>
          </a:solidFill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</a:rPr>
              <a:t>S8 · 7 Dec</a:t>
            </a:r>
          </a:p>
        </p:txBody>
      </p:sp>
      <p:sp>
        <p:nvSpPr>
          <p:cNvPr id="315" name="Session 8 body"/>
          <p:cNvSpPr/>
          <p:nvPr/>
        </p:nvSpPr>
        <p:spPr>
          <a:xfrm>
            <a:off x="6819900" y="3708400"/>
            <a:ext cx="1866900" cy="1549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27000" tIns="76200" rIns="101600" bIns="76200" anchor="t">
            <a:noAutofit/>
          </a:bodyPr>
          <a:lstStyle/>
          <a:p>
            <a:pPr algn="l"/>
            <a:r>
              <a:rPr lang="en-GB" sz="1300" b="1" dirty="0">
                <a:solidFill>
                  <a:schemeClr val="tx1"/>
                </a:solidFill>
              </a:rPr>
              <a:t>Final presentation</a:t>
            </a:r>
          </a:p>
          <a:p>
            <a:pPr algn="l">
              <a:spcBef>
                <a:spcPts val="600"/>
              </a:spcBef>
            </a:pPr>
            <a:r>
              <a:rPr lang="en-GB" sz="1300" b="1" dirty="0">
                <a:solidFill>
                  <a:schemeClr val="accent1"/>
                </a:solidFill>
              </a:rPr>
              <a:t>→ </a:t>
            </a:r>
            <a:r>
              <a:rPr lang="en-GB" sz="1300" dirty="0">
                <a:solidFill>
                  <a:schemeClr val="tx1"/>
                </a:solidFill>
              </a:rPr>
              <a:t>Self-reflection, peer review</a:t>
            </a:r>
          </a:p>
        </p:txBody>
      </p:sp>
    </p:spTree>
    <p:extLst>
      <p:ext uri="{BB962C8B-B14F-4D97-AF65-F5344CB8AC3E}">
        <p14:creationId xmlns:p14="http://schemas.microsoft.com/office/powerpoint/2010/main" val="382964837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Data sources and framework conditions</a:t>
            </a:r>
          </a:p>
        </p:txBody>
      </p:sp>
      <p:sp>
        <p:nvSpPr>
          <p:cNvPr id="700" name="Card 1 body"/>
          <p:cNvSpPr/>
          <p:nvPr/>
        </p:nvSpPr>
        <p:spPr>
          <a:xfrm>
            <a:off x="457200" y="1320800"/>
            <a:ext cx="3810000" cy="3886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701" name="Card 1 header"/>
          <p:cNvSpPr/>
          <p:nvPr/>
        </p:nvSpPr>
        <p:spPr>
          <a:xfrm>
            <a:off x="457200" y="1320800"/>
            <a:ext cx="38100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  <a:latin typeface="+mj-lt"/>
              </a:rPr>
              <a:t>Framework conditions</a:t>
            </a:r>
          </a:p>
        </p:txBody>
      </p:sp>
      <p:sp>
        <p:nvSpPr>
          <p:cNvPr id="702" name="Card 1 text"/>
          <p:cNvSpPr/>
          <p:nvPr/>
        </p:nvSpPr>
        <p:spPr>
          <a:xfrm>
            <a:off x="558800" y="2006600"/>
            <a:ext cx="3606800" cy="3048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76200" bIns="0" anchor="t">
            <a:noAutofit/>
          </a:bodyPr>
          <a:lstStyle/>
          <a:p>
            <a:pPr marL="228600" indent="-228600">
              <a:spcBef>
                <a:spcPts val="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The project is based on publicly available data</a:t>
            </a:r>
          </a:p>
          <a:p>
            <a:pPr marL="228600" indent="-228600">
              <a:spcBef>
                <a:spcPts val="80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Julius Meinl provides no internal figures (revenues, margins, prices, partner names); none are needed</a:t>
            </a:r>
          </a:p>
          <a:p>
            <a:pPr marL="228600" indent="-228600">
              <a:spcBef>
                <a:spcPts val="80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When contacting companies or individuals, act as students on a university project, not on behalf of Julius Meinl</a:t>
            </a:r>
          </a:p>
        </p:txBody>
      </p:sp>
      <p:sp>
        <p:nvSpPr>
          <p:cNvPr id="703" name="Card 2 body"/>
          <p:cNvSpPr/>
          <p:nvPr/>
        </p:nvSpPr>
        <p:spPr>
          <a:xfrm>
            <a:off x="4876800" y="1320800"/>
            <a:ext cx="3810000" cy="3886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704" name="Card 2 header"/>
          <p:cNvSpPr/>
          <p:nvPr/>
        </p:nvSpPr>
        <p:spPr>
          <a:xfrm>
            <a:off x="4876800" y="1320800"/>
            <a:ext cx="38100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  <a:latin typeface="+mj-lt"/>
              </a:rPr>
              <a:t>Possible sources</a:t>
            </a:r>
          </a:p>
        </p:txBody>
      </p:sp>
      <p:sp>
        <p:nvSpPr>
          <p:cNvPr id="705" name="Card 2 text"/>
          <p:cNvSpPr/>
          <p:nvPr/>
        </p:nvSpPr>
        <p:spPr>
          <a:xfrm>
            <a:off x="4978400" y="2006600"/>
            <a:ext cx="3606800" cy="3048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76200" bIns="0" anchor="t">
            <a:noAutofit/>
          </a:bodyPr>
          <a:lstStyle/>
          <a:p>
            <a:pPr marL="228600" indent="-228600">
              <a:spcBef>
                <a:spcPts val="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USDA coffee country reports</a:t>
            </a:r>
          </a:p>
          <a:p>
            <a:pPr marL="228600" indent="-228600">
              <a:spcBef>
                <a:spcPts val="80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Coffee import trade statistics</a:t>
            </a:r>
          </a:p>
          <a:p>
            <a:pPr marL="228600" indent="-228600">
              <a:spcBef>
                <a:spcPts val="80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National tourism statistics</a:t>
            </a:r>
          </a:p>
          <a:p>
            <a:pPr marL="228600" indent="-228600">
              <a:spcBef>
                <a:spcPts val="800"/>
              </a:spcBef>
              <a:buClr>
                <a:schemeClr val="accent1"/>
              </a:buClr>
              <a:buFont typeface="Arial"/>
              <a:buChar char="▪"/>
            </a:pPr>
            <a:r>
              <a:rPr lang="en-GB" sz="1300" dirty="0">
                <a:solidFill>
                  <a:schemeClr val="tx1"/>
                </a:solidFill>
              </a:rPr>
              <a:t>Public Julius Meinl material (corporate story, sustainability report, website)</a:t>
            </a:r>
          </a:p>
        </p:txBody>
      </p:sp>
    </p:spTree>
    <p:extLst>
      <p:ext uri="{BB962C8B-B14F-4D97-AF65-F5344CB8AC3E}">
        <p14:creationId xmlns:p14="http://schemas.microsoft.com/office/powerpoint/2010/main" val="120901742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ard left"/>
          <p:cNvSpPr/>
          <p:nvPr/>
        </p:nvSpPr>
        <p:spPr>
          <a:xfrm>
            <a:off x="457200" y="1879600"/>
            <a:ext cx="3683000" cy="2819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21" name="Card right"/>
          <p:cNvSpPr/>
          <p:nvPr/>
        </p:nvSpPr>
        <p:spPr>
          <a:xfrm>
            <a:off x="4394200" y="1879600"/>
            <a:ext cx="4292600" cy="2819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Inhaltsplatzhalter 6"/>
          <p:cNvSpPr>
            <a:spLocks noGrp="1"/>
          </p:cNvSpPr>
          <p:nvPr>
            <p:ph sz="half" idx="1"/>
          </p:nvPr>
        </p:nvSpPr>
        <p:spPr>
          <a:xfrm>
            <a:off x="558800" y="2006600"/>
            <a:ext cx="3479800" cy="2590800"/>
          </a:xfrm>
        </p:spPr>
        <p:txBody>
          <a:bodyPr>
            <a:normAutofit/>
          </a:bodyPr>
          <a:lstStyle/>
          <a:p>
            <a:pPr lvl="0">
              <a:spcBef>
                <a:spcPts val="900"/>
              </a:spcBef>
            </a:pPr>
            <a:r>
              <a:rPr lang="en-GB" sz="1300" dirty="0"/>
              <a:t>Use of (Generative) AI tools is explicitly encouraged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Tell a rich story in your presentations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Be honest: list all tools you used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Graded on quality, innovativeness and variety of sources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half" idx="2"/>
          </p:nvPr>
        </p:nvSpPr>
        <p:spPr>
          <a:xfrm>
            <a:off x="4495800" y="2006600"/>
            <a:ext cx="4089400" cy="2590800"/>
          </a:xfrm>
        </p:spPr>
        <p:txBody>
          <a:bodyPr>
            <a:normAutofit/>
          </a:bodyPr>
          <a:lstStyle/>
          <a:p>
            <a:pPr lvl="0">
              <a:spcBef>
                <a:spcPts val="900"/>
              </a:spcBef>
            </a:pPr>
            <a:r>
              <a:rPr lang="en-GB" sz="1300" dirty="0"/>
              <a:t>Self-reflection: one page on what you learned, what you liked and what can be improved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Peer review: rate the engagement and performance of your group mates (not yourself); kept confidential</a:t>
            </a:r>
          </a:p>
          <a:p>
            <a:pPr lvl="0">
              <a:spcBef>
                <a:spcPts val="900"/>
              </a:spcBef>
            </a:pPr>
            <a:r>
              <a:rPr lang="en-GB" sz="1300" dirty="0"/>
              <a:t>Submit via Canvas until one week after the last session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idx="13"/>
          </p:nvPr>
        </p:nvSpPr>
        <p:spPr>
          <a:xfrm>
            <a:off x="457200" y="1346200"/>
            <a:ext cx="3683000" cy="533400"/>
          </a:xfrm>
        </p:spPr>
        <p:txBody>
          <a:bodyPr/>
          <a:lstStyle/>
          <a:p>
            <a:pPr lvl="0"/>
            <a:r>
              <a:rPr lang="en-GB" sz="1600" dirty="0"/>
              <a:t>Use of AI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941D2295-CC7E-4B5B-BFD3-593FD9D32866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AI, self-reflection and peer review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7"/>
          </p:nvPr>
        </p:nvSpPr>
        <p:spPr>
          <a:xfrm>
            <a:off x="4394200" y="1346200"/>
            <a:ext cx="4292600" cy="533400"/>
          </a:xfrm>
        </p:spPr>
        <p:txBody>
          <a:bodyPr/>
          <a:lstStyle/>
          <a:p>
            <a:pPr lvl="0"/>
            <a:r>
              <a:rPr lang="en-GB" sz="1600" dirty="0"/>
              <a:t>Self-reflection and peer review</a:t>
            </a:r>
          </a:p>
        </p:txBody>
      </p:sp>
      <p:pic>
        <p:nvPicPr>
          <p:cNvPr id="122" name="Graphic 122" descr="Use of 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0" y="1435100"/>
            <a:ext cx="355600" cy="355600"/>
          </a:xfrm>
          <a:prstGeom prst="rect">
            <a:avLst/>
          </a:prstGeom>
        </p:spPr>
      </p:pic>
      <p:pic>
        <p:nvPicPr>
          <p:cNvPr id="123" name="Graphic 123" descr="Peer review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4200" y="14351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2670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 idx="4294967295"/>
          </p:nvPr>
        </p:nvSpPr>
        <p:spPr>
          <a:xfrm>
            <a:off x="462407" y="301626"/>
            <a:ext cx="6990906" cy="496799"/>
          </a:xfrm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Business Projects WT 2026/27 | Julius Meinl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680737D9-CC42-4855-ABAC-B759A1A9D624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206392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LANGUAGE" val="English UK"/>
</p:tagLst>
</file>

<file path=ppt/theme/theme1.xml><?xml version="1.0" encoding="utf-8"?>
<a:theme xmlns:a="http://schemas.openxmlformats.org/drawingml/2006/main" name="WU 16:10">
  <a:themeElements>
    <a:clrScheme name="WU">
      <a:dk1>
        <a:srgbClr val="000000"/>
      </a:dk1>
      <a:lt1>
        <a:srgbClr val="FFFFFF"/>
      </a:lt1>
      <a:dk2>
        <a:srgbClr val="002350"/>
      </a:dk2>
      <a:lt2>
        <a:srgbClr val="E5F5FA"/>
      </a:lt2>
      <a:accent1>
        <a:srgbClr val="0096D3"/>
      </a:accent1>
      <a:accent2>
        <a:srgbClr val="002350"/>
      </a:accent2>
      <a:accent3>
        <a:srgbClr val="4B2582"/>
      </a:accent3>
      <a:accent4>
        <a:srgbClr val="457AA0"/>
      </a:accent4>
      <a:accent5>
        <a:srgbClr val="A592C0"/>
      </a:accent5>
      <a:accent6>
        <a:srgbClr val="80CFE9"/>
      </a:accent6>
      <a:hlink>
        <a:srgbClr val="405A7C"/>
      </a:hlink>
      <a:folHlink>
        <a:srgbClr val="0082AA"/>
      </a:folHlink>
    </a:clrScheme>
    <a:fontScheme name="WU neu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U Farbschema neu">
        <a:dk1>
          <a:srgbClr val="000000"/>
        </a:dk1>
        <a:lt1>
          <a:sysClr val="window" lastClr="FFFFFF"/>
        </a:lt1>
        <a:dk2>
          <a:srgbClr val="002E60"/>
        </a:dk2>
        <a:lt2>
          <a:srgbClr val="E5F5FA"/>
        </a:lt2>
        <a:accent1>
          <a:srgbClr val="0096D3"/>
        </a:accent1>
        <a:accent2>
          <a:srgbClr val="002E60"/>
        </a:accent2>
        <a:accent3>
          <a:srgbClr val="532481"/>
        </a:accent3>
        <a:accent4>
          <a:srgbClr val="457AA0"/>
        </a:accent4>
        <a:accent5>
          <a:srgbClr val="A991C0"/>
        </a:accent5>
        <a:accent6>
          <a:srgbClr val="7FCAE9"/>
        </a:accent6>
        <a:hlink>
          <a:srgbClr val="406288"/>
        </a:hlink>
        <a:folHlink>
          <a:srgbClr val="008F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WU Sample Presentation 16x10 V1.1.potx" id="{74DD536C-D372-4256-BA4D-24C734E7AF81}" vid="{99E22345-25BB-45DF-85CE-FC929AE6991A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7FC1DC6-FBB7-470C-B85D-EC3A9843C63C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B42E63B-73F0-4F1E-B025-4B1A11258F77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69a066e4-3ad9-49d8-8619-3a71f242750a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CF651A35DF3154DB01328AF51148DAE" ma:contentTypeVersion="1" ma:contentTypeDescription="Ein neues Dokument erstellen." ma:contentTypeScope="" ma:versionID="458c1b80f8d593bdc96b60ff34dd40b4">
  <xsd:schema xmlns:xsd="http://www.w3.org/2001/XMLSchema" xmlns:xs="http://www.w3.org/2001/XMLSchema" xmlns:p="http://schemas.microsoft.com/office/2006/metadata/properties" xmlns:ns2="1a8d9a65-8471-4209-a900-f8e11db75e0a" xmlns:ns3="08b0a3ee-3d2a-451c-9a1a-7e5d5b0c9c77" xmlns:ns4="dde413db-0745-4f3a-8dca-564dc7ff6f7d" targetNamespace="http://schemas.microsoft.com/office/2006/metadata/properties" ma:root="true" ma:fieldsID="2d31116d1a6b5af1b4a8b1ba7152d57a" ns2:_="" ns3:_="" ns4:_="">
    <xsd:import namespace="1a8d9a65-8471-4209-a900-f8e11db75e0a"/>
    <xsd:import namespace="08b0a3ee-3d2a-451c-9a1a-7e5d5b0c9c77"/>
    <xsd:import namespace="dde413db-0745-4f3a-8dca-564dc7ff6f7d"/>
    <xsd:element name="properties">
      <xsd:complexType>
        <xsd:sequence>
          <xsd:element name="documentManagement">
            <xsd:complexType>
              <xsd:all>
                <xsd:element ref="ns2:WU_x0020_ThemaTaxHTField0" minOccurs="0"/>
                <xsd:element ref="ns3:TaxCatchAll" minOccurs="0"/>
                <xsd:element ref="ns2:DokumentenartTaxHTField0" minOccurs="0"/>
                <xsd:element ref="ns4:Beschreibung" minOccurs="0"/>
                <xsd:element ref="ns4:Format" minOccurs="0"/>
                <xsd:element ref="ns4:Kategorie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d9a65-8471-4209-a900-f8e11db75e0a" elementFormDefault="qualified">
    <xsd:import namespace="http://schemas.microsoft.com/office/2006/documentManagement/types"/>
    <xsd:import namespace="http://schemas.microsoft.com/office/infopath/2007/PartnerControls"/>
    <xsd:element name="WU_x0020_ThemaTaxHTField0" ma:index="9" nillable="true" ma:taxonomy="true" ma:internalName="WU_x0020_ThemaTaxHTField0" ma:taxonomyFieldName="WU_x0020_Thema" ma:displayName="Schlagwort" ma:default="" ma:fieldId="{a2eb3201-e251-4055-97e9-466604fc777f}" ma:taxonomyMulti="true" ma:sspId="59da4ae5-1217-4de6-bd64-b7a740f353bb" ma:termSetId="c1edca97-812b-4584-b6b5-1e5cade81ca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DokumentenartTaxHTField0" ma:index="12" nillable="true" ma:taxonomy="true" ma:internalName="DokumentenartTaxHTField0" ma:taxonomyFieldName="Dokumentenart" ma:displayName="Dokumentenart" ma:default="" ma:fieldId="{0f2e647f-32b7-4850-b6be-ae358ed71e70}" ma:taxonomyMulti="true" ma:sspId="59da4ae5-1217-4de6-bd64-b7a740f353bb" ma:termSetId="325756d7-e24e-4b6f-ba71-3f779d34c1ea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b0a3ee-3d2a-451c-9a1a-7e5d5b0c9c7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description="" ma:hidden="true" ma:list="{6a103bb8-3913-4e3b-a229-080a76572464}" ma:internalName="TaxCatchAll" ma:showField="CatchAllData" ma:web="08b0a3ee-3d2a-451c-9a1a-7e5d5b0c9c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413db-0745-4f3a-8dca-564dc7ff6f7d" elementFormDefault="qualified">
    <xsd:import namespace="http://schemas.microsoft.com/office/2006/documentManagement/types"/>
    <xsd:import namespace="http://schemas.microsoft.com/office/infopath/2007/PartnerControls"/>
    <xsd:element name="Beschreibung" ma:index="13" nillable="true" ma:displayName="Beschreibung" ma:internalName="Beschreibung">
      <xsd:simpleType>
        <xsd:restriction base="dms:Note">
          <xsd:maxLength value="255"/>
        </xsd:restriction>
      </xsd:simpleType>
    </xsd:element>
    <xsd:element name="Format" ma:index="14" nillable="true" ma:displayName="Format" ma:format="Dropdown" ma:internalName="Format">
      <xsd:simpleType>
        <xsd:union memberTypes="dms:Text">
          <xsd:simpleType>
            <xsd:restriction base="dms:Choice">
              <xsd:enumeration value="LaTeX"/>
              <xsd:enumeration value="Microsoft Office 2003"/>
              <xsd:enumeration value="Microsoft Office 2007-2013"/>
              <xsd:enumeration value="Microsoft Office 2013/2016"/>
              <xsd:enumeration value="OpenOffice 3.0"/>
            </xsd:restriction>
          </xsd:simpleType>
        </xsd:union>
      </xsd:simpleType>
    </xsd:element>
    <xsd:element name="Kategorie" ma:index="15" nillable="true" ma:displayName="Kategorie" ma:default="Anleitungen" ma:format="Dropdown" ma:internalName="Kategorie">
      <xsd:simpleType>
        <xsd:union memberTypes="dms:Text">
          <xsd:simpleType>
            <xsd:restriction base="dms:Choice">
              <xsd:enumeration value="Anleitungen"/>
              <xsd:enumeration value="Aushänge für Lift und Tür"/>
              <xsd:enumeration value="Basisvorlagen"/>
              <xsd:enumeration value="Brief-/Faxvorlagen"/>
              <xsd:enumeration value="Einladungen"/>
              <xsd:enumeration value="Etiketten"/>
              <xsd:enumeration value="Musterdateien"/>
              <xsd:enumeration value="Namensschilder"/>
              <xsd:enumeration value="Präsentationen"/>
              <xsd:enumeration value="Skripten-Cover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dde413db-0745-4f3a-8dca-564dc7ff6f7d">Präsentationen</Kategorie>
    <Beschreibung xmlns="dde413db-0745-4f3a-8dca-564dc7ff6f7d">Sample presenation in format 16:10 (= WU standard)</Beschreibung>
    <TaxCatchAll xmlns="08b0a3ee-3d2a-451c-9a1a-7e5d5b0c9c77">
      <Value>266</Value>
      <Value>403</Value>
    </TaxCatchAll>
    <Dokumentenart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Vorlagen</TermName>
          <TermId xmlns="http://schemas.microsoft.com/office/infopath/2007/PartnerControls">17fc50ed-8ad1-47be-ab12-04243fd74ddb</TermId>
        </TermInfo>
      </Terms>
    </DokumentenartTaxHTField0>
    <WU_x0020_Thema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Corporate Design</TermName>
          <TermId xmlns="http://schemas.microsoft.com/office/infopath/2007/PartnerControls">19895bcd-b158-45ae-ab7b-f5ca217dfcec</TermId>
        </TermInfo>
      </Terms>
    </WU_x0020_ThemaTaxHTField0>
    <Format xmlns="dde413db-0745-4f3a-8dca-564dc7ff6f7d">Microsoft Office 2013/2016</Format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1AF645-C4BF-4115-A9DE-6B08726473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d9a65-8471-4209-a900-f8e11db75e0a"/>
    <ds:schemaRef ds:uri="08b0a3ee-3d2a-451c-9a1a-7e5d5b0c9c77"/>
    <ds:schemaRef ds:uri="dde413db-0745-4f3a-8dca-564dc7ff6f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929A89-D8E6-4794-A98F-6609FAAECB3B}">
  <ds:schemaRefs>
    <ds:schemaRef ds:uri="http://schemas.microsoft.com/office/2006/metadata/properties"/>
    <ds:schemaRef ds:uri="http://schemas.microsoft.com/office/infopath/2007/PartnerControls"/>
    <ds:schemaRef ds:uri="dde413db-0745-4f3a-8dca-564dc7ff6f7d"/>
    <ds:schemaRef ds:uri="08b0a3ee-3d2a-451c-9a1a-7e5d5b0c9c77"/>
    <ds:schemaRef ds:uri="1a8d9a65-8471-4209-a900-f8e11db75e0a"/>
  </ds:schemaRefs>
</ds:datastoreItem>
</file>

<file path=customXml/itemProps3.xml><?xml version="1.0" encoding="utf-8"?>
<ds:datastoreItem xmlns:ds="http://schemas.openxmlformats.org/officeDocument/2006/customXml" ds:itemID="{E89857B5-BC10-4782-8A0F-717F20E5E2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WU Sample Presentation 16x10</Template>
  <TotalTime>0</TotalTime>
  <Words>1662</Words>
  <Application>Microsoft Office PowerPoint</Application>
  <PresentationFormat>On-screen Show (16:10)</PresentationFormat>
  <Paragraphs>292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Georgia</vt:lpstr>
      <vt:lpstr>Verdana</vt:lpstr>
      <vt:lpstr>Wingdings</vt:lpstr>
      <vt:lpstr>WU 16:10</vt:lpstr>
      <vt:lpstr>International Business Projects</vt:lpstr>
      <vt:lpstr>Module Convenor – Dr Arne Floh</vt:lpstr>
      <vt:lpstr>Module Convenor – Dr Arne Floh</vt:lpstr>
      <vt:lpstr>Course synopsis</vt:lpstr>
      <vt:lpstr>Learning objectives</vt:lpstr>
      <vt:lpstr>Teaching and learning: flipped classroom</vt:lpstr>
      <vt:lpstr>The Julius Meinl case</vt:lpstr>
      <vt:lpstr>Our partner: Julius Meinl</vt:lpstr>
      <vt:lpstr>How Julius Meinl sells: two segments, two partners</vt:lpstr>
      <vt:lpstr>Who Julius Meinl sells to</vt:lpstr>
      <vt:lpstr>The question: growth in Latin America</vt:lpstr>
      <vt:lpstr>Six markets, one set of criteria</vt:lpstr>
      <vt:lpstr>Assessment strategy</vt:lpstr>
      <vt:lpstr>Overview of the presentations</vt:lpstr>
      <vt:lpstr>Presentation 1: market selection tools</vt:lpstr>
      <vt:lpstr>Presentation 2: midterm</vt:lpstr>
      <vt:lpstr>Presentation 3: marketing implementation plan</vt:lpstr>
      <vt:lpstr>Grading</vt:lpstr>
      <vt:lpstr>Teaching schedule</vt:lpstr>
      <vt:lpstr>Data sources and framework conditions</vt:lpstr>
      <vt:lpstr>AI, self-reflection and peer review</vt:lpstr>
      <vt:lpstr>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2023-08-25T07:52:25Z</dcterms:created>
  <dcterms:modified xsi:type="dcterms:W3CDTF">2026-10-01T13:26:55Z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U Thema">
    <vt:lpwstr>403;#Corporate Design|19895bcd-b158-45ae-ab7b-f5ca217dfcec</vt:lpwstr>
  </property>
  <property fmtid="{D5CDD505-2E9C-101B-9397-08002B2CF9AE}" pid="3" name="Dokumentenart">
    <vt:lpwstr>266;#Vorlagen|17fc50ed-8ad1-47be-ab12-04243fd74ddb</vt:lpwstr>
  </property>
  <property fmtid="{D5CDD505-2E9C-101B-9397-08002B2CF9AE}" pid="4" name="ContentTypeId">
    <vt:lpwstr>0x010100BCF651A35DF3154DB01328AF51148DAE</vt:lpwstr>
  </property>
</Properties>
</file>