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Common criteria by PESTEL dimension</a:t>
            </a:r>
          </a:p>
          <a:p>
            <a:pPr lvl="0"/>
            <a:r>
              <a:rPr lang="en-GB" sz="1300" dirty="0"/>
              <a:t>Political: stability, EU trade agreement</a:t>
            </a:r>
          </a:p>
          <a:p>
            <a:pPr lvl="0"/>
            <a:r>
              <a:rPr lang="en-GB" sz="1300" dirty="0"/>
              <a:t>Economic: purchasing power, consumption, tariff</a:t>
            </a:r>
          </a:p>
          <a:p>
            <a:pPr lvl="0"/>
            <a:r>
              <a:rPr lang="en-GB" sz="1300" dirty="0"/>
              <a:t>Social: coffee culture, tourism</a:t>
            </a:r>
          </a:p>
          <a:p>
            <a:pPr lvl="0"/>
            <a:r>
              <a:rPr lang="en-GB" sz="1300" dirty="0"/>
              <a:t>Technological: digital reach, logistics</a:t>
            </a:r>
          </a:p>
          <a:p>
            <a:pPr lvl="0"/>
            <a:r>
              <a:rPr lang="en-GB" sz="1300" dirty="0"/>
              <a:t>Environmental: demand for certified coffee</a:t>
            </a:r>
          </a:p>
          <a:p>
            <a:pPr lvl="0"/>
            <a:r>
              <a:rPr lang="en-GB" sz="1300" dirty="0"/>
              <a:t>Legal: regulation, product and labelling rules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One common model: PESTEL criteria and fixed weights for all groups</a:t>
            </a:r>
          </a:p>
          <a:p>
            <a:pPr lvl="0"/>
            <a:r>
              <a:rPr lang="en-GB" sz="1300" dirty="0"/>
              <a:t>Collect and document the data of your allocated country</a:t>
            </a:r>
          </a:p>
          <a:p>
            <a:pPr lvl="0"/>
            <a:r>
              <a:rPr lang="en-GB" sz="1300" dirty="0"/>
              <a:t>Rank of your country among the six, scores by dimension</a:t>
            </a:r>
          </a:p>
          <a:p>
            <a:pPr lvl="0"/>
            <a:r>
              <a:rPr lang="en-GB" sz="1300" dirty="0"/>
              <a:t>Test robustness with the alternative weight sets provided</a:t>
            </a:r>
          </a:p>
          <a:p>
            <a:pPr lvl="0"/>
            <a:r>
              <a:rPr lang="en-GB" sz="1300" dirty="0"/>
              <a:t>Submit one Excel file and one presentation file (20 slides plus appendix);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Statistics from the allocated country</a:t>
            </a:r>
          </a:p>
          <a:p>
            <a:pPr lvl="0"/>
            <a:r>
              <a:rPr lang="en-GB" sz="1300" dirty="0"/>
              <a:t>Hotels and restaurants</a:t>
            </a:r>
          </a:p>
          <a:p>
            <a:pPr lvl="0"/>
            <a:r>
              <a:rPr lang="en-GB" sz="1300" dirty="0"/>
              <a:t>Cafes</a:t>
            </a:r>
          </a:p>
          <a:p>
            <a:pPr lvl="0"/>
            <a:r>
              <a:rPr lang="en-GB" sz="1300" dirty="0"/>
              <a:t>Private end customers</a:t>
            </a:r>
          </a:p>
          <a:p>
            <a:pPr lvl="0"/>
            <a:r>
              <a:rPr lang="en-GB" sz="1300" dirty="0"/>
              <a:t>Value chain, rules of the game</a:t>
            </a:r>
          </a:p>
          <a:p>
            <a:pPr lvl="0"/>
            <a:r>
              <a:rPr lang="en-GB" sz="1300" dirty="0"/>
              <a:t>Trends and online scan of prices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1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2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PESTEL indicator search, data collection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3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data, first results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4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5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presentation, 16 Nov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6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7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8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