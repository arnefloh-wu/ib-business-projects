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99" r:id="rId5"/>
    <p:sldId id="313" r:id="rId39"/>
    <p:sldId id="314" r:id="rId40"/>
    <p:sldId id="318" r:id="rId44"/>
    <p:sldId id="303" r:id="rId12"/>
    <p:sldId id="329" r:id="rId55"/>
    <p:sldId id="330" r:id="rId56"/>
    <p:sldId id="315" r:id="rId41"/>
    <p:sldId id="316" r:id="rId42"/>
    <p:sldId id="324" r:id="rId50"/>
    <p:sldId id="322" r:id="rId48"/>
    <p:sldId id="323" r:id="rId49"/>
    <p:sldId id="317" r:id="rId43"/>
    <p:sldId id="319" r:id="rId45"/>
    <p:sldId id="325" r:id="rId51"/>
    <p:sldId id="320" r:id="rId46"/>
    <p:sldId id="328" r:id="rId54"/>
    <p:sldId id="326" r:id="rId52"/>
    <p:sldId id="321" r:id="rId47"/>
    <p:sldId id="277" r:id="rId30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34" Type="http://schemas.openxmlformats.org/officeDocument/2006/relationships/commentAuthors" Target="commentAuthors.xml"/><Relationship Id="rId12" Type="http://schemas.openxmlformats.org/officeDocument/2006/relationships/slide" Target="slides/slide8.xml"/><Relationship Id="rId33" Type="http://schemas.openxmlformats.org/officeDocument/2006/relationships/tags" Target="tags/tag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32" Type="http://schemas.openxmlformats.org/officeDocument/2006/relationships/handoutMaster" Target="handoutMasters/handoutMaster1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36" Type="http://schemas.openxmlformats.org/officeDocument/2006/relationships/viewProps" Target="viewProps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3" Type="http://schemas.openxmlformats.org/officeDocument/2006/relationships/customXml" Target="../customXml/item3.xml"/>  <Relationship Id="rId39" Type="http://schemas.openxmlformats.org/officeDocument/2006/relationships/slide" Target="slides/slide27.xml"/>
  <Relationship Id="rId40" Type="http://schemas.openxmlformats.org/officeDocument/2006/relationships/slide" Target="slides/slide28.xml"/>
  <Relationship Id="rId41" Type="http://schemas.openxmlformats.org/officeDocument/2006/relationships/slide" Target="slides/slide29.xml"/>
  <Relationship Id="rId42" Type="http://schemas.openxmlformats.org/officeDocument/2006/relationships/slide" Target="slides/slide30.xml"/>
  <Relationship Id="rId43" Type="http://schemas.openxmlformats.org/officeDocument/2006/relationships/slide" Target="slides/slide31.xml"/>
  <Relationship Id="rId44" Type="http://schemas.openxmlformats.org/officeDocument/2006/relationships/slide" Target="slides/slide32.xml"/>
  <Relationship Id="rId45" Type="http://schemas.openxmlformats.org/officeDocument/2006/relationships/slide" Target="slides/slide33.xml"/>
  <Relationship Id="rId46" Type="http://schemas.openxmlformats.org/officeDocument/2006/relationships/slide" Target="slides/slide34.xml"/>
  <Relationship Id="rId47" Type="http://schemas.openxmlformats.org/officeDocument/2006/relationships/slide" Target="slides/slide35.xml"/>
  <Relationship Id="rId48" Type="http://schemas.openxmlformats.org/officeDocument/2006/relationships/slide" Target="slides/slide36.xml"/>
  <Relationship Id="rId49" Type="http://schemas.openxmlformats.org/officeDocument/2006/relationships/slide" Target="slides/slide37.xml"/>
  <Relationship Id="rId50" Type="http://schemas.openxmlformats.org/officeDocument/2006/relationships/slide" Target="slides/slide38.xml"/>
  <Relationship Id="rId51" Type="http://schemas.openxmlformats.org/officeDocument/2006/relationships/slide" Target="slides/slide39.xml"/>
  <Relationship Id="rId52" Type="http://schemas.openxmlformats.org/officeDocument/2006/relationships/slide" Target="slides/slide40.xml"/>
  
  <Relationship Id="rId54" Type="http://schemas.openxmlformats.org/officeDocument/2006/relationships/slide" Target="slides/slide42.xml"/>
  <Relationship Id="rId55" Type="http://schemas.openxmlformats.org/officeDocument/2006/relationships/slide" Target="slides/slide43.xml"/>
  <Relationship Id="rId56" Type="http://schemas.openxmlformats.org/officeDocument/2006/relationships/slide" Target="slides/slide44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100" Type="http://schemas.openxmlformats.org/officeDocument/2006/relationships/image" Target="../media/jm_cups.jpg"/><Relationship Id="rId101" Type="http://schemas.openxmlformats.org/officeDocument/2006/relationships/image" Target="../media/jm_logo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1250000"/>
          </a:xfrm>
        </p:spPr>
        <p:txBody>
          <a:bodyPr/>
          <a:lstStyle/>
          <a:p>
            <a:pPr lvl="0"/>
            <a:r>
              <a:rPr lang="en-GB" dirty="0" sz="1100"/>
              <a:t>Dr Arne Floh, Senior Lecturer in Marketing</a:t>
            </a:r>
          </a:p>
          <a:p>
            <a:pPr lvl="0"/>
            <a:r>
              <a:rPr lang="en-GB" dirty="0" sz="1100"/>
              <a:t>WU Vienna, Institute for International Business</a:t>
            </a:r>
          </a:p>
          <a:p>
            <a:pPr lvl="0"/>
            <a:r>
              <a:rPr lang="en-GB" dirty="0" sz="1100">
                <a:hlinkClick r:id="rId20"/>
              </a:rPr>
              <a:t>arne.floh@wu.ac.at</a:t>
            </a:r>
          </a:p>
          <a:p>
            <a:pPr lvl="0"/>
            <a:r>
              <a:rPr lang="en-GB" dirty="0" sz="1100">
                <a:hlinkClick r:id="rId21"/>
              </a:rPr>
              <a:t>Office hours: book online (Google Calendar)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3"/>
          <p:cNvSpPr txBox="1">
            <a:spLocks noGrp="1"/>
          </p:cNvSpPr>
          <p:nvPr>
            <p:ph type="body" sz="quarter" idx="10"/>
          </p:nvPr>
        </p:nvSpPr>
        <p:spPr>
          <a:xfrm>
            <a:off x="1691680" y="2559843"/>
            <a:ext cx="2756266" cy="1811291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GB" dirty="0" b="1"/>
              <a:t>INSTITUTE FOR INTERNATIONAL BUSINESS</a:t>
            </a:r>
          </a:p>
          <a:p>
            <a:pPr lvl="0"/>
            <a:r>
              <a:rPr lang="en-GB" dirty="0"/>
              <a:t>WU Vienna</a:t>
            </a:r>
          </a:p>
          <a:p>
            <a:pPr lvl="0"/>
            <a:r>
              <a:rPr lang="en-GB" dirty="0"/>
              <a:t>Welthandelsplatz 1, 1020 Vienna, Austria</a:t>
            </a:r>
          </a:p>
          <a:p>
            <a:pPr lvl="0"/>
            <a:r>
              <a:rPr lang="en-GB" dirty="0"/>
              <a:t/>
            </a:r>
          </a:p>
          <a:p>
            <a:pPr lvl="0"/>
            <a:r>
              <a:rPr lang="en-GB" dirty="0" b="1"/>
              <a:t>DR ARNE FLOH</a:t>
            </a:r>
          </a:p>
          <a:p>
            <a:pPr lvl="0"/>
            <a:r>
              <a:rPr lang="en-GB" dirty="0"/>
              <a:t>Senior Lecturer in Marketing</a:t>
            </a:r>
          </a:p>
          <a:p>
            <a:pPr lvl="0"/>
            <a:r>
              <a:rPr lang="en-GB" dirty="0"/>
              <a:t/>
            </a:r>
          </a:p>
          <a:p>
            <a:pPr lvl="0"/>
            <a:r>
              <a:rPr lang="en-GB" dirty="0"/>
              <a:t>F +43-31336-6367</a:t>
            </a:r>
          </a:p>
          <a:p>
            <a:pPr lvl="0"/>
            <a:r>
              <a:rPr lang="en-GB" dirty="0"/>
              <a:t>arne.floh@wu.ac.at</a:t>
            </a:r>
          </a:p>
          <a:p>
            <a:pPr lvl="0"/>
            <a:r>
              <a:rPr lang="en-GB" dirty="0"/>
              <a:t>www.wu.ac.at/en/welthandel/arne-floh</a:t>
            </a:r>
          </a:p>
          <a:p>
            <a:pPr lvl="0"/>
            <a:r>
              <a:rPr lang="en-GB" dirty="0"/>
              <a:t>Office hours: by appointment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600"/>
              <a:t>Capstone-style course for students specializing in International Business</a:t>
            </a:r>
          </a:p>
          <a:p>
            <a:pPr lvl="0"/>
            <a:r>
              <a:rPr lang="en-GB" dirty="0" sz="1600"/>
              <a:t>Core task: develop a comprehensive international marketing plan</a:t>
            </a:r>
          </a:p>
          <a:p>
            <a:pPr lvl="0"/>
            <a:r>
              <a:rPr lang="en-GB" dirty="0" sz="1600"/>
              <a:t>Marketing and marketing research at the core: investigate markets systematically and evaluate opportunities and risks</a:t>
            </a:r>
          </a:p>
          <a:p>
            <a:pPr lvl="0"/>
            <a:r>
              <a:rPr lang="en-GB" dirty="0" sz="1600"/>
              <a:t>Emphasis on critical thinking, project management and teamwork in a multicultural context</a:t>
            </a:r>
          </a:p>
          <a:p>
            <a:pPr lvl="0"/>
            <a:r>
              <a:rPr lang="en-GB" dirty="0" sz="1600"/>
              <a:t>Outcome: a structured international marketing plan with evidence-based strategic recommendations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400"/>
              <a:t>Design and present a structured international marketing plan based on systematic analysis and research</a:t>
            </a:r>
          </a:p>
          <a:p>
            <a:pPr lvl="0"/>
            <a:r>
              <a:rPr lang="en-GB" dirty="0" sz="1400"/>
              <a:t>Apply marketing concepts internationally and evaluate opportunities and risks across markets</a:t>
            </a:r>
          </a:p>
          <a:p>
            <a:pPr lvl="0"/>
            <a:r>
              <a:rPr lang="en-GB" dirty="0" sz="1400"/>
              <a:t>Conduct and interpret marketing research for evidence-based decisions</a:t>
            </a:r>
          </a:p>
          <a:p>
            <a:pPr lvl="0"/>
            <a:r>
              <a:rPr lang="en-GB" dirty="0" sz="1400"/>
              <a:t>Analyze competition, customer needs and cultural influences</a:t>
            </a:r>
          </a:p>
          <a:p>
            <a:pPr lvl="0"/>
            <a:r>
              <a:rPr lang="en-GB" dirty="0" sz="1400"/>
              <a:t>Strengthen teamwork, project management and intercultural collaboration</a:t>
            </a:r>
          </a:p>
          <a:p>
            <a:pPr lvl="0"/>
            <a:r>
              <a:rPr lang="en-GB" dirty="0" sz="1400"/>
              <a:t>Communicate complex ideas clearly and persuasively, in writing and orally</a:t>
            </a:r>
          </a:p>
          <a:p>
            <a:pPr lvl="0"/>
            <a:r>
              <a:rPr lang="en-GB" dirty="0" sz="1400"/>
              <a:t>Develop creativity and problem-solving to propose innovative, feasible strategies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 b="1"/>
              <a:t>Hospitality: </a:t>
            </a:r>
            <a:r>
              <a:rPr lang="en-GB" dirty="0" sz="1500"/>
              <a:t>hotels with breakfast and bar service, especially with international guests; premium restaurants and cafés; venues where coffee is part of a quality experience</a:t>
            </a:r>
          </a:p>
          <a:p>
            <a:pPr lvl="0"/>
            <a:r>
              <a:rPr lang="en-GB" dirty="0" sz="1500" b="1"/>
              <a:t>Retail: </a:t>
            </a:r>
            <a:r>
              <a:rPr lang="en-GB" dirty="0" sz="1500"/>
              <a:t>grocery and delicatessen with a premium assortment; shoppers who can pay a premium price; places where brands such as illy are already on the shelf</a:t>
            </a:r>
          </a:p>
          <a:p>
            <a:pPr lvl="0"/>
            <a:r>
              <a:rPr lang="en-GB" dirty="0" sz="1500" b="1"/>
              <a:t>Less relevant: </a:t>
            </a:r>
            <a:r>
              <a:rPr lang="en-GB" dirty="0" sz="1500"/>
              <a:t>venues and retailers competing on price, and areas without purchasing power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/>
              <a:t>Julius Meinl sees Latin America (South America and Mexico) as a potential future growth region, where it is currently not present or only marginally</a:t>
            </a:r>
          </a:p>
          <a:p>
            <a:pPr lvl="0"/>
            <a:r>
              <a:rPr lang="en-GB" dirty="0" sz="1500"/>
              <a:t>Which Latin American markets are attractive?</a:t>
            </a:r>
          </a:p>
          <a:p>
            <a:pPr lvl="0"/>
            <a:r>
              <a:rPr lang="en-GB" dirty="0" sz="1500"/>
              <a:t>How could market entry look?</a:t>
            </a:r>
          </a:p>
          <a:p>
            <a:pPr lvl="0"/>
            <a:r>
              <a:rPr lang="en-GB" dirty="0" sz="1500"/>
              <a:t>How should the brand be marketed?</a:t>
            </a:r>
          </a:p>
          <a:p>
            <a:pPr lvl="0" marL="0" indent="0">
              <a:buNone/>
            </a:pPr>
            <a:r>
              <a:rPr lang="en-GB" dirty="0" sz="1500" b="1"/>
              <a:t>Central question: </a:t>
            </a:r>
            <a:r>
              <a:rPr lang="en-GB" dirty="0" sz="1500"/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/>
              <a:t>Review the tools companies use to screen, compare and select international markets</a:t>
            </a:r>
          </a:p>
          <a:p>
            <a:pPr lvl="0"/>
            <a:r>
              <a:rPr lang="en-GB" dirty="0" sz="1500"/>
              <a:t>Cover the theory, real-world applications and typical pitfalls (e.g., data availability, subjective weighting, outdated indicators)</a:t>
            </a:r>
          </a:p>
          <a:p>
            <a:pPr lvl="0"/>
            <a:r>
              <a:rPr lang="en-GB" dirty="0" sz="1500"/>
              <a:t>Recommend the tool best suited to compare the six Latin American markets for Julius Meinl</a:t>
            </a:r>
          </a:p>
          <a:p>
            <a:pPr lvl="0"/>
            <a:r>
              <a:rPr lang="en-GB" dirty="0" sz="1500"/>
              <a:t>Format: max. 15 minutes and 15 slides, information-rich with clear visualizations</a:t>
            </a:r>
          </a:p>
          <a:p>
            <a:pPr lvl="0"/>
            <a:r>
              <a:rPr lang="en-GB" dirty="0" sz="150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400"/>
              <a:t>Independent research on key concepts and methods</a:t>
            </a:r>
          </a:p>
          <a:p>
            <a:pPr lvl="0"/>
            <a:r>
              <a:rPr lang="en-GB" dirty="0" sz="1400"/>
              <a:t>Preparation for the next session’s task</a:t>
            </a:r>
          </a:p>
          <a:p>
            <a:pPr lvl="0"/>
            <a:r>
              <a:rPr lang="en-GB" dirty="0" sz="140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400"/>
              <a:t>Discussion and application</a:t>
            </a:r>
          </a:p>
          <a:p>
            <a:pPr lvl="0"/>
            <a:r>
              <a:rPr lang="en-GB" dirty="0" sz="1400"/>
              <a:t>Coaching sessions and progress reports</a:t>
            </a:r>
          </a:p>
          <a:p>
            <a:pPr lvl="0"/>
            <a:r>
              <a:rPr lang="en-GB" dirty="0" sz="1400"/>
              <a:t>Peer feedback</a:t>
            </a:r>
          </a:p>
          <a:p>
            <a:pPr lvl="0"/>
            <a:r>
              <a:rPr lang="en-GB" dirty="0" sz="140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In class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300"/>
              <a:t>Compare the six countries using the same criteria</a:t>
            </a:r>
          </a:p>
          <a:p>
            <a:pPr lvl="0"/>
            <a:r>
              <a:rPr lang="en-GB" dirty="0" sz="1300"/>
              <a:t>Apply the tool chosen in the content presentation, transparently and replicably</a:t>
            </a:r>
          </a:p>
          <a:p>
            <a:pPr lvl="0"/>
            <a:r>
              <a:rPr lang="en-GB" dirty="0" sz="1300"/>
              <a:t>Rank the countries and justify the ranking</a:t>
            </a:r>
          </a:p>
          <a:p>
            <a:pPr lvl="0"/>
            <a:r>
              <a:rPr lang="en-GB" dirty="0" sz="1300"/>
              <a:t>Discuss the sensitivity of the ranking to criteria and weights</a:t>
            </a:r>
          </a:p>
          <a:p>
            <a:pPr lvl="0"/>
            <a:r>
              <a:rPr lang="en-GB" dirty="0" sz="1300"/>
              <a:t>Submit one Excel file and one presentation file;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300"/>
              <a:t>Deep-dive into the assigned country</a:t>
            </a:r>
          </a:p>
          <a:p>
            <a:pPr lvl="0"/>
            <a:r>
              <a:rPr lang="en-GB" dirty="0" sz="1300"/>
              <a:t>Out-of-home and at-home coffee consumption</a:t>
            </a:r>
          </a:p>
          <a:p>
            <a:pPr lvl="0"/>
            <a:r>
              <a:rPr lang="en-GB" dirty="0" sz="1300"/>
              <a:t>Premium brands present and their prices</a:t>
            </a:r>
          </a:p>
          <a:p>
            <a:pPr lvl="0"/>
            <a:r>
              <a:rPr lang="en-GB" dirty="0" sz="1300"/>
              <a:t>Distribution in HoReCa and retail; import conditions</a:t>
            </a:r>
          </a:p>
          <a:p>
            <a:pPr lvl="0"/>
            <a:r>
              <a:rPr lang="en-GB" dirty="0" sz="1300"/>
              <a:t>Competitor positioning and communication</a:t>
            </a:r>
          </a:p>
          <a:p>
            <a:pPr lvl="0"/>
            <a:r>
              <a:rPr lang="en-GB" dirty="0" sz="1300"/>
              <a:t>Online analysis of the target city (menus, shelf prices, reviews, social media)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Part A: Market selection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Part B: Market and competitor analysis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400"/>
              <a:t>Content presentation (20 %)</a:t>
            </a:r>
          </a:p>
          <a:p>
            <a:pPr lvl="0"/>
            <a:r>
              <a:rPr lang="en-GB" dirty="0" sz="1400"/>
              <a:t>Midterm: market selection and competitor analysis (30 %)</a:t>
            </a:r>
          </a:p>
          <a:p>
            <a:pPr lvl="0"/>
            <a:r>
              <a:rPr lang="en-GB" dirty="0" sz="1400"/>
              <a:t>Final: marketing implementation plan (30 %)</a:t>
            </a:r>
          </a:p>
          <a:p>
            <a:pPr lvl="0"/>
            <a:r>
              <a:rPr lang="en-GB" dirty="0" sz="1400"/>
              <a:t>Self-reflection (10 %)</a:t>
            </a:r>
          </a:p>
          <a:p>
            <a:pPr lvl="0"/>
            <a:r>
              <a:rPr lang="en-GB" dirty="0" sz="1400"/>
              <a:t>Peer review (10 %)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400"/>
              <a:t>1 (90–100 %)</a:t>
            </a:r>
          </a:p>
          <a:p>
            <a:pPr lvl="0"/>
            <a:r>
              <a:rPr lang="en-GB" dirty="0" sz="1400"/>
              <a:t>2 (80–89 %)</a:t>
            </a:r>
          </a:p>
          <a:p>
            <a:pPr lvl="0"/>
            <a:r>
              <a:rPr lang="en-GB" dirty="0" sz="1400"/>
              <a:t>3 (70–79 %)</a:t>
            </a:r>
          </a:p>
          <a:p>
            <a:pPr lvl="0"/>
            <a:r>
              <a:rPr lang="en-GB" dirty="0" sz="1400"/>
              <a:t>4 (51–69 %)</a:t>
            </a:r>
          </a:p>
          <a:p>
            <a:pPr lvl="0"/>
            <a:r>
              <a:rPr lang="en-GB" dirty="0" sz="140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Grading scale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300"/>
              <a:t>Use of (Generative) AI tools is explicitly encouraged</a:t>
            </a:r>
          </a:p>
          <a:p>
            <a:pPr lvl="0"/>
            <a:r>
              <a:rPr lang="en-GB" dirty="0" sz="1300"/>
              <a:t>Tell a rich story in your presentations</a:t>
            </a:r>
          </a:p>
          <a:p>
            <a:pPr lvl="0"/>
            <a:r>
              <a:rPr lang="en-GB" dirty="0" sz="1300"/>
              <a:t>Be honest: list all tools you used</a:t>
            </a:r>
          </a:p>
          <a:p>
            <a:pPr lvl="0"/>
            <a:r>
              <a:rPr lang="en-GB" dirty="0" sz="130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300"/>
              <a:t>Self-reflection: one page on what you learned, what you liked and what can be improved</a:t>
            </a:r>
          </a:p>
          <a:p>
            <a:pPr lvl="0"/>
            <a:r>
              <a:rPr lang="en-GB" dirty="0" sz="1300"/>
              <a:t>Peer review: rate the engagement and performance of your group mates (not yourself); kept confidential</a:t>
            </a:r>
          </a:p>
          <a:p>
            <a:pPr lvl="0"/>
            <a:r>
              <a:rPr lang="en-GB" dirty="0" sz="1300"/>
              <a:t>Submit via Canvas until one week after the last session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Self-reflection and peer review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8997025"/>
              </p:ext>
            </p:extLst>
          </p:nvPr>
        </p:nvGraphicFramePr>
        <p:xfrm>
          <a:off x="468313" y="1600000"/>
          <a:ext cx="8135938" cy="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1000000"/>
                <a:gridCol w="1000000"/>
                <a:gridCol w="3635938"/>
              </a:tblGrid>
              <a:tr h="400">
                <a:tc>
                  <a:txBody>
                    <a:bodyPr/>
                    <a:lstStyle/>
                    <a:p>
                      <a:r>
                        <a:rPr lang="en-GB" sz="1400" dirty="0"/>
                        <a:t>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Length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Weight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Focus</a:t>
                      </a:r>
                    </a:p>
                  </a:txBody>
                  <a:tcPr marT="38100" marB="38100"/>
                </a:tc>
              </a:tr>
              <a:tr h="700">
                <a:tc>
                  <a:txBody>
                    <a:bodyPr/>
                    <a:lstStyle/>
                    <a:p>
                      <a:r>
                        <a:rPr lang="en-GB" sz="1400" dirty="0"/>
                        <a:t>1  Content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15 min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20 %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Market selection tools: theory, real-world applications, pitfalls</a:t>
                      </a:r>
                    </a:p>
                  </a:txBody>
                  <a:tcPr marT="38100" marB="38100"/>
                </a:tc>
              </a:tr>
              <a:tr h="700">
                <a:tc>
                  <a:txBody>
                    <a:bodyPr/>
                    <a:lstStyle/>
                    <a:p>
                      <a:r>
                        <a:rPr lang="en-GB" sz="1400" dirty="0"/>
                        <a:t>2  Midterm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20 min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30 %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Market selection and competitor analysis</a:t>
                      </a:r>
                    </a:p>
                  </a:txBody>
                  <a:tcPr marT="38100" marB="38100"/>
                </a:tc>
              </a:tr>
              <a:tr h="700">
                <a:tc>
                  <a:txBody>
                    <a:bodyPr/>
                    <a:lstStyle/>
                    <a:p>
                      <a:r>
                        <a:rPr lang="en-GB" sz="1400" dirty="0"/>
                        <a:t>3  Final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25 min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30 %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Marketing implementation plan</a:t>
                      </a:r>
                    </a:p>
                  </a:txBody>
                  <a:tcPr marT="38100" marB="381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3249116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0" marL="0" indent="0">
              <a:buNone/>
            </a:pPr>
            <a:r>
              <a:rPr lang="en-GB" dirty="0" sz="1400" b="1"/>
              <a:t>Markets compared by all groups</a:t>
            </a:r>
          </a:p>
          <a:p>
            <a:pPr lvl="0"/>
            <a:r>
              <a:rPr lang="en-GB" dirty="0" sz="1400"/>
              <a:t>Argentina</a:t>
            </a:r>
          </a:p>
          <a:p>
            <a:pPr lvl="0"/>
            <a:r>
              <a:rPr lang="en-GB" dirty="0" sz="1400"/>
              <a:t>Brazil</a:t>
            </a:r>
          </a:p>
          <a:p>
            <a:pPr lvl="0"/>
            <a:r>
              <a:rPr lang="en-GB" dirty="0" sz="1400"/>
              <a:t>Chile</a:t>
            </a:r>
          </a:p>
          <a:p>
            <a:pPr lvl="0"/>
            <a:r>
              <a:rPr lang="en-GB" dirty="0" sz="1400"/>
              <a:t>Colombia</a:t>
            </a:r>
          </a:p>
          <a:p>
            <a:pPr lvl="0"/>
            <a:r>
              <a:rPr lang="en-GB" dirty="0" sz="1400"/>
              <a:t>Mexico</a:t>
            </a:r>
          </a:p>
          <a:p>
            <a:pPr lvl="0"/>
            <a:r>
              <a:rPr lang="en-GB" dirty="0" sz="1400"/>
              <a:t>Uruguay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lvl="0" marL="0" indent="0">
              <a:buNone/>
            </a:pPr>
            <a:r>
              <a:rPr lang="en-GB" dirty="0" sz="1400" b="1"/>
              <a:t>Example criteria</a:t>
            </a:r>
          </a:p>
          <a:p>
            <a:pPr lvl="0"/>
            <a:r>
              <a:rPr lang="en-GB" dirty="0" sz="1400"/>
              <a:t>Size of the premium coffee segment (HoReCa and retail)</a:t>
            </a:r>
          </a:p>
          <a:p>
            <a:pPr lvl="0"/>
            <a:r>
              <a:rPr lang="en-GB" dirty="0" sz="1400"/>
              <a:t>Tourism and international hotel presence</a:t>
            </a:r>
          </a:p>
          <a:p>
            <a:pPr lvl="0"/>
            <a:r>
              <a:rPr lang="en-GB" dirty="0" sz="1400"/>
              <a:t>Purchasing power and economic development</a:t>
            </a:r>
          </a:p>
          <a:p>
            <a:pPr lvl="0"/>
            <a:r>
              <a:rPr lang="en-GB" dirty="0" sz="1400"/>
              <a:t>Competitive landscape</a:t>
            </a:r>
          </a:p>
          <a:p>
            <a:pPr lvl="0"/>
            <a:r>
              <a:rPr lang="en-GB" dirty="0" sz="1400"/>
              <a:t>Import conditions and regulation</a:t>
            </a:r>
          </a:p>
          <a:p>
            <a:pPr lvl="0"/>
            <a:r>
              <a:rPr lang="en-GB" dirty="0" sz="1400"/>
              <a:t>Coffee culture and consumption habits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</p:spTree>
    <p:extLst>
      <p:ext uri="{BB962C8B-B14F-4D97-AF65-F5344CB8AC3E}">
        <p14:creationId xmlns:p14="http://schemas.microsoft.com/office/powerpoint/2010/main" val="3852802689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400"/>
              <a:t>Market entry and marketing plan for the assigned market: how the brand is marketed and how Julius Meinl enters the market</a:t>
            </a:r>
          </a:p>
          <a:p>
            <a:pPr lvl="1"/>
            <a:r>
              <a:rPr lang="en-GB" dirty="0" sz="1400"/>
              <a:t>Target segment and first customers</a:t>
            </a:r>
          </a:p>
          <a:p>
            <a:pPr lvl="1"/>
            <a:r>
              <a:rPr lang="en-GB" dirty="0" sz="1400"/>
              <a:t>Positioning, incl. the answer to the central question</a:t>
            </a:r>
          </a:p>
          <a:p>
            <a:pPr lvl="1"/>
            <a:r>
              <a:rPr lang="en-GB" dirty="0" sz="1400"/>
              <a:t>Price positioning vs. competition</a:t>
            </a:r>
          </a:p>
          <a:p>
            <a:pPr lvl="1"/>
            <a:r>
              <a:rPr lang="en-GB" dirty="0" sz="1400"/>
              <a:t>Distribution via a local partner, incl. a profile of a suitable partner</a:t>
            </a:r>
          </a:p>
          <a:p>
            <a:pPr lvl="1"/>
            <a:r>
              <a:rPr lang="en-GB" dirty="0" sz="1400"/>
              <a:t>Communication and in-market activation (incl. creative implementation)</a:t>
            </a:r>
          </a:p>
          <a:p>
            <a:pPr lvl="1"/>
            <a:r>
              <a:rPr lang="en-GB" dirty="0" sz="1400"/>
              <a:t>Rough timeline, first-year KPIs and key risks</a:t>
            </a:r>
          </a:p>
          <a:p>
            <a:pPr lvl="0"/>
            <a:r>
              <a:rPr lang="en-GB" dirty="0" sz="140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500"/>
              <a:t>The project is based on publicly available data</a:t>
            </a:r>
          </a:p>
          <a:p>
            <a:pPr lvl="0"/>
            <a:r>
              <a:rPr lang="en-GB" dirty="0" sz="1500"/>
              <a:t>Julius Meinl provides no internal figures (revenues, margins, prices, partner names); none are needed</a:t>
            </a:r>
          </a:p>
          <a:p>
            <a:pPr lvl="0"/>
            <a:r>
              <a:rPr lang="en-GB" dirty="0" sz="1500" b="1"/>
              <a:t>Possible sources: </a:t>
            </a:r>
            <a:r>
              <a:rPr lang="en-GB" dirty="0" sz="1500"/>
              <a:t>USDA coffee country reports, coffee import trade statistics, national tourism statistics, public Julius Meinl material (corporate story, sustainability report, website)</a:t>
            </a:r>
          </a:p>
          <a:p>
            <a:pPr lvl="0"/>
            <a:r>
              <a:rPr lang="en-GB" dirty="0" sz="1500"/>
              <a:t>When contacting companies or individuals, act as students on a university project, not on behalf of Julius Meinl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</p:spTree>
    <p:extLst>
      <p:ext uri="{BB962C8B-B14F-4D97-AF65-F5344CB8AC3E}">
        <p14:creationId xmlns:p14="http://schemas.microsoft.com/office/powerpoint/2010/main" val="2309806499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8997025"/>
              </p:ext>
            </p:extLst>
          </p:nvPr>
        </p:nvGraphicFramePr>
        <p:xfrm>
          <a:off x="468313" y="1400000"/>
          <a:ext cx="8135938" cy="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00"/>
                <a:gridCol w="3700000"/>
                <a:gridCol w="3435938"/>
              </a:tblGrid>
              <a:tr h="360">
                <a:tc>
                  <a:txBody>
                    <a:bodyPr/>
                    <a:lstStyle/>
                    <a:p>
                      <a:r>
                        <a:rPr lang="en-GB" sz="1300" dirty="0"/>
                        <a:t>Session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Topic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Student task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1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Course content and logistics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Prepare content presentation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2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Content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Country comparison, selection model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3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Refinement and revision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4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Prepare midterm presentation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5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Midterm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Assigned market, marketing plan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6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Refinement and revision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7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Coaching session, progress report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Prepare final presentation</a:t>
                      </a:r>
                    </a:p>
                  </a:txBody>
                  <a:tcPr marT="38100" marB="38100"/>
                </a:tc>
              </a:tr>
              <a:tr h="340">
                <a:tc>
                  <a:txBody>
                    <a:bodyPr/>
                    <a:lstStyle/>
                    <a:p>
                      <a:r>
                        <a:rPr lang="en-GB" sz="1300" dirty="0"/>
                        <a:t>8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Final presentation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Self-reflection, peer review</a:t>
                      </a:r>
                    </a:p>
                  </a:txBody>
                  <a:tcPr marT="38100" marB="381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3249116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 sz="1400" b="1"/>
              <a:t>1862: </a:t>
            </a:r>
            <a:r>
              <a:rPr lang="en-GB" dirty="0" sz="1400"/>
              <a:t>family-owned Viennese coffee roaster, now in its fifth generation</a:t>
            </a:r>
          </a:p>
          <a:p>
            <a:pPr lvl="0"/>
            <a:r>
              <a:rPr lang="en-GB" dirty="0" sz="1400" b="1"/>
              <a:t>70+ countries: </a:t>
            </a:r>
            <a:r>
              <a:rPr lang="en-GB" dirty="0" sz="1400"/>
              <a:t>mostly through local distribution partners</a:t>
            </a:r>
          </a:p>
          <a:p>
            <a:pPr lvl="0"/>
            <a:r>
              <a:rPr lang="en-GB" dirty="0" sz="1400" b="1"/>
              <a:t>2 segments per market: </a:t>
            </a:r>
            <a:r>
              <a:rPr lang="en-GB" dirty="0" sz="1400"/>
              <a:t>hospitality and grocery retail</a:t>
            </a:r>
          </a:p>
          <a:p>
            <a:pPr lvl="0"/>
            <a:r>
              <a:rPr lang="en-GB" dirty="0" sz="1400" b="1"/>
              <a:t>Positioning: </a:t>
            </a:r>
            <a:r>
              <a:rPr lang="en-GB" dirty="0" sz="1400"/>
              <a:t>Viennese coffee house culture rather than the bean itself, meaning service, hospitality and the idea of taking time for a cup of coffee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100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802689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GB" dirty="0" sz="1400"/>
              <a:t>Cafés, restaurants and hotels</a:t>
            </a:r>
          </a:p>
          <a:p>
            <a:pPr lvl="0"/>
            <a:r>
              <a:rPr lang="en-GB" dirty="0" sz="1400"/>
              <a:t>The primary segment: hotels matter most, with breakfast and bar business</a:t>
            </a:r>
          </a:p>
          <a:p>
            <a:pPr lvl="0"/>
            <a:r>
              <a:rPr lang="en-GB" dirty="0" sz="140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dirty="0" sz="1400"/>
              <a:t>Coffee for the home, through grocery chains and delicatessen</a:t>
            </a:r>
          </a:p>
          <a:p>
            <a:pPr lvl="0"/>
            <a:r>
              <a:rPr lang="en-GB" dirty="0" sz="1400"/>
              <a:t>Premium assortment</a:t>
            </a:r>
          </a:p>
          <a:p>
            <a:pPr lvl="0"/>
            <a:r>
              <a:rPr lang="en-GB" dirty="0" sz="140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dirty="0"/>
              <a:t>Grocery retail</a:t>
            </a:r>
          </a:p>
        </p:txBody>
      </p:sp>
    </p:spTree>
    <p:extLst>
      <p:ext uri="{BB962C8B-B14F-4D97-AF65-F5344CB8AC3E}">
        <p14:creationId xmlns:p14="http://schemas.microsoft.com/office/powerpoint/2010/main" val="490384932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