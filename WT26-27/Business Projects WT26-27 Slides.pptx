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8" Type="http://schemas.openxmlformats.org/officeDocument/2006/relationships/slide" Target="slides/slid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
<Relationships xmlns="http://schemas.openxmlformats.org/package/2006/relationships"><Relationship Id="rId3" Type="http://schemas.openxmlformats.org/officeDocument/2006/relationships/image" Target="../media/kontakt_image1.png"/><Relationship Id="rId2" Type="http://schemas.openxmlformats.org/officeDocument/2006/relationships/image" Target="../media/kontakt_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"1.0" encoding="UTF-8" standalone="yes"?>
<Relationships xmlns="http://schemas.openxmlformats.org/package/2006/relationships"><Relationship Id="rId2" Type="http://schemas.openxmlformats.org/officeDocument/2006/relationships/image" Target="../media/kontakt_image8.png"/><Relationship Id="rId1" Type="http://schemas.openxmlformats.org/officeDocument/2006/relationships/slideMaster" Target="../slideMasters/slideMaster1.xml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arnefloh" TargetMode="External"/><Relationship Id="rId2" Type="http://schemas.openxmlformats.org/officeDocument/2006/relationships/hyperlink" Target="https://www.wu.ac.at/en/welthandel/arne-floh/" TargetMode="External"/><Relationship Id="rId1" Type="http://schemas.openxmlformats.org/officeDocument/2006/relationships/slideLayout" Target="../slideLayouts/slideLayout16.xml"/><Relationship Id="rId5" Type="http://schemas.openxmlformats.org/officeDocument/2006/relationships/hyperlink" Target="mailto:arne.floh@wu.ac.at" TargetMode="External"/><Relationship Id="rId4" Type="http://schemas.openxmlformats.org/officeDocument/2006/relationships/image" Target="../media/image9.tif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jpe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9.tiff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jpeg"/><Relationship Id="rId11" Type="http://schemas.openxmlformats.org/officeDocument/2006/relationships/image" Target="../media/image18.jpeg"/><Relationship Id="rId5" Type="http://schemas.openxmlformats.org/officeDocument/2006/relationships/image" Target="../media/image12.jpe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jpe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Example criteria</a:t>
            </a:r>
          </a:p>
          <a:p>
            <a:pPr lvl="0"/>
            <a:r>
              <a:rPr lang="en-GB" sz="1300" dirty="0"/>
              <a:t>Size of the premium coffee segment (HoReCa and retail)</a:t>
            </a:r>
          </a:p>
          <a:p>
            <a:pPr lvl="0"/>
            <a:r>
              <a:rPr lang="en-GB" sz="1300" dirty="0"/>
              <a:t>Tourism and international hotel presence</a:t>
            </a:r>
          </a:p>
          <a:p>
            <a:pPr lvl="0"/>
            <a:r>
              <a:rPr lang="en-GB" sz="1300" dirty="0"/>
              <a:t>Purchasing power and economic development</a:t>
            </a:r>
          </a:p>
          <a:p>
            <a:pPr lvl="0"/>
            <a:r>
              <a:rPr lang="en-GB" sz="1300" dirty="0"/>
              <a:t>Competitive landscape</a:t>
            </a:r>
          </a:p>
          <a:p>
            <a:pPr lvl="0"/>
            <a:r>
              <a:rPr lang="en-GB" sz="1300" dirty="0"/>
              <a:t>Import conditions and regulation</a:t>
            </a:r>
          </a:p>
          <a:p>
            <a:pPr lvl="0"/>
            <a:r>
              <a:rPr lang="en-GB" sz="1300" dirty="0"/>
              <a:t>Coffee culture and consumption habits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and competitor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Compare the six countries using the same criteria</a:t>
            </a:r>
          </a:p>
          <a:p>
            <a:pPr lvl="0"/>
            <a:r>
              <a:rPr lang="en-GB" sz="1300" dirty="0"/>
              <a:t>Apply the tool chosen in the content presentation, transparently and replicably</a:t>
            </a:r>
          </a:p>
          <a:p>
            <a:pPr lvl="0"/>
            <a:r>
              <a:rPr lang="en-GB" sz="1300" dirty="0"/>
              <a:t>Rank the countries and justify the ranking</a:t>
            </a:r>
          </a:p>
          <a:p>
            <a:pPr lvl="0"/>
            <a:r>
              <a:rPr lang="en-GB" sz="1300" dirty="0"/>
              <a:t>Discuss the sensitivity of the ranking to criteria and weights</a:t>
            </a:r>
          </a:p>
          <a:p>
            <a:pPr lvl="0"/>
            <a:r>
              <a:rPr lang="en-GB" sz="1300" dirty="0"/>
              <a:t>Submit one Excel file and one presentation file;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Deep-dive into the assigned country</a:t>
            </a:r>
          </a:p>
          <a:p>
            <a:pPr lvl="0"/>
            <a:r>
              <a:rPr lang="en-GB" sz="1300" dirty="0"/>
              <a:t>Out-of-home and at-home coffee consumption</a:t>
            </a:r>
          </a:p>
          <a:p>
            <a:pPr lvl="0"/>
            <a:r>
              <a:rPr lang="en-GB" sz="1300" dirty="0"/>
              <a:t>Premium brands present and their prices</a:t>
            </a:r>
          </a:p>
          <a:p>
            <a:pPr lvl="0"/>
            <a:r>
              <a:rPr lang="en-GB" sz="1300" dirty="0"/>
              <a:t>Distribution in HoReCa and retail; import conditions</a:t>
            </a:r>
          </a:p>
          <a:p>
            <a:pPr lvl="0"/>
            <a:r>
              <a:rPr lang="en-GB" sz="1300" dirty="0"/>
              <a:t>Competitor positioning and communication</a:t>
            </a:r>
          </a:p>
          <a:p>
            <a:pPr lvl="0"/>
            <a:r>
              <a:rPr lang="en-GB" sz="1300" dirty="0"/>
              <a:t>Online analysis of the target city (menus, shelf prices, reviews, social media)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Market selection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Market and competitor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1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2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Country comparison, selection model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3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4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5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Assigned market,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6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7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8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