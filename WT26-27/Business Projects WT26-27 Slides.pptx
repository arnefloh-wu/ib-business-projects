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Layouts/slideLayout16.xml" ContentType="application/vnd.openxmlformats-officedocument.presentationml.slideLayout+xml"/>
  <Override PartName="/ppt/slideLayouts/slideLayout19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31"/>
  </p:notesMasterIdLst>
  <p:handoutMasterIdLst>
    <p:handoutMasterId r:id="rId32"/>
  </p:handoutMasterIdLst>
  <p:sldIdLst>
    <p:sldId id="299" r:id="rId5"/>
    <p:sldId id="313" r:id="rId39"/>
    <p:sldId id="314" r:id="rId40"/>
    <p:sldId id="318" r:id="rId44"/>
    <p:sldId id="303" r:id="rId12"/>
    <p:sldId id="329" r:id="rId55"/>
    <p:sldId id="330" r:id="rId56"/>
    <p:sldId id="315" r:id="rId41"/>
    <p:sldId id="316" r:id="rId42"/>
    <p:sldId id="324" r:id="rId50"/>
    <p:sldId id="322" r:id="rId48"/>
    <p:sldId id="323" r:id="rId49"/>
    <p:sldId id="317" r:id="rId43"/>
    <p:sldId id="319" r:id="rId45"/>
    <p:sldId id="325" r:id="rId51"/>
    <p:sldId id="320" r:id="rId46"/>
    <p:sldId id="328" r:id="rId54"/>
    <p:sldId id="326" r:id="rId52"/>
    <p:sldId id="321" r:id="rId47"/>
    <p:sldId id="277" r:id="rId30"/>
  </p:sldIdLst>
  <p:sldSz cx="9144000" cy="5715000" type="screen16x10"/>
  <p:notesSz cx="6858000" cy="9144000"/>
  <p:custDataLst>
    <p:tags r:id="rId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9" name="Autor" initials="A" lastIdx="0" clrIdx="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64" d="100"/>
          <a:sy n="164" d="100"/>
        </p:scale>
        <p:origin x="758" y="75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34" Type="http://schemas.openxmlformats.org/officeDocument/2006/relationships/commentAuthors" Target="commentAuthors.xml"/><Relationship Id="rId12" Type="http://schemas.openxmlformats.org/officeDocument/2006/relationships/slide" Target="slides/slide8.xml"/><Relationship Id="rId33" Type="http://schemas.openxmlformats.org/officeDocument/2006/relationships/tags" Target="tags/tag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32" Type="http://schemas.openxmlformats.org/officeDocument/2006/relationships/handoutMaster" Target="handoutMasters/handoutMaster1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36" Type="http://schemas.openxmlformats.org/officeDocument/2006/relationships/viewProps" Target="viewProps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3" Type="http://schemas.openxmlformats.org/officeDocument/2006/relationships/customXml" Target="../customXml/item3.xml"/>  <Relationship Id="rId39" Type="http://schemas.openxmlformats.org/officeDocument/2006/relationships/slide" Target="slides/slide27.xml"/>
  <Relationship Id="rId40" Type="http://schemas.openxmlformats.org/officeDocument/2006/relationships/slide" Target="slides/slide28.xml"/>
  <Relationship Id="rId41" Type="http://schemas.openxmlformats.org/officeDocument/2006/relationships/slide" Target="slides/slide29.xml"/>
  <Relationship Id="rId42" Type="http://schemas.openxmlformats.org/officeDocument/2006/relationships/slide" Target="slides/slide30.xml"/>
  <Relationship Id="rId43" Type="http://schemas.openxmlformats.org/officeDocument/2006/relationships/slide" Target="slides/slide31.xml"/>
  <Relationship Id="rId44" Type="http://schemas.openxmlformats.org/officeDocument/2006/relationships/slide" Target="slides/slide32.xml"/>
  <Relationship Id="rId45" Type="http://schemas.openxmlformats.org/officeDocument/2006/relationships/slide" Target="slides/slide33.xml"/>
  <Relationship Id="rId46" Type="http://schemas.openxmlformats.org/officeDocument/2006/relationships/slide" Target="slides/slide34.xml"/>
  <Relationship Id="rId47" Type="http://schemas.openxmlformats.org/officeDocument/2006/relationships/slide" Target="slides/slide35.xml"/>
  <Relationship Id="rId48" Type="http://schemas.openxmlformats.org/officeDocument/2006/relationships/slide" Target="slides/slide36.xml"/>
  <Relationship Id="rId49" Type="http://schemas.openxmlformats.org/officeDocument/2006/relationships/slide" Target="slides/slide37.xml"/>
  <Relationship Id="rId50" Type="http://schemas.openxmlformats.org/officeDocument/2006/relationships/slide" Target="slides/slide38.xml"/>
  <Relationship Id="rId51" Type="http://schemas.openxmlformats.org/officeDocument/2006/relationships/slide" Target="slides/slide39.xml"/>
  <Relationship Id="rId52" Type="http://schemas.openxmlformats.org/officeDocument/2006/relationships/slide" Target="slides/slide40.xml"/>
  
  <Relationship Id="rId54" Type="http://schemas.openxmlformats.org/officeDocument/2006/relationships/slide" Target="slides/slide42.xml"/>
  <Relationship Id="rId55" Type="http://schemas.openxmlformats.org/officeDocument/2006/relationships/slide" Target="slides/slide43.xml"/>
  <Relationship Id="rId56" Type="http://schemas.openxmlformats.org/officeDocument/2006/relationships/slide" Target="slides/slide44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25/08/2023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‹Nr.›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25/08/2023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75954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94872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1964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/Relationships>
</file>

<file path=ppt/slideLayouts/_rels/slideLayout19.xml.rels><?xml version="1.0" encoding="UTF-8" standalone="yes"?>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Relationship Id="rId22" Type="http://schemas.openxmlformats.org/officeDocument/2006/relationships/hyperlink" Target="https://www.wu.ac.at/en/welthandel/arne-floh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ontak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Kontaktdaten"/>
          <p:cNvSpPr>
            <a:spLocks noGrp="1"/>
          </p:cNvSpPr>
          <p:nvPr userDrawn="1"/>
        </p:nvSpPr>
        <p:spPr bwMode="white">
          <a:xfrm>
            <a:off x="287338" y="2941638"/>
            <a:ext cx="4284662" cy="14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Dr Arne Floh, Senior Lecturer in Marketing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WU Vienna, Institute for International Business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1"/>
              </a:rPr>
              <a:t>Office hours: book online (Google Calendar)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 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Kontaktdaten"/>
          <p:cNvSpPr>
            <a:spLocks noGrp="1"/>
          </p:cNvSpPr>
          <p:nvPr userDrawn="1"/>
        </p:nvSpPr>
        <p:spPr>
          <a:xfrm>
            <a:off x="1684020" y="2559843"/>
            <a:ext cx="2763926" cy="181129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INSTITUTE FOR INTERNATIONAL BUSINESS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Welthandelsplatz 1, 1020 Vienna, Austria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DR ARNE 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Senior Lecturer in Marketing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F +43-31336-6367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900" dirty="0">
                <a:solidFill>
                  <a:srgbClr val="000000"/>
                </a:solidFill>
                <a:latin typeface="+mn-lt"/>
                <a:hlinkClick r:id="rId22"/>
              </a:rPr>
              <a:t>www.wu.ac.at/en/welthandel/arne-floh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1"/>
              </a:rPr>
              <a:t>Office hours: book online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19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  <p:sldLayoutId id="2147483692" r:id="rId19"/>
    <p:sldLayoutId id="2147483695" r:id="rId20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Relationship Id="rId100" Type="http://schemas.openxmlformats.org/officeDocument/2006/relationships/image" Target="../media/jm_cups.jpg"/><Relationship Id="rId101" Type="http://schemas.openxmlformats.org/officeDocument/2006/relationships/image" Target="../media/jm_logo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International Business Projects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lvl="0"/>
            <a:r>
              <a:rPr lang="en-GB" dirty="0"/>
              <a:t>Marketing and Market Research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/>
            <a:r>
              <a:rPr lang="en-GB" dirty="0"/>
              <a:t>Syllabus WT 2026/27</a:t>
            </a:r>
          </a:p>
        </p:txBody>
      </p:sp>
    </p:spTree>
    <p:extLst>
      <p:ext uri="{BB962C8B-B14F-4D97-AF65-F5344CB8AC3E}">
        <p14:creationId xmlns:p14="http://schemas.microsoft.com/office/powerpoint/2010/main" val="3002135390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The Julius Meinl case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Marketing plan for entering Latin America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 idx="4294967295"/>
          </p:nvPr>
        </p:nvSpPr>
        <p:spPr>
          <a:xfrm>
            <a:off x="462407" y="301626"/>
            <a:ext cx="6990906" cy="496799"/>
          </a:xfrm>
        </p:spPr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680737D9-CC42-4855-ABAC-B759A1A9D624}" type="slidenum">
              <a:rPr lang="en-GB" smtClean="0"/>
              <a:pPr/>
              <a:t>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2063927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600"/>
              <a:t>Capstone-style course for students specializing in International Business</a:t>
            </a:r>
          </a:p>
          <a:p>
            <a:pPr lvl="0"/>
            <a:r>
              <a:rPr lang="en-GB" dirty="0" sz="1600"/>
              <a:t>Core task: develop a comprehensive international marketing plan</a:t>
            </a:r>
          </a:p>
          <a:p>
            <a:pPr lvl="0"/>
            <a:r>
              <a:rPr lang="en-GB" dirty="0" sz="1600"/>
              <a:t>Marketing and marketing research at the core: investigate markets systematically and evaluate opportunities and risks</a:t>
            </a:r>
          </a:p>
          <a:p>
            <a:pPr lvl="0"/>
            <a:r>
              <a:rPr lang="en-GB" dirty="0" sz="1600"/>
              <a:t>Emphasis on critical thinking, project management and teamwork in a multicultural context</a:t>
            </a:r>
          </a:p>
          <a:p>
            <a:pPr lvl="0"/>
            <a:r>
              <a:rPr lang="en-GB" dirty="0" sz="1600"/>
              <a:t>Outcome: a structured international marketing plan with evidence-based strategic recommendations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Course synopsis</a:t>
            </a:r>
          </a:p>
        </p:txBody>
      </p:sp>
    </p:spTree>
    <p:extLst>
      <p:ext uri="{BB962C8B-B14F-4D97-AF65-F5344CB8AC3E}">
        <p14:creationId xmlns:p14="http://schemas.microsoft.com/office/powerpoint/2010/main" val="2309806499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400"/>
              <a:t>Design and present a structured international marketing plan based on systematic analysis and research</a:t>
            </a:r>
          </a:p>
          <a:p>
            <a:pPr lvl="0"/>
            <a:r>
              <a:rPr lang="en-GB" dirty="0" sz="1400"/>
              <a:t>Apply marketing concepts internationally and evaluate opportunities and risks across markets</a:t>
            </a:r>
          </a:p>
          <a:p>
            <a:pPr lvl="0"/>
            <a:r>
              <a:rPr lang="en-GB" dirty="0" sz="1400"/>
              <a:t>Conduct and interpret marketing research for evidence-based decisions</a:t>
            </a:r>
          </a:p>
          <a:p>
            <a:pPr lvl="0"/>
            <a:r>
              <a:rPr lang="en-GB" dirty="0" sz="1400"/>
              <a:t>Analyze competition, customer needs and cultural influences</a:t>
            </a:r>
          </a:p>
          <a:p>
            <a:pPr lvl="0"/>
            <a:r>
              <a:rPr lang="en-GB" dirty="0" sz="1400"/>
              <a:t>Strengthen teamwork, project management and intercultural collaboration</a:t>
            </a:r>
          </a:p>
          <a:p>
            <a:pPr lvl="0"/>
            <a:r>
              <a:rPr lang="en-GB" dirty="0" sz="1400"/>
              <a:t>Communicate complex ideas clearly and persuasively, in writing and orally</a:t>
            </a:r>
          </a:p>
          <a:p>
            <a:pPr lvl="0"/>
            <a:r>
              <a:rPr lang="en-GB" dirty="0" sz="1400"/>
              <a:t>Develop creativity and problem-solving to propose innovative, feasible strategies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Learning objectives</a:t>
            </a:r>
          </a:p>
        </p:txBody>
      </p:sp>
    </p:spTree>
    <p:extLst>
      <p:ext uri="{BB962C8B-B14F-4D97-AF65-F5344CB8AC3E}">
        <p14:creationId xmlns:p14="http://schemas.microsoft.com/office/powerpoint/2010/main" val="2309806499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500" b="1"/>
              <a:t>Hospitality: </a:t>
            </a:r>
            <a:r>
              <a:rPr lang="en-GB" dirty="0" sz="1500"/>
              <a:t>hotels with breakfast and bar service, especially with international guests; premium restaurants and cafés; venues where coffee is part of a quality experience</a:t>
            </a:r>
          </a:p>
          <a:p>
            <a:pPr lvl="0"/>
            <a:r>
              <a:rPr lang="en-GB" dirty="0" sz="1500" b="1"/>
              <a:t>Retail: </a:t>
            </a:r>
            <a:r>
              <a:rPr lang="en-GB" dirty="0" sz="1500"/>
              <a:t>grocery and delicatessen with a premium assortment; shoppers who can pay a premium price; places where brands such as illy are already on the shelf</a:t>
            </a:r>
          </a:p>
          <a:p>
            <a:pPr lvl="0"/>
            <a:r>
              <a:rPr lang="en-GB" dirty="0" sz="1500" b="1"/>
              <a:t>Less relevant: </a:t>
            </a:r>
            <a:r>
              <a:rPr lang="en-GB" dirty="0" sz="1500"/>
              <a:t>venues and retailers competing on price, and areas without purchasing power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Who Julius Meinl sells to</a:t>
            </a:r>
          </a:p>
        </p:txBody>
      </p:sp>
    </p:spTree>
    <p:extLst>
      <p:ext uri="{BB962C8B-B14F-4D97-AF65-F5344CB8AC3E}">
        <p14:creationId xmlns:p14="http://schemas.microsoft.com/office/powerpoint/2010/main" val="2309806499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500"/>
              <a:t>Julius Meinl sees Latin America (South America and Mexico) as a potential future growth region, where it is currently not present or only marginally</a:t>
            </a:r>
          </a:p>
          <a:p>
            <a:pPr lvl="0"/>
            <a:r>
              <a:rPr lang="en-GB" dirty="0" sz="1500"/>
              <a:t>Which Latin American markets are attractive?</a:t>
            </a:r>
          </a:p>
          <a:p>
            <a:pPr lvl="0"/>
            <a:r>
              <a:rPr lang="en-GB" dirty="0" sz="1500"/>
              <a:t>How could market entry look?</a:t>
            </a:r>
          </a:p>
          <a:p>
            <a:pPr lvl="0"/>
            <a:r>
              <a:rPr lang="en-GB" dirty="0" sz="1500"/>
              <a:t>How should the brand be marketed?</a:t>
            </a:r>
          </a:p>
          <a:p>
            <a:pPr lvl="0" marL="0" indent="0">
              <a:buNone/>
            </a:pPr>
            <a:r>
              <a:rPr lang="en-GB" dirty="0" sz="1500" b="1"/>
              <a:t>Central question: </a:t>
            </a:r>
            <a:r>
              <a:rPr lang="en-GB" dirty="0" sz="1500"/>
              <a:t>Many Latin American countries grow and roast their own coffee and have a strong coffee culture. Why would cafés, hotels, retailers and consumers choose a coffee brand from Vienna, and who exactly would do so?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The question: growth in Latin America</a:t>
            </a:r>
          </a:p>
        </p:txBody>
      </p:sp>
    </p:spTree>
    <p:extLst>
      <p:ext uri="{BB962C8B-B14F-4D97-AF65-F5344CB8AC3E}">
        <p14:creationId xmlns:p14="http://schemas.microsoft.com/office/powerpoint/2010/main" val="2309806499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500"/>
              <a:t>Review the tools companies use to screen, compare and select international markets</a:t>
            </a:r>
          </a:p>
          <a:p>
            <a:pPr lvl="0"/>
            <a:r>
              <a:rPr lang="en-GB" dirty="0" sz="1500"/>
              <a:t>Cover the theory, real-world applications and typical pitfalls (e.g., data availability, subjective weighting, outdated indicators)</a:t>
            </a:r>
          </a:p>
          <a:p>
            <a:pPr lvl="0"/>
            <a:r>
              <a:rPr lang="en-GB" dirty="0" sz="1500"/>
              <a:t>Recommend the tool best suited to compare the six Latin American markets for Julius Meinl</a:t>
            </a:r>
          </a:p>
          <a:p>
            <a:pPr lvl="0"/>
            <a:r>
              <a:rPr lang="en-GB" dirty="0" sz="1500"/>
              <a:t>Format: max. 15 minutes and 15 slides, information-rich with clear visualizations</a:t>
            </a:r>
          </a:p>
          <a:p>
            <a:pPr lvl="0"/>
            <a:r>
              <a:rPr lang="en-GB" dirty="0" sz="1500"/>
              <a:t>Document all sources in a separate Excel sheet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1: market selection tools</a:t>
            </a:r>
          </a:p>
        </p:txBody>
      </p:sp>
    </p:spTree>
    <p:extLst>
      <p:ext uri="{BB962C8B-B14F-4D97-AF65-F5344CB8AC3E}">
        <p14:creationId xmlns:p14="http://schemas.microsoft.com/office/powerpoint/2010/main" val="2309806499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0"/>
            <a:r>
              <a:rPr lang="en-GB" dirty="0" sz="1400"/>
              <a:t>Independent research on key concepts and methods</a:t>
            </a:r>
          </a:p>
          <a:p>
            <a:pPr lvl="0"/>
            <a:r>
              <a:rPr lang="en-GB" dirty="0" sz="1400"/>
              <a:t>Preparation for the next session’s task</a:t>
            </a:r>
          </a:p>
          <a:p>
            <a:pPr lvl="0"/>
            <a:r>
              <a:rPr lang="en-GB" dirty="0" sz="1400"/>
              <a:t>Self-directed learning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dirty="0" sz="1400"/>
              <a:t>Discussion and application</a:t>
            </a:r>
          </a:p>
          <a:p>
            <a:pPr lvl="0"/>
            <a:r>
              <a:rPr lang="en-GB" dirty="0" sz="1400"/>
              <a:t>Coaching sessions and progress reports</a:t>
            </a:r>
          </a:p>
          <a:p>
            <a:pPr lvl="0"/>
            <a:r>
              <a:rPr lang="en-GB" dirty="0" sz="1400"/>
              <a:t>Peer feedback</a:t>
            </a:r>
          </a:p>
          <a:p>
            <a:pPr lvl="0"/>
            <a:r>
              <a:rPr lang="en-GB" dirty="0" sz="1400"/>
              <a:t>Theory directly connected to the project task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dirty="0"/>
              <a:t>Before class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and learning: flipped classroom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dirty="0"/>
              <a:t>In class</a:t>
            </a:r>
          </a:p>
        </p:txBody>
      </p:sp>
    </p:spTree>
    <p:extLst>
      <p:ext uri="{BB962C8B-B14F-4D97-AF65-F5344CB8AC3E}">
        <p14:creationId xmlns:p14="http://schemas.microsoft.com/office/powerpoint/2010/main" val="490384932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0"/>
            <a:r>
              <a:rPr lang="en-GB" dirty="0" sz="1300"/>
              <a:t>Compare the six countries using the same criteria</a:t>
            </a:r>
          </a:p>
          <a:p>
            <a:pPr lvl="0"/>
            <a:r>
              <a:rPr lang="en-GB" dirty="0" sz="1300"/>
              <a:t>Apply the tool chosen in the content presentation, transparently and replicably</a:t>
            </a:r>
          </a:p>
          <a:p>
            <a:pPr lvl="0"/>
            <a:r>
              <a:rPr lang="en-GB" dirty="0" sz="1300"/>
              <a:t>Rank the countries and justify the ranking</a:t>
            </a:r>
          </a:p>
          <a:p>
            <a:pPr lvl="0"/>
            <a:r>
              <a:rPr lang="en-GB" dirty="0" sz="1300"/>
              <a:t>Discuss the sensitivity of the ranking to criteria and weights</a:t>
            </a:r>
          </a:p>
          <a:p>
            <a:pPr lvl="0"/>
            <a:r>
              <a:rPr lang="en-GB" dirty="0" sz="1300"/>
              <a:t>Submit one Excel file and one presentation file; end with a justified recommendation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dirty="0" sz="1300"/>
              <a:t>Deep-dive into the assigned country</a:t>
            </a:r>
          </a:p>
          <a:p>
            <a:pPr lvl="0"/>
            <a:r>
              <a:rPr lang="en-GB" dirty="0" sz="1300"/>
              <a:t>Out-of-home and at-home coffee consumption</a:t>
            </a:r>
          </a:p>
          <a:p>
            <a:pPr lvl="0"/>
            <a:r>
              <a:rPr lang="en-GB" dirty="0" sz="1300"/>
              <a:t>Premium brands present and their prices</a:t>
            </a:r>
          </a:p>
          <a:p>
            <a:pPr lvl="0"/>
            <a:r>
              <a:rPr lang="en-GB" dirty="0" sz="1300"/>
              <a:t>Distribution in HoReCa and retail; import conditions</a:t>
            </a:r>
          </a:p>
          <a:p>
            <a:pPr lvl="0"/>
            <a:r>
              <a:rPr lang="en-GB" dirty="0" sz="1300"/>
              <a:t>Competitor positioning and communication</a:t>
            </a:r>
          </a:p>
          <a:p>
            <a:pPr lvl="0"/>
            <a:r>
              <a:rPr lang="en-GB" dirty="0" sz="1300"/>
              <a:t>Online analysis of the target city (menus, shelf prices, reviews, social media)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dirty="0"/>
              <a:t>Part A: Market selection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Presentation 2: midterm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dirty="0"/>
              <a:t>Part B: Market and competitor analysis</a:t>
            </a:r>
          </a:p>
        </p:txBody>
      </p:sp>
    </p:spTree>
    <p:extLst>
      <p:ext uri="{BB962C8B-B14F-4D97-AF65-F5344CB8AC3E}">
        <p14:creationId xmlns:p14="http://schemas.microsoft.com/office/powerpoint/2010/main" val="490384932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0"/>
            <a:r>
              <a:rPr lang="en-GB" dirty="0" sz="1400"/>
              <a:t>Content presentation (20 %)</a:t>
            </a:r>
          </a:p>
          <a:p>
            <a:pPr lvl="0"/>
            <a:r>
              <a:rPr lang="en-GB" dirty="0" sz="1400"/>
              <a:t>Midterm: market selection and competitor analysis (30 %)</a:t>
            </a:r>
          </a:p>
          <a:p>
            <a:pPr lvl="0"/>
            <a:r>
              <a:rPr lang="en-GB" dirty="0" sz="1400"/>
              <a:t>Final: marketing implementation plan (30 %)</a:t>
            </a:r>
          </a:p>
          <a:p>
            <a:pPr lvl="0"/>
            <a:r>
              <a:rPr lang="en-GB" dirty="0" sz="1400"/>
              <a:t>Self-reflection (10 %)</a:t>
            </a:r>
          </a:p>
          <a:p>
            <a:pPr lvl="0"/>
            <a:r>
              <a:rPr lang="en-GB" dirty="0" sz="1400"/>
              <a:t>Peer review (10 %)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dirty="0" sz="1400"/>
              <a:t>1 (90–100 %)</a:t>
            </a:r>
          </a:p>
          <a:p>
            <a:pPr lvl="0"/>
            <a:r>
              <a:rPr lang="en-GB" dirty="0" sz="1400"/>
              <a:t>2 (80–89 %)</a:t>
            </a:r>
          </a:p>
          <a:p>
            <a:pPr lvl="0"/>
            <a:r>
              <a:rPr lang="en-GB" dirty="0" sz="1400"/>
              <a:t>3 (70–79 %)</a:t>
            </a:r>
          </a:p>
          <a:p>
            <a:pPr lvl="0"/>
            <a:r>
              <a:rPr lang="en-GB" dirty="0" sz="1400"/>
              <a:t>4 (51–69 %)</a:t>
            </a:r>
          </a:p>
          <a:p>
            <a:pPr lvl="0"/>
            <a:r>
              <a:rPr lang="en-GB" dirty="0" sz="1400"/>
              <a:t>5 (0–50 %)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dirty="0"/>
              <a:t>Grade components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Grading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dirty="0"/>
              <a:t>Grading scale</a:t>
            </a:r>
          </a:p>
        </p:txBody>
      </p:sp>
    </p:spTree>
    <p:extLst>
      <p:ext uri="{BB962C8B-B14F-4D97-AF65-F5344CB8AC3E}">
        <p14:creationId xmlns:p14="http://schemas.microsoft.com/office/powerpoint/2010/main" val="490384932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0"/>
            <a:r>
              <a:rPr lang="en-GB" dirty="0" sz="1300"/>
              <a:t>Use of (Generative) AI tools is explicitly encouraged</a:t>
            </a:r>
          </a:p>
          <a:p>
            <a:pPr lvl="0"/>
            <a:r>
              <a:rPr lang="en-GB" dirty="0" sz="1300"/>
              <a:t>Tell a rich story in your presentations</a:t>
            </a:r>
          </a:p>
          <a:p>
            <a:pPr lvl="0"/>
            <a:r>
              <a:rPr lang="en-GB" dirty="0" sz="1300"/>
              <a:t>Be honest: list all tools you used</a:t>
            </a:r>
          </a:p>
          <a:p>
            <a:pPr lvl="0"/>
            <a:r>
              <a:rPr lang="en-GB" dirty="0" sz="1300"/>
              <a:t>Graded on quality, innovativeness and variety of sources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dirty="0" sz="1300"/>
              <a:t>Self-reflection: one page on what you learned, what you liked and what can be improved</a:t>
            </a:r>
          </a:p>
          <a:p>
            <a:pPr lvl="0"/>
            <a:r>
              <a:rPr lang="en-GB" dirty="0" sz="1300"/>
              <a:t>Peer review: rate the engagement and performance of your group mates (not yourself); kept confidential</a:t>
            </a:r>
          </a:p>
          <a:p>
            <a:pPr lvl="0"/>
            <a:r>
              <a:rPr lang="en-GB" dirty="0" sz="1300"/>
              <a:t>Submit via Canvas until one week after the last session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dirty="0"/>
              <a:t>Use of AI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AI, self-reflection and peer review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dirty="0"/>
              <a:t>Self-reflection and peer review</a:t>
            </a:r>
          </a:p>
        </p:txBody>
      </p:sp>
    </p:spTree>
    <p:extLst>
      <p:ext uri="{BB962C8B-B14F-4D97-AF65-F5344CB8AC3E}">
        <p14:creationId xmlns:p14="http://schemas.microsoft.com/office/powerpoint/2010/main" val="490384932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Assessment strategy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Three group presentations, self-reflection and peer review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Overview of the presentations</a:t>
            </a:r>
          </a:p>
        </p:txBody>
      </p:sp>
      <p:graphicFrame>
        <p:nvGraphicFramePr>
          <p:cNvPr id="7" name="Inhaltsplatzhalt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98997025"/>
              </p:ext>
            </p:extLst>
          </p:nvPr>
        </p:nvGraphicFramePr>
        <p:xfrm>
          <a:off x="468313" y="1600000"/>
          <a:ext cx="8135938" cy="2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1000000"/>
                <a:gridCol w="1000000"/>
                <a:gridCol w="3635938"/>
              </a:tblGrid>
              <a:tr h="400">
                <a:tc>
                  <a:txBody>
                    <a:bodyPr/>
                    <a:lstStyle/>
                    <a:p>
                      <a:r>
                        <a:rPr lang="en-GB" sz="1400" dirty="0"/>
                        <a:t>Presentation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Length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Weight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Focus</a:t>
                      </a:r>
                    </a:p>
                  </a:txBody>
                  <a:tcPr marT="38100" marB="38100"/>
                </a:tc>
              </a:tr>
              <a:tr h="700">
                <a:tc>
                  <a:txBody>
                    <a:bodyPr/>
                    <a:lstStyle/>
                    <a:p>
                      <a:r>
                        <a:rPr lang="en-GB" sz="1400" dirty="0"/>
                        <a:t>1  Content presentation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15 min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20 %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Market selection tools: theory, real-world applications, pitfalls</a:t>
                      </a:r>
                    </a:p>
                  </a:txBody>
                  <a:tcPr marT="38100" marB="38100"/>
                </a:tc>
              </a:tr>
              <a:tr h="700">
                <a:tc>
                  <a:txBody>
                    <a:bodyPr/>
                    <a:lstStyle/>
                    <a:p>
                      <a:r>
                        <a:rPr lang="en-GB" sz="1400" dirty="0"/>
                        <a:t>2  Midterm presentation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20 min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30 %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Market selection and competitor analysis</a:t>
                      </a:r>
                    </a:p>
                  </a:txBody>
                  <a:tcPr marT="38100" marB="38100"/>
                </a:tc>
              </a:tr>
              <a:tr h="700">
                <a:tc>
                  <a:txBody>
                    <a:bodyPr/>
                    <a:lstStyle/>
                    <a:p>
                      <a:r>
                        <a:rPr lang="en-GB" sz="1400" dirty="0"/>
                        <a:t>3  Final presentation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25 min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30 %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Marketing implementation plan</a:t>
                      </a:r>
                    </a:p>
                  </a:txBody>
                  <a:tcPr marT="38100" marB="3810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3249116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lvl="0" marL="0" indent="0">
              <a:buNone/>
            </a:pPr>
            <a:r>
              <a:rPr lang="en-GB" dirty="0" sz="1400" b="1"/>
              <a:t>Markets compared by all groups</a:t>
            </a:r>
          </a:p>
          <a:p>
            <a:pPr lvl="0"/>
            <a:r>
              <a:rPr lang="en-GB" dirty="0" sz="1400"/>
              <a:t>Argentina</a:t>
            </a:r>
          </a:p>
          <a:p>
            <a:pPr lvl="0"/>
            <a:r>
              <a:rPr lang="en-GB" dirty="0" sz="1400"/>
              <a:t>Brazil</a:t>
            </a:r>
          </a:p>
          <a:p>
            <a:pPr lvl="0"/>
            <a:r>
              <a:rPr lang="en-GB" dirty="0" sz="1400"/>
              <a:t>Chile</a:t>
            </a:r>
          </a:p>
          <a:p>
            <a:pPr lvl="0"/>
            <a:r>
              <a:rPr lang="en-GB" dirty="0" sz="1400"/>
              <a:t>Colombia</a:t>
            </a:r>
          </a:p>
          <a:p>
            <a:pPr lvl="0"/>
            <a:r>
              <a:rPr lang="en-GB" dirty="0" sz="1400"/>
              <a:t>Mexico</a:t>
            </a:r>
          </a:p>
          <a:p>
            <a:pPr lvl="0"/>
            <a:r>
              <a:rPr lang="en-GB" dirty="0" sz="1400"/>
              <a:t>Uruguay</a:t>
            </a:r>
          </a:p>
        </p:txBody>
      </p:sp>
      <p:sp>
        <p:nvSpPr>
          <p:cNvPr id="11" name="Inhaltsplatzhalter 10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lvl="0" marL="0" indent="0">
              <a:buNone/>
            </a:pPr>
            <a:r>
              <a:rPr lang="en-GB" dirty="0" sz="1400" b="1"/>
              <a:t>Example criteria</a:t>
            </a:r>
          </a:p>
          <a:p>
            <a:pPr lvl="0"/>
            <a:r>
              <a:rPr lang="en-GB" dirty="0" sz="1400"/>
              <a:t>Size of the premium coffee segment (HoReCa and retail)</a:t>
            </a:r>
          </a:p>
          <a:p>
            <a:pPr lvl="0"/>
            <a:r>
              <a:rPr lang="en-GB" dirty="0" sz="1400"/>
              <a:t>Tourism and international hotel presence</a:t>
            </a:r>
          </a:p>
          <a:p>
            <a:pPr lvl="0"/>
            <a:r>
              <a:rPr lang="en-GB" dirty="0" sz="1400"/>
              <a:t>Purchasing power and economic development</a:t>
            </a:r>
          </a:p>
          <a:p>
            <a:pPr lvl="0"/>
            <a:r>
              <a:rPr lang="en-GB" dirty="0" sz="1400"/>
              <a:t>Competitive landscape</a:t>
            </a:r>
          </a:p>
          <a:p>
            <a:pPr lvl="0"/>
            <a:r>
              <a:rPr lang="en-GB" dirty="0" sz="1400"/>
              <a:t>Import conditions and regulation</a:t>
            </a:r>
          </a:p>
          <a:p>
            <a:pPr lvl="0"/>
            <a:r>
              <a:rPr lang="en-GB" dirty="0" sz="1400"/>
              <a:t>Coffee culture and consumption habits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Six markets, one set of criteria</a:t>
            </a:r>
          </a:p>
        </p:txBody>
      </p:sp>
    </p:spTree>
    <p:extLst>
      <p:ext uri="{BB962C8B-B14F-4D97-AF65-F5344CB8AC3E}">
        <p14:creationId xmlns:p14="http://schemas.microsoft.com/office/powerpoint/2010/main" val="3852802689"/>
      </p:ext>
    </p:extLst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400"/>
              <a:t>Market entry and marketing plan for the assigned market: how the brand is marketed and how Julius Meinl enters the market</a:t>
            </a:r>
          </a:p>
          <a:p>
            <a:pPr lvl="1"/>
            <a:r>
              <a:rPr lang="en-GB" dirty="0" sz="1400"/>
              <a:t>Target segment and first customers</a:t>
            </a:r>
          </a:p>
          <a:p>
            <a:pPr lvl="1"/>
            <a:r>
              <a:rPr lang="en-GB" dirty="0" sz="1400"/>
              <a:t>Positioning, incl. the answer to the central question</a:t>
            </a:r>
          </a:p>
          <a:p>
            <a:pPr lvl="1"/>
            <a:r>
              <a:rPr lang="en-GB" dirty="0" sz="1400"/>
              <a:t>Price positioning vs. competition</a:t>
            </a:r>
          </a:p>
          <a:p>
            <a:pPr lvl="1"/>
            <a:r>
              <a:rPr lang="en-GB" dirty="0" sz="1400"/>
              <a:t>Distribution via a local partner, incl. a profile of a suitable partner</a:t>
            </a:r>
          </a:p>
          <a:p>
            <a:pPr lvl="1"/>
            <a:r>
              <a:rPr lang="en-GB" dirty="0" sz="1400"/>
              <a:t>Communication and in-market activation (incl. creative implementation)</a:t>
            </a:r>
          </a:p>
          <a:p>
            <a:pPr lvl="1"/>
            <a:r>
              <a:rPr lang="en-GB" dirty="0" sz="1400"/>
              <a:t>Rough timeline, first-year KPIs and key risks</a:t>
            </a:r>
          </a:p>
          <a:p>
            <a:pPr lvl="0"/>
            <a:r>
              <a:rPr lang="en-GB" dirty="0" sz="1400"/>
              <a:t>Format: max. 25 minutes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3: marketing implementation plan</a:t>
            </a:r>
          </a:p>
        </p:txBody>
      </p:sp>
    </p:spTree>
    <p:extLst>
      <p:ext uri="{BB962C8B-B14F-4D97-AF65-F5344CB8AC3E}">
        <p14:creationId xmlns:p14="http://schemas.microsoft.com/office/powerpoint/2010/main" val="2309806499"/>
      </p:ext>
    </p:extLst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500"/>
              <a:t>The project is based on publicly available data</a:t>
            </a:r>
          </a:p>
          <a:p>
            <a:pPr lvl="0"/>
            <a:r>
              <a:rPr lang="en-GB" dirty="0" sz="1500"/>
              <a:t>Julius Meinl provides no internal figures (revenues, margins, prices, partner names); none are needed</a:t>
            </a:r>
          </a:p>
          <a:p>
            <a:pPr lvl="0"/>
            <a:r>
              <a:rPr lang="en-GB" dirty="0" sz="1500" b="1"/>
              <a:t>Possible sources: </a:t>
            </a:r>
            <a:r>
              <a:rPr lang="en-GB" dirty="0" sz="1500"/>
              <a:t>USDA coffee country reports, coffee import trade statistics, national tourism statistics, public Julius Meinl material (corporate story, sustainability report, website)</a:t>
            </a:r>
          </a:p>
          <a:p>
            <a:pPr lvl="0"/>
            <a:r>
              <a:rPr lang="en-GB" dirty="0" sz="1500"/>
              <a:t>When contacting companies or individuals, act as students on a university project, not on behalf of Julius Meinl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Data sources and framework conditions</a:t>
            </a:r>
          </a:p>
        </p:txBody>
      </p:sp>
    </p:spTree>
    <p:extLst>
      <p:ext uri="{BB962C8B-B14F-4D97-AF65-F5344CB8AC3E}">
        <p14:creationId xmlns:p14="http://schemas.microsoft.com/office/powerpoint/2010/main" val="2309806499"/>
      </p:ext>
    </p:extLst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schedule</a:t>
            </a:r>
          </a:p>
        </p:txBody>
      </p:sp>
      <p:graphicFrame>
        <p:nvGraphicFramePr>
          <p:cNvPr id="7" name="Inhaltsplatzhalt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98997025"/>
              </p:ext>
            </p:extLst>
          </p:nvPr>
        </p:nvGraphicFramePr>
        <p:xfrm>
          <a:off x="468313" y="1400000"/>
          <a:ext cx="8135938" cy="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000"/>
                <a:gridCol w="3700000"/>
                <a:gridCol w="3435938"/>
              </a:tblGrid>
              <a:tr h="360">
                <a:tc>
                  <a:txBody>
                    <a:bodyPr/>
                    <a:lstStyle/>
                    <a:p>
                      <a:r>
                        <a:rPr lang="en-GB" sz="1300" dirty="0"/>
                        <a:t>Session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Topic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Student task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1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Course content and logistics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Prepare content presentation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2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Content presentation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Country comparison, selection model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3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Coaching session, progress report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Refinement and revision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4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Coaching session, progress report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Prepare midterm presentation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5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Midterm presentation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Assigned market, marketing plan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6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Coaching session, progress report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Refinement and revision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7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Coaching session, progress report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Prepare final presentation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8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Final presentation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Self-reflection, peer review</a:t>
                      </a:r>
                    </a:p>
                  </a:txBody>
                  <a:tcPr marT="38100" marB="3810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3249116"/>
      </p:ext>
    </p:extLst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400" b="1"/>
              <a:t>1862: </a:t>
            </a:r>
            <a:r>
              <a:rPr lang="en-GB" dirty="0" sz="1400"/>
              <a:t>family-owned Viennese coffee roaster, now in its fifth generation</a:t>
            </a:r>
          </a:p>
          <a:p>
            <a:pPr lvl="0"/>
            <a:r>
              <a:rPr lang="en-GB" dirty="0" sz="1400" b="1"/>
              <a:t>70+ countries: </a:t>
            </a:r>
            <a:r>
              <a:rPr lang="en-GB" dirty="0" sz="1400"/>
              <a:t>mostly through local distribution partners</a:t>
            </a:r>
          </a:p>
          <a:p>
            <a:pPr lvl="0"/>
            <a:r>
              <a:rPr lang="en-GB" dirty="0" sz="1400" b="1"/>
              <a:t>2 segments per market: </a:t>
            </a:r>
            <a:r>
              <a:rPr lang="en-GB" dirty="0" sz="1400"/>
              <a:t>hospitality and grocery retail</a:t>
            </a:r>
          </a:p>
          <a:p>
            <a:pPr lvl="0"/>
            <a:r>
              <a:rPr lang="en-GB" dirty="0" sz="1400" b="1"/>
              <a:t>Positioning: </a:t>
            </a:r>
            <a:r>
              <a:rPr lang="en-GB" dirty="0" sz="1400"/>
              <a:t>Viennese coffee house culture rather than the bean itself, meaning service, hospitality and the idea of taking time for a cup of coffee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Our partner: Julius Meinl</a:t>
            </a:r>
          </a:p>
        </p:txBody>
      </p:sp>
      <p:pic>
        <p:nvPicPr>
          <p:cNvPr id="101" name="Julius Meinl espresso cups" descr="Two red Julius Meinl espresso cups on an espresso machine"/>
          <p:cNvPicPr>
            <a:picLocks noChangeAspect="1"/>
          </p:cNvPicPr>
          <p:nvPr/>
        </p:nvPicPr>
        <p:blipFill>
          <a:blip r:embed="rId100"/>
          <a:srcRect t="15000" b="21200"/>
          <a:stretch>
            <a:fillRect/>
          </a:stretch>
        </p:blipFill>
        <p:spPr>
          <a:xfrm>
            <a:off x="4715688" y="1344613"/>
            <a:ext cx="3960000" cy="3859212"/>
          </a:xfrm>
          <a:prstGeom prst="rect">
            <a:avLst/>
          </a:prstGeom>
        </p:spPr>
      </p:pic>
      <p:pic>
        <p:nvPicPr>
          <p:cNvPr id="102" name="Julius Meinl logo" descr="Julius Meinl logo, Vienna 1862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7715688" y="4243825"/>
            <a:ext cx="860000" cy="8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802689"/>
      </p:ext>
    </p:extLst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0"/>
            <a:r>
              <a:rPr lang="en-GB" dirty="0" sz="1400"/>
              <a:t>Cafés, restaurants and hotels</a:t>
            </a:r>
          </a:p>
          <a:p>
            <a:pPr lvl="0"/>
            <a:r>
              <a:rPr lang="en-GB" dirty="0" sz="1400"/>
              <a:t>The primary segment: hotels matter most, with breakfast and bar business</a:t>
            </a:r>
          </a:p>
          <a:p>
            <a:pPr lvl="0"/>
            <a:r>
              <a:rPr lang="en-GB" dirty="0" sz="1400"/>
              <a:t>A dedicated partner, because hotels and grocery chains are different businesses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dirty="0" sz="1400"/>
              <a:t>Coffee for the home, through grocery chains and delicatessen</a:t>
            </a:r>
          </a:p>
          <a:p>
            <a:pPr lvl="0"/>
            <a:r>
              <a:rPr lang="en-GB" dirty="0" sz="1400"/>
              <a:t>Premium assortment</a:t>
            </a:r>
          </a:p>
          <a:p>
            <a:pPr lvl="0"/>
            <a:r>
              <a:rPr lang="en-GB" dirty="0" sz="1400"/>
              <a:t>A dedicated partner: with no own sales organisation in export markets, the partner is the sales force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dirty="0"/>
              <a:t>Hospitality (HoReCa)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How Julius Meinl sells: two segments, two partners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dirty="0"/>
              <a:t>Grocery retail</a:t>
            </a:r>
          </a:p>
        </p:txBody>
      </p:sp>
    </p:spTree>
    <p:extLst>
      <p:ext uri="{BB962C8B-B14F-4D97-AF65-F5344CB8AC3E}">
        <p14:creationId xmlns:p14="http://schemas.microsoft.com/office/powerpoint/2010/main" val="490384932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2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1441</Words>
  <Application>Microsoft Office PowerPoint</Application>
  <PresentationFormat>Bildschirmpräsentation (16:10)</PresentationFormat>
  <Paragraphs>207</Paragraphs>
  <Slides>26</Slides>
  <Notes>26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1" baseType="lpstr">
      <vt:lpstr>Arial</vt:lpstr>
      <vt:lpstr>Georgia</vt:lpstr>
      <vt:lpstr>Verdana</vt:lpstr>
      <vt:lpstr>Wingdings</vt:lpstr>
      <vt:lpstr>WU 16:10</vt:lpstr>
      <vt:lpstr>WU Presentation Template incl. Samples</vt:lpstr>
      <vt:lpstr>Basics</vt:lpstr>
      <vt:lpstr>Available slide layouts – overview</vt:lpstr>
      <vt:lpstr>Make use of the slide layouts</vt:lpstr>
      <vt:lpstr>Designing text slides</vt:lpstr>
      <vt:lpstr>Insert footer information</vt:lpstr>
      <vt:lpstr>Toner- and ink-reduced printing</vt:lpstr>
      <vt:lpstr>Sample Slides</vt:lpstr>
      <vt:lpstr>Layout „Titelfolie“ –  font Georgia 32 pt</vt:lpstr>
      <vt:lpstr>Layout „Titelfolie kurz“</vt:lpstr>
      <vt:lpstr>Layout „Titelfolie ohne Bild“ – for 2 lines of text</vt:lpstr>
      <vt:lpstr>Titleslide w/o pic. short</vt:lpstr>
      <vt:lpstr>Layout „Titelfolie Bild 2“ – for 2 lines of text</vt:lpstr>
      <vt:lpstr>Layout „Titelfolie Bild 3“ – for 2 lines of text</vt:lpstr>
      <vt:lpstr>Layout „Titel und Inhalt“ for title and content – font Georgia 24 pt</vt:lpstr>
      <vt:lpstr>Layout without footer for large graphics, tables or charts</vt:lpstr>
      <vt:lpstr>Layout “Zwei Inhalte” with two placeholders for different content types</vt:lpstr>
      <vt:lpstr>Layout „Vergleich“ – e.g. for comparison</vt:lpstr>
      <vt:lpstr>Sample table</vt:lpstr>
      <vt:lpstr>Sample for simple graphics  (based on SmartArt)</vt:lpstr>
      <vt:lpstr>Sample organizational chart  (based on SmartArt)</vt:lpstr>
      <vt:lpstr>Sample for bar chart </vt:lpstr>
      <vt:lpstr>Sample for column chart </vt:lpstr>
      <vt:lpstr>Sample for line chart </vt:lpstr>
      <vt:lpstr>Sample for doughnut chart 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2023-08-25T07:53:01Z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